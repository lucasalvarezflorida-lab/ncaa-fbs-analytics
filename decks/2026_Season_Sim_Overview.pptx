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rgbClr val="0A2851"/>
            </a:solidFill>
          </c:spPr>
          <c:cat>
            <c:strRef>
              <c:f>Sheet1!$A$2:$A$11</c:f>
              <c:strCache>
                <c:ptCount val="10"/>
                <c:pt idx="0">
                  <c:v>Big 12</c:v>
                </c:pt>
                <c:pt idx="1">
                  <c:v>ACC</c:v>
                </c:pt>
                <c:pt idx="2">
                  <c:v>Big Ten</c:v>
                </c:pt>
                <c:pt idx="3">
                  <c:v>Pac-12</c:v>
                </c:pt>
                <c:pt idx="4">
                  <c:v>SEC</c:v>
                </c:pt>
                <c:pt idx="5">
                  <c:v>Mountain West</c:v>
                </c:pt>
                <c:pt idx="6">
                  <c:v>Mid-American</c:v>
                </c:pt>
                <c:pt idx="7">
                  <c:v>Conference USA</c:v>
                </c:pt>
                <c:pt idx="8">
                  <c:v>Sun Belt</c:v>
                </c:pt>
                <c:pt idx="9">
                  <c:v>American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0.433</c:v>
                </c:pt>
                <c:pt idx="1">
                  <c:v>0.4736</c:v>
                </c:pt>
                <c:pt idx="2">
                  <c:v>0.519</c:v>
                </c:pt>
                <c:pt idx="3">
                  <c:v>0.527</c:v>
                </c:pt>
                <c:pt idx="4">
                  <c:v>0.5275</c:v>
                </c:pt>
                <c:pt idx="5">
                  <c:v>0.5432</c:v>
                </c:pt>
                <c:pt idx="6">
                  <c:v>0.5784</c:v>
                </c:pt>
                <c:pt idx="7">
                  <c:v>0.587</c:v>
                </c:pt>
                <c:pt idx="8">
                  <c:v>0.5896</c:v>
                </c:pt>
                <c:pt idx="9">
                  <c:v>0.6081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NCAA FBS ANALYTICS · PROJECTED STANDINGS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2026 Season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10,000 Monte Carlo seasons · joint conference standings · title races</a:t>
            </a:r>
          </a:p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Prior: ESPN 2026 preseason FPI (July 14) · margins = FPI gap + 2.5 HFA + empirical residuals (σ 17.9)</a:t>
            </a:r>
          </a:p>
          <a:p>
            <a:pPr algn="l"/>
            <a:r>
              <a:rPr sz="1500" b="0" i="0">
                <a:solidFill>
                  <a:srgbClr val="CADCFC"/>
                </a:solidFill>
                <a:latin typeface="Arial"/>
              </a:rPr>
              <a:t>Predictions frozen at kickoff of the 2026 opener — Aug 29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How the simulation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8521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Every conference game is sampled once per season and shared between both teams, so the standings hang together — one team's upset is another's loss column.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Standings run on conference win percentage (slates are 8 or 9 games). Two-way ties for the 1-seed break on the simulated head-to-head result; the title game is played at a neutral site.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Transitioning programs (North Dakota State, Sacramento State) play their full league schedule but cannot take a championship-game seed.</a:t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/>
            </a:r>
          </a:p>
          <a:p>
            <a:pPr algn="l"/>
            <a:r>
              <a:rPr sz="1500" b="0" i="0">
                <a:solidFill>
                  <a:srgbClr val="16273D"/>
                </a:solidFill>
                <a:latin typeface="Arial"/>
              </a:rPr>
              <a:t>‘Split’ = share of seasons in which the conference champion is NOT the team with the league's best overall record.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15544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10,000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2240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seasons per 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155448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σ 17.9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2240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empirical margin sd, 2021–25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+2.5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8862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home-field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3200400"/>
            <a:ext cx="2194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F47321"/>
                </a:solidFill>
                <a:latin typeface="Arial"/>
              </a:rPr>
              <a:t>138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38862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C6B7E"/>
                </a:solidFill>
                <a:latin typeface="Arial"/>
              </a:rPr>
              <a:t>FBS teams 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84632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5C6B7E"/>
                </a:solidFill>
                <a:latin typeface="Arial"/>
              </a:rPr>
              <a:t>2025 receipt: Duke won the ACC at 8-5 while 10-2 Miami stayed home — the champion ≠ best team split is close to a coin flip in the biggest leagues.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The ten title races at a glance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71600"/>
          <a:ext cx="10515600" cy="34198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2377440"/>
                <a:gridCol w="1188720"/>
                <a:gridCol w="3291840"/>
                <a:gridCol w="12801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Conference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Favorite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P(champ)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Projected CG pair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Split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Texas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Texas vs Georgia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Ohio State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Ohio State vs Oregon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Texas Tech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Texas Tech vs BYU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Miami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Miami vs SMU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Pac-12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Boise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Boise State vs San Diego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Tulane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Tulane vs Navy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Mountain West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UNLV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UNLV vs Hawai'i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Sun Belt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James Madison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James Madison vs Old Dominion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Conference 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Western Kentucky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Western Kentucky vs Delaware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Mid-American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6273D"/>
                          </a:solidFill>
                          <a:latin typeface="Arial"/>
                        </a:rPr>
                        <a:t>Toledo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Toledo vs Western Michigan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6273D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Projected Top 25 — overall wins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371600"/>
          <a:ext cx="5394960" cy="37124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828800"/>
                <a:gridCol w="1005840"/>
                <a:gridCol w="640080"/>
                <a:gridCol w="731520"/>
                <a:gridCol w="731520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Team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FPI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 W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P(10+)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Notre Dame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Ind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 Tech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10.1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70%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Oregon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Indiana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59%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Miami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Ohio State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Georgia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Penn State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UNLV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MWC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8.4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BYU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Alabama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LSU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309360" y="1371600"/>
          <a:ext cx="5394960" cy="3447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"/>
                <a:gridCol w="1828800"/>
                <a:gridCol w="1005840"/>
                <a:gridCol w="640080"/>
                <a:gridCol w="731520"/>
                <a:gridCol w="731520"/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Team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Conf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FPI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Proj W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P(10+)</a:t>
                      </a:r>
                    </a:p>
                  </a:txBody>
                  <a:tcPr>
                    <a:solidFill>
                      <a:srgbClr val="0A285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South Florida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USC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Texas A&amp;M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SMU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Toledo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MAC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Clemson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8.0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Tulane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James Madison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Sun Belt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7.9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Michigan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Big 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East Carolina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7.7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Navy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American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Virginia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ACC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7.6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6273D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>
                    <a:solidFill>
                      <a:srgbClr val="EAF0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0A2851"/>
                </a:solidFill>
                <a:latin typeface="Arial"/>
              </a:rPr>
              <a:t>The trophy ≠ the best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C6B7E"/>
                </a:solidFill>
                <a:latin typeface="Arial"/>
              </a:rPr>
              <a:t>Share of simulated seasons where the champion does NOT have the league's best overall record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097280" y="1828800"/>
          <a:ext cx="7498079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869680" y="2377440"/>
            <a:ext cx="26517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>Multi-contender leagues split most: the SEC and Big Ten crown the ‘wrong’ team over half the time.</a:t>
            </a:r>
          </a:p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/>
            </a:r>
          </a:p>
          <a:p>
            <a:pPr algn="l"/>
            <a:r>
              <a:rPr sz="1200" b="0" i="0">
                <a:solidFill>
                  <a:srgbClr val="5C6B7E"/>
                </a:solidFill>
                <a:latin typeface="Arial"/>
              </a:rPr>
              <a:t>One-horse leagues (Pac-12: Boise) split least — the favorite usually holds both crowns.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