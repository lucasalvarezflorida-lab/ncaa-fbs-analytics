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split</c:v>
                </c:pt>
              </c:strCache>
            </c:strRef>
          </c:tx>
          <c:spPr>
            <a:solidFill>
              <a:srgbClr val="0A2851"/>
            </a:solidFill>
          </c:spPr>
          <c:cat>
            <c:strRef>
              <c:f>Sheet1!$A$2:$A$11</c:f>
              <c:strCache>
                <c:ptCount val="10"/>
                <c:pt idx="0">
                  <c:v>Big 12</c:v>
                </c:pt>
                <c:pt idx="1">
                  <c:v>ACC</c:v>
                </c:pt>
                <c:pt idx="2">
                  <c:v>Pac-12</c:v>
                </c:pt>
                <c:pt idx="3">
                  <c:v>Mountain West</c:v>
                </c:pt>
                <c:pt idx="4">
                  <c:v>Big Ten</c:v>
                </c:pt>
                <c:pt idx="5">
                  <c:v>SEC</c:v>
                </c:pt>
                <c:pt idx="6">
                  <c:v>Mid-American</c:v>
                </c:pt>
                <c:pt idx="7">
                  <c:v>Sun Belt</c:v>
                </c:pt>
                <c:pt idx="8">
                  <c:v>Conference USA</c:v>
                </c:pt>
                <c:pt idx="9">
                  <c:v>American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0.3565</c:v>
                </c:pt>
                <c:pt idx="1">
                  <c:v>0.4119</c:v>
                </c:pt>
                <c:pt idx="2">
                  <c:v>0.5006</c:v>
                </c:pt>
                <c:pt idx="3">
                  <c:v>0.5127</c:v>
                </c:pt>
                <c:pt idx="4">
                  <c:v>0.5136</c:v>
                </c:pt>
                <c:pt idx="5">
                  <c:v>0.5179</c:v>
                </c:pt>
                <c:pt idx="6">
                  <c:v>0.5615</c:v>
                </c:pt>
                <c:pt idx="7">
                  <c:v>0.5671</c:v>
                </c:pt>
                <c:pt idx="8">
                  <c:v>0.5868</c:v>
                </c:pt>
                <c:pt idx="9">
                  <c:v>0.6024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NCAA FBS ANALYTICS · PROJECTED STANDINGS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2026 Season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ADCFC"/>
                </a:solidFill>
                <a:latin typeface="Arial"/>
              </a:rPr>
              <a:t>10,000 Monte Carlo seasons · joint conference standings · title races</a:t>
            </a:r>
          </a:p>
          <a:p>
            <a:pPr algn="l"/>
            <a:r>
              <a:rPr sz="1500" b="0" i="0">
                <a:solidFill>
                  <a:srgbClr val="CADCFC"/>
                </a:solidFill>
                <a:latin typeface="Arial"/>
              </a:rPr>
              <a:t>Prior: ESPN 2026 preseason FPI (July 14 snapshot) · margins ~ N(FPI gap + 2.5 HFA, σ = 13.5)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0A2851"/>
                </a:solidFill>
                <a:latin typeface="Arial"/>
              </a:rPr>
              <a:t>How the simulation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8521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>Every conference game is sampled once per season and shared between both teams, so the standings hang together — one team's upset is another's loss column.</a:t>
            </a:r>
          </a:p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/>
            </a:r>
          </a:p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>Standings run on conference win percentage (slates are 8 or 9 games). Two-way ties for the 1-seed break on the simulated head-to-head result; the title game is played at a neutral site.</a:t>
            </a:r>
          </a:p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/>
            </a:r>
          </a:p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>Transitioning programs (North Dakota State, Sacramento State) play their full league schedule but cannot take a championship-game seed.</a:t>
            </a:r>
          </a:p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/>
            </a:r>
          </a:p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>‘Split’ = share of seasons in which the conference champion is NOT the team with the league's best overall record.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55448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47321"/>
                </a:solidFill>
                <a:latin typeface="Arial"/>
              </a:rPr>
              <a:t>10,000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22402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C6B7E"/>
                </a:solidFill>
                <a:latin typeface="Arial"/>
              </a:rPr>
              <a:t>seasons per league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55448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47321"/>
                </a:solidFill>
                <a:latin typeface="Arial"/>
              </a:rPr>
              <a:t>σ 13.5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2402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C6B7E"/>
                </a:solidFill>
                <a:latin typeface="Arial"/>
              </a:rPr>
              <a:t>margin sd vs spread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47321"/>
                </a:solidFill>
                <a:latin typeface="Arial"/>
              </a:rPr>
              <a:t>+2.5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8862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C6B7E"/>
                </a:solidFill>
                <a:latin typeface="Arial"/>
              </a:rPr>
              <a:t>home-field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320040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47321"/>
                </a:solidFill>
                <a:latin typeface="Arial"/>
              </a:rPr>
              <a:t>138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38862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C6B7E"/>
                </a:solidFill>
                <a:latin typeface="Arial"/>
              </a:rPr>
              <a:t>FBS teams rated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846320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C6B7E"/>
                </a:solidFill>
                <a:latin typeface="Arial"/>
              </a:rPr>
              <a:t>2025 receipt: Duke won the ACC at 8-5 while 10-2 Miami stayed home — the champion ≠ best team split is close to a coin flip in the biggest leagues.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0A2851"/>
                </a:solidFill>
                <a:latin typeface="Arial"/>
              </a:rPr>
              <a:t>The ten title races at a glance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371600"/>
          <a:ext cx="10515600" cy="3419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377440"/>
                <a:gridCol w="1188720"/>
                <a:gridCol w="329184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Conference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Favorite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P(champ)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Projected CG pair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Split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Texas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Texas vs Georgia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Ohio State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Ohio State vs Oregon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51%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Big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Texas Tech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Texas Tech vs BYU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Miami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Miami vs SMU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41%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Pac-12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Boise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Boise State vs San Diego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American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Tulane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Tulane vs Navy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Mountain West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UNLV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UNLV vs Hawai'i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Sun Belt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James Madison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James Madison vs Old Dominion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Conference USA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Western Kentucky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Western Kentucky vs Delaware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Mid-American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Toledo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Toledo vs Western Michigan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56%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0A2851"/>
                </a:solidFill>
                <a:latin typeface="Arial"/>
              </a:rPr>
              <a:t>Projected Top 25 — overall wins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371600"/>
          <a:ext cx="5394960" cy="3712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/>
                <a:gridCol w="1828800"/>
                <a:gridCol w="1005840"/>
                <a:gridCol w="640080"/>
                <a:gridCol w="731520"/>
                <a:gridCol w="731520"/>
              </a:tblGrid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Team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Conf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FPI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Proj W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P(10+)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Notre Dame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11.1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Texas Tech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12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10.8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Oregon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Miami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10.2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Indiana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Ohio State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10.1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Georgia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Texas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SEC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9.7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Penn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9.3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UNLV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MWC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9.0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Alabama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BYU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12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8.8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LSU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09360" y="1371600"/>
          <a:ext cx="5394960" cy="3447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/>
                <a:gridCol w="1828800"/>
                <a:gridCol w="1005840"/>
                <a:gridCol w="640080"/>
                <a:gridCol w="731520"/>
                <a:gridCol w="731520"/>
              </a:tblGrid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Team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Conf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FPI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Proj W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P(10+)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South Florida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American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USC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8.5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Texas A&amp;M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Toledo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MAC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8.4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SMU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Tulane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American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8.3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Clemson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James Madison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Sun Belt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East Carolina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American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Navy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American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8.1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Hawai'i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MWC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Michigan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8.0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0A2851"/>
                </a:solidFill>
                <a:latin typeface="Arial"/>
              </a:rPr>
              <a:t>The trophy ≠ the best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C6B7E"/>
                </a:solidFill>
                <a:latin typeface="Arial"/>
              </a:rPr>
              <a:t>Share of simulated seasons where the champion does NOT have the league's best overall record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097280" y="1828800"/>
          <a:ext cx="7498079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869680" y="2377440"/>
            <a:ext cx="26517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B7E"/>
                </a:solidFill>
                <a:latin typeface="Arial"/>
              </a:rPr>
              <a:t>Multi-contender leagues split most: the SEC and Big Ten crown the ‘wrong’ team over half the time.</a:t>
            </a:r>
          </a:p>
          <a:p>
            <a:pPr algn="l"/>
            <a:r>
              <a:rPr sz="1200" b="0" i="0">
                <a:solidFill>
                  <a:srgbClr val="5C6B7E"/>
                </a:solidFill>
                <a:latin typeface="Arial"/>
              </a:rPr>
              <a:t/>
            </a:r>
          </a:p>
          <a:p>
            <a:pPr algn="l"/>
            <a:r>
              <a:rPr sz="1200" b="0" i="0">
                <a:solidFill>
                  <a:srgbClr val="5C6B7E"/>
                </a:solidFill>
                <a:latin typeface="Arial"/>
              </a:rPr>
              <a:t>One-horse leagues (Pac-12: Boise) split least — the favorite usually holds both crowns.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