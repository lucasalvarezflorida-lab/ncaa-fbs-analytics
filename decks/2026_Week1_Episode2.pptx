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image" Target="../media/image13.png"/><Relationship Id="rId5" Type="http://schemas.openxmlformats.org/officeDocument/2006/relationships/image" Target="../media/image14.png"/><Relationship Id="rId6" Type="http://schemas.openxmlformats.org/officeDocument/2006/relationships/image" Target="../media/image15.png"/><Relationship Id="rId7" Type="http://schemas.openxmlformats.org/officeDocument/2006/relationships/image" Target="../media/image16.png"/><Relationship Id="rId8" Type="http://schemas.openxmlformats.org/officeDocument/2006/relationships/image" Target="../media/image17.png"/><Relationship Id="rId9" Type="http://schemas.openxmlformats.org/officeDocument/2006/relationships/image" Target="../media/image18.png"/><Relationship Id="rId10" Type="http://schemas.openxmlformats.org/officeDocument/2006/relationships/image" Target="../media/image19.png"/><Relationship Id="rId11" Type="http://schemas.openxmlformats.org/officeDocument/2006/relationships/image" Target="../media/image20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85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777240"/>
            <a:ext cx="105156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47321"/>
                </a:solidFill>
                <a:latin typeface="Arial"/>
              </a:rPr>
              <a:t>EPISODE 2 · WEEK 1 · SEP 5–7,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97280"/>
            <a:ext cx="1051560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Arial"/>
              </a:rPr>
              <a:t>Five Games, One Card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2194560"/>
            <a:ext cx="10515600" cy="731520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05840" y="2286000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bay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" y="2340864"/>
            <a:ext cx="438912" cy="438912"/>
          </a:xfrm>
          <a:prstGeom prst="rect">
            <a:avLst/>
          </a:prstGeom>
        </p:spPr>
      </p:pic>
      <p:sp>
        <p:nvSpPr>
          <p:cNvPr id="7" name="Oval 6"/>
          <p:cNvSpPr/>
          <p:nvPr/>
        </p:nvSpPr>
        <p:spPr>
          <a:xfrm>
            <a:off x="1691640" y="2286000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aubur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46504" y="2340864"/>
            <a:ext cx="438912" cy="43891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468880" y="2286000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Baylor vs Auburn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615184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Atlanta · Mercedes-Benz Stadium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0" y="2286000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50" b="1" i="0">
                <a:solidFill>
                  <a:srgbClr val="F47321"/>
                </a:solidFill>
                <a:latin typeface="Arial"/>
              </a:rPr>
              <a:t>Auburn –5.5   ·   –7.5 / –7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0" y="2624328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machine · market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2999232"/>
            <a:ext cx="10515600" cy="731520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05840" y="3090672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clems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0704" y="3145536"/>
            <a:ext cx="438912" cy="438912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1691640" y="3090672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lsu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46504" y="3145536"/>
            <a:ext cx="438912" cy="43891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2468880" y="3090672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Clemson at LSU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68880" y="3419856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Baton Rouge · Tiger Stadium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80960" y="3090672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50" b="1" i="0">
                <a:solidFill>
                  <a:srgbClr val="F47321"/>
                </a:solidFill>
                <a:latin typeface="Arial"/>
              </a:rPr>
              <a:t>LSU –9   ·   –10 / –10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80960" y="3429000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machine · market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2960" y="3803904"/>
            <a:ext cx="10515600" cy="731520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05840" y="3895344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louisvill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0704" y="3950207"/>
            <a:ext cx="438912" cy="438912"/>
          </a:xfrm>
          <a:prstGeom prst="rect">
            <a:avLst/>
          </a:prstGeom>
        </p:spPr>
      </p:pic>
      <p:sp>
        <p:nvSpPr>
          <p:cNvPr id="25" name="Oval 24"/>
          <p:cNvSpPr/>
          <p:nvPr/>
        </p:nvSpPr>
        <p:spPr>
          <a:xfrm>
            <a:off x="1691640" y="3895344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olemis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746504" y="3950207"/>
            <a:ext cx="438912" cy="43891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2468880" y="3895344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Louisville vs Ole Miss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468880" y="4224528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Nashville · Nissan Stadium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80960" y="3895344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50" b="1" i="0">
                <a:solidFill>
                  <a:srgbClr val="F47321"/>
                </a:solidFill>
                <a:latin typeface="Arial"/>
              </a:rPr>
              <a:t>Ole Miss –6.5   ·   –7 / –7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80960" y="4233672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machine · market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22960" y="4608576"/>
            <a:ext cx="10515600" cy="731520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1005840" y="4700016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wisconsin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60704" y="4754879"/>
            <a:ext cx="438912" cy="438912"/>
          </a:xfrm>
          <a:prstGeom prst="rect">
            <a:avLst/>
          </a:prstGeom>
        </p:spPr>
      </p:pic>
      <p:sp>
        <p:nvSpPr>
          <p:cNvPr id="34" name="Oval 33"/>
          <p:cNvSpPr/>
          <p:nvPr/>
        </p:nvSpPr>
        <p:spPr>
          <a:xfrm>
            <a:off x="1691640" y="4700016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notredam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746504" y="4754879"/>
            <a:ext cx="438912" cy="438912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2468880" y="4700016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Wisconsin vs Notre Dame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468880" y="5029200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Green Bay · Lambeau Field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680960" y="4700016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50" b="1" i="0">
                <a:solidFill>
                  <a:srgbClr val="F47321"/>
                </a:solidFill>
                <a:latin typeface="Arial"/>
              </a:rPr>
              <a:t>ND –21   ·   –20.5 / –20.5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680960" y="5038344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machine · market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22960" y="5413248"/>
            <a:ext cx="10515600" cy="731520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1005840" y="5504688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smu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60704" y="5559551"/>
            <a:ext cx="438912" cy="438912"/>
          </a:xfrm>
          <a:prstGeom prst="rect">
            <a:avLst/>
          </a:prstGeom>
        </p:spPr>
      </p:pic>
      <p:sp>
        <p:nvSpPr>
          <p:cNvPr id="43" name="Oval 42"/>
          <p:cNvSpPr/>
          <p:nvPr/>
        </p:nvSpPr>
        <p:spPr>
          <a:xfrm>
            <a:off x="1691640" y="5504688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4" name="Picture 43" descr="fsu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746504" y="5559551"/>
            <a:ext cx="438912" cy="438912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2468880" y="5504688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SMU at Florida State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468880" y="5833872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Tallahassee · Doak Campbell Stadium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680960" y="5504688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50" b="1" i="0">
                <a:solidFill>
                  <a:srgbClr val="F47321"/>
                </a:solidFill>
                <a:latin typeface="Arial"/>
              </a:rPr>
              <a:t>FSU –0.5   ·   +3 / +3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680960" y="5843016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machine · market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22960" y="626364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8FA5C4"/>
                </a:solidFill>
                <a:latin typeface="Arial"/>
              </a:rPr>
              <a:t>Machine = ESPN 2026 preseason FPI + 2.5 HFA, empirical margin curve (σ 17.9, 2021–25 fit) · lines as of Sep 1 · model plays graded vs first-seen lines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105156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0A2851"/>
                </a:solidFill>
                <a:latin typeface="Arial"/>
              </a:rPr>
              <a:t>Week 0 — the receipts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98755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5C6B7E"/>
                </a:solidFill>
                <a:latin typeface="Arial"/>
              </a:rPr>
              <a:t>Our call frozen at kickoff · closing line = last pre-kick pull (Sat 10:16 ET) · “off by” = miss vs the final margin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417320"/>
            <a:ext cx="10515600" cy="786384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un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" y="1536192"/>
            <a:ext cx="548640" cy="548640"/>
          </a:xfrm>
          <a:prstGeom prst="rect">
            <a:avLst/>
          </a:prstGeom>
        </p:spPr>
      </p:pic>
      <p:pic>
        <p:nvPicPr>
          <p:cNvPr id="6" name="Picture 5" descr="tc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45920" y="1536192"/>
            <a:ext cx="548640" cy="5486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377440" y="1499616"/>
            <a:ext cx="4389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6273D"/>
                </a:solidFill>
                <a:latin typeface="Arial"/>
              </a:rPr>
              <a:t>North Carolina vs TCU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77440" y="1837944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we called TCU 25–23 · FINAL UNC 15–10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20840" y="1517904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C6B7E"/>
                </a:solidFill>
                <a:latin typeface="Arial"/>
              </a:rPr>
              <a:t>our line TCU –1.5 · closing TCU –7.5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20840" y="1819656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F47321"/>
                </a:solidFill>
                <a:latin typeface="Arial"/>
              </a:rPr>
              <a:t>machine off by 6.5 · market off by 12.5 — machine closer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2276856"/>
            <a:ext cx="10515600" cy="786384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ncsu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5840" y="2395728"/>
            <a:ext cx="548640" cy="548640"/>
          </a:xfrm>
          <a:prstGeom prst="rect">
            <a:avLst/>
          </a:prstGeom>
        </p:spPr>
      </p:pic>
      <p:pic>
        <p:nvPicPr>
          <p:cNvPr id="13" name="Picture 12" descr="uv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45920" y="2395728"/>
            <a:ext cx="548640" cy="54864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377440" y="2359152"/>
            <a:ext cx="4389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6273D"/>
                </a:solidFill>
                <a:latin typeface="Arial"/>
              </a:rPr>
              <a:t>NC State at Virginia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77440" y="2697480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we called UVA 30–23 · FINAL UVA 34–8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20840" y="2377440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C6B7E"/>
                </a:solidFill>
                <a:latin typeface="Arial"/>
              </a:rPr>
              <a:t>our line UVA –6.5 · closing UVA –4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20840" y="2679192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F47321"/>
                </a:solidFill>
                <a:latin typeface="Arial"/>
              </a:rPr>
              <a:t>machine off by 19.5 · market off by 22 — machine closer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3136392"/>
            <a:ext cx="10515600" cy="786384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jsu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05840" y="3255264"/>
            <a:ext cx="548640" cy="548640"/>
          </a:xfrm>
          <a:prstGeom prst="rect">
            <a:avLst/>
          </a:prstGeom>
        </p:spPr>
      </p:pic>
      <p:pic>
        <p:nvPicPr>
          <p:cNvPr id="20" name="Picture 19" descr="ndsu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645920" y="3255264"/>
            <a:ext cx="548640" cy="54864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2377440" y="3218688"/>
            <a:ext cx="4389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6273D"/>
                </a:solidFill>
                <a:latin typeface="Arial"/>
              </a:rPr>
              <a:t>Jacksonville State at NDSU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40" y="3557016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we called NDSU 25–22 · FINAL NDSU 33–7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20840" y="3236976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C6B7E"/>
                </a:solidFill>
                <a:latin typeface="Arial"/>
              </a:rPr>
              <a:t>our line NDSU –2.5 · closing NDSU –6.5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20840" y="3538728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5121B"/>
                </a:solidFill>
                <a:latin typeface="Arial"/>
              </a:rPr>
              <a:t>machine off by 23.5 · market off by 19.5 — market closer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22960" y="3995928"/>
            <a:ext cx="10515600" cy="786384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hawaii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5840" y="4114800"/>
            <a:ext cx="548640" cy="548640"/>
          </a:xfrm>
          <a:prstGeom prst="rect">
            <a:avLst/>
          </a:prstGeom>
        </p:spPr>
      </p:pic>
      <p:pic>
        <p:nvPicPr>
          <p:cNvPr id="27" name="Picture 26" descr="stanfor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645920" y="4114800"/>
            <a:ext cx="548640" cy="54864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2377440" y="4078224"/>
            <a:ext cx="4389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6273D"/>
                </a:solidFill>
                <a:latin typeface="Arial"/>
              </a:rPr>
              <a:t>Hawai'i at Stanford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40" y="4416552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we called Stanford 26–24 · FINAL Stanford 37–27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20840" y="4096512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C6B7E"/>
                </a:solidFill>
                <a:latin typeface="Arial"/>
              </a:rPr>
              <a:t>our line Stanford –1.5 · closing Stanford –4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720840" y="4398264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5121B"/>
                </a:solidFill>
                <a:latin typeface="Arial"/>
              </a:rPr>
              <a:t>machine off by 8.5 · market off by 6 — market closer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22960" y="4855464"/>
            <a:ext cx="10515600" cy="786384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memphis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05840" y="4974336"/>
            <a:ext cx="548640" cy="548640"/>
          </a:xfrm>
          <a:prstGeom prst="rect">
            <a:avLst/>
          </a:prstGeom>
        </p:spPr>
      </p:pic>
      <p:pic>
        <p:nvPicPr>
          <p:cNvPr id="34" name="Picture 33" descr="unlv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645920" y="4974336"/>
            <a:ext cx="548640" cy="548640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2377440" y="4937760"/>
            <a:ext cx="4389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6273D"/>
                </a:solidFill>
                <a:latin typeface="Arial"/>
              </a:rPr>
              <a:t>Memphis at UNLV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40" y="5276088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we called UNLV 32–26 · FINAL Memphis 27–21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720840" y="4956048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C6B7E"/>
                </a:solidFill>
                <a:latin typeface="Arial"/>
              </a:rPr>
              <a:t>our line UNLV –6 · closing UNLV –4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720840" y="5257800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5121B"/>
                </a:solidFill>
                <a:latin typeface="Arial"/>
              </a:rPr>
              <a:t>machine off by 12 · market off by 10 — market closer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22960" y="5760720"/>
            <a:ext cx="10515600" cy="777240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51560" y="5870448"/>
            <a:ext cx="100584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Total miss across five games: machine 70.0 points, closing market 70.0 — a literal dead heat. Stated leans 1–2, the win coming where we disagreed with the market most (UNC, 18 points of win prob). Week 0 went UNDER in 4 of 5 · σ 17.9 — one week proves nothing either way.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ay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vs</a:t>
            </a:r>
          </a:p>
        </p:txBody>
      </p:sp>
      <p:pic>
        <p:nvPicPr>
          <p:cNvPr id="4" name="Picture 3" descr="aubur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384048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54680" y="347472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Baylor vs Auburn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859536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5C6B7E"/>
                </a:solidFill>
                <a:latin typeface="Arial"/>
              </a:rPr>
              <a:t>Sat Sep 5 · 3:30 ET · neutral site · Golesh's Auburn debut · Lagway's Baylor debut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0020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WHY IT MATTERS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2139696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057400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Two rebooted programs on a neutral floor: Golesh's Auburn debut vs the biggest QB get in Baylor history</a:t>
            </a:r>
          </a:p>
        </p:txBody>
      </p:sp>
      <p:sp>
        <p:nvSpPr>
          <p:cNvPr id="10" name="Oval 9"/>
          <p:cNvSpPr/>
          <p:nvPr/>
        </p:nvSpPr>
        <p:spPr>
          <a:xfrm>
            <a:off x="868680" y="2852928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2770632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The card's starkest contrast — Auburn returns 14% of production (39 portal adds), Baylor returns 60%</a:t>
            </a:r>
          </a:p>
        </p:txBody>
      </p:sp>
      <p:sp>
        <p:nvSpPr>
          <p:cNvPr id="12" name="Oval 11"/>
          <p:cNvSpPr/>
          <p:nvPr/>
        </p:nvSpPr>
        <p:spPr>
          <a:xfrm>
            <a:off x="868680" y="3566160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3483864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Lagway's health is the single biggest variable in the Big 12 season</a:t>
            </a:r>
          </a:p>
        </p:txBody>
      </p:sp>
      <p:sp>
        <p:nvSpPr>
          <p:cNvPr id="14" name="Oval 13"/>
          <p:cNvSpPr/>
          <p:nvPr/>
        </p:nvSpPr>
        <p:spPr>
          <a:xfrm>
            <a:off x="868680" y="4279392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8720" y="4197096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The 59.5 total is top-decile — five years of closing lines say that class of game goes UNDER 55% of the time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5047488"/>
            <a:ext cx="658368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5202936"/>
            <a:ext cx="612648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5C6B7E"/>
                </a:solidFill>
                <a:latin typeface="Arial"/>
              </a:rPr>
              <a:t>Both sidelines are running year-one installs the preseason numbers can't see — and the machine's prior hasn't ingested a single 2026 snap yet (first in-season FPI refresh lands Tuesday). Machine −5.5 vs market −7 is a quibble, not a position.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0" y="1600200"/>
            <a:ext cx="3566160" cy="4206240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0" y="1810512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47321"/>
                </a:solidFill>
                <a:latin typeface="Arial"/>
              </a:rPr>
              <a:t>THE NUMBER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2103120"/>
            <a:ext cx="30175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Auburn –5.5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0" y="2596896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Auburn –168 · Baylor +168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20" y="2852928"/>
            <a:ext cx="30175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machine line · fair odds, no vig · raw margin Auburn +5.5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0" y="3246120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Arial"/>
              </a:rPr>
              <a:t>–7.5 / –7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0" y="3639312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market (DK / Bovada) · DK Auburn -285 / Baylor +230 · Bov Auburn -270 / Baylor +220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406908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47321"/>
                </a:solidFill>
                <a:latin typeface="Arial"/>
              </a:rPr>
              <a:t>Auburn 33 – Baylor 27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4407408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score prediction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46720" y="4754880"/>
            <a:ext cx="3017520" cy="365760"/>
          </a:xfrm>
          <a:prstGeom prst="roundRect">
            <a:avLst/>
          </a:prstGeom>
          <a:solidFill>
            <a:srgbClr val="1545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046720" y="4754880"/>
            <a:ext cx="1901037" cy="365760"/>
          </a:xfrm>
          <a:prstGeom prst="roundRect">
            <a:avLst/>
          </a:prstGeom>
          <a:solidFill>
            <a:srgbClr val="0C2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19872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AUB 63%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96528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FFFFFF"/>
                </a:solidFill>
                <a:latin typeface="Arial"/>
              </a:rPr>
              <a:t>37% BAY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46720" y="5175504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win probability (machine)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46720" y="54406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LINE MOVE  –6.5 → –7.5 · CLV -1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" y="6236208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5C6B7E"/>
                </a:solidFill>
                <a:latin typeface="Arial"/>
              </a:rPr>
              <a:t>Line movement: first-seen –6.5 (Aug 18) → now –7.5 · CLV -1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ay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Baylor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Baylor vs Auburn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Aranda, year 6 — seat survived; new DC Klanderman (K-State)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NEW — DJ Lagway (Florida), biggest transfer get in program history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60% of offensive production back — most on this card · 31 portal adds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218688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10896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Keep Lagway upright and healthy — everything else is decoration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059936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3950208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Beat the sim pressures on early downs; don't let Durkin tee off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4901184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4791456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Steal a possession with tempo of your own</a:t>
            </a:r>
          </a:p>
        </p:txBody>
      </p:sp>
      <p:sp>
        <p:nvSpPr>
          <p:cNvPr id="18" name="Oval 17"/>
          <p:cNvSpPr/>
          <p:nvPr/>
        </p:nvSpPr>
        <p:spPr>
          <a:xfrm>
            <a:off x="914400" y="5742432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25880" y="5632704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Make Auburn's first-year offense play from behind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2 · WEEK 1 · Baylor vs Auburn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aubur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Auburn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Baylor vs Auburn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NEW — Alex Golesh (USF) · Durkin RETAINED as DC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NEW and unsettled — open room after the Knight exit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14% back — most retooled roster on the card · 39 portal adds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218688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10896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Lean on the defense that didn't change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059936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3950208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Tempo without turnovers — install-week ball security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4901184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4791456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Feed the tight ends where Golesh's system lives</a:t>
            </a:r>
          </a:p>
        </p:txBody>
      </p:sp>
      <p:sp>
        <p:nvSpPr>
          <p:cNvPr id="18" name="Oval 17"/>
          <p:cNvSpPr/>
          <p:nvPr/>
        </p:nvSpPr>
        <p:spPr>
          <a:xfrm>
            <a:off x="914400" y="5742432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25880" y="5632704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Let the defensive line end drives on third down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2 · WEEK 1 · Baylor vs Auburn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lem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at</a:t>
            </a:r>
          </a:p>
        </p:txBody>
      </p:sp>
      <p:pic>
        <p:nvPicPr>
          <p:cNvPr id="4" name="Picture 3" descr="ls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384048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54680" y="347472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Clemson at LSU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859536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5C6B7E"/>
                </a:solidFill>
                <a:latin typeface="Arial"/>
              </a:rPr>
              <a:t>Sat Sep 5 · 7:30 ET · Kiffin's first game at LSU · Death Valley at night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0020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WHY IT MATTERS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2139696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057400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Kiffin's first game at LSU — a CFP-or-bust construction unveiled at night in Death Valley</a:t>
            </a:r>
          </a:p>
        </p:txBody>
      </p:sp>
      <p:sp>
        <p:nvSpPr>
          <p:cNvPr id="10" name="Oval 9"/>
          <p:cNvSpPr/>
          <p:nvPr/>
        </p:nvSpPr>
        <p:spPr>
          <a:xfrm>
            <a:off x="868680" y="2852928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2770632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Dabo answering the worst season in 15 years with a first-year QB and a throwback OC</a:t>
            </a:r>
          </a:p>
        </p:txBody>
      </p:sp>
      <p:sp>
        <p:nvSpPr>
          <p:cNvPr id="12" name="Oval 11"/>
          <p:cNvSpPr/>
          <p:nvPr/>
        </p:nvSpPr>
        <p:spPr>
          <a:xfrm>
            <a:off x="868680" y="3566160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3483864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LSU returns 21% of production with 44 portal adds — the most aggressive retool on the card; Clemson added 11</a:t>
            </a:r>
          </a:p>
        </p:txBody>
      </p:sp>
      <p:sp>
        <p:nvSpPr>
          <p:cNvPr id="14" name="Oval 13"/>
          <p:cNvSpPr/>
          <p:nvPr/>
        </p:nvSpPr>
        <p:spPr>
          <a:xfrm>
            <a:off x="868680" y="4279392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8720" y="4197096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Week 1 loser burns a playoff mulligan immediately — both fanbases know it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5047488"/>
            <a:ext cx="658368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5202936"/>
            <a:ext cx="612648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5C6B7E"/>
                </a:solidFill>
                <a:latin typeface="Arial"/>
              </a:rPr>
              <a:t>The machine's −9.1 is a preseason guess about a team with a new head coach, new QB and new OC — and the same is true across the field. The market opened −11.5 and drifted to −10.5; the machine sits a point and a half friendlier to Clemson. Install-week variance says treat all of it gently.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0" y="1600200"/>
            <a:ext cx="3566160" cy="4206240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0" y="1810512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47321"/>
                </a:solidFill>
                <a:latin typeface="Arial"/>
              </a:rPr>
              <a:t>THE NUMBER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2103120"/>
            <a:ext cx="30175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LSU –9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0" y="2596896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LSU –231 · Clemson +231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20" y="2852928"/>
            <a:ext cx="30175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machine line · fair odds, no vig · raw margin LSU +9.1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0" y="3246120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Arial"/>
              </a:rPr>
              <a:t>–10 / –10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0" y="3639312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market (DK / Bovada) · DK LSU -375 / Clemson +295 · Bov LSU -480 / Clemson +350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406908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47321"/>
                </a:solidFill>
                <a:latin typeface="Arial"/>
              </a:rPr>
              <a:t>LSU 30 – Clemson 21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4407408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score prediction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46720" y="4754880"/>
            <a:ext cx="3017520" cy="365760"/>
          </a:xfrm>
          <a:prstGeom prst="roundRect">
            <a:avLst/>
          </a:prstGeom>
          <a:solidFill>
            <a:srgbClr val="F667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046720" y="4754880"/>
            <a:ext cx="2112264" cy="365760"/>
          </a:xfrm>
          <a:prstGeom prst="roundRect">
            <a:avLst/>
          </a:prstGeom>
          <a:solidFill>
            <a:srgbClr val="461D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19872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LSU 70%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96528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FFFFFF"/>
                </a:solidFill>
                <a:latin typeface="Arial"/>
              </a:rPr>
              <a:t>30% CLEM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46720" y="5175504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win probability (machine)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46720" y="54406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LINE MOVE  –10.5 → –10 · CLV +0.5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" y="6236208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5C6B7E"/>
                </a:solidFill>
                <a:latin typeface="Arial"/>
              </a:rPr>
              <a:t>Line movement: first-seen –10.5 (Aug 18) → now –10 · opened –11.5 · CLV +0.5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lem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Clemson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Clemson at LSU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Dabo, year 18 — Chad Morris returns as OC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NEW — Vizzina, first-year starter post-Klubnik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41% back · just 11 portal adds — still portal-light by choice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218688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10896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Let Allen's defense set the terms early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059936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3950208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Give Vizzina pressure answers — quick game and screens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4901184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4791456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Win explosives; don't trade field goals with LSU's skill talent</a:t>
            </a:r>
          </a:p>
        </p:txBody>
      </p:sp>
      <p:sp>
        <p:nvSpPr>
          <p:cNvPr id="18" name="Oval 17"/>
          <p:cNvSpPr/>
          <p:nvPr/>
        </p:nvSpPr>
        <p:spPr>
          <a:xfrm>
            <a:off x="914400" y="5742432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25880" y="5632704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Silence the crowd with third-down conversions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2 · WEEK 1 · Clemson at LSU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s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LSU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Clemson at LSU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NEW — Lane Kiffin, off Ole Miss's 13-win CFP season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NEW — Sam Leavitt (Arizona State), the spring's biggest QB move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21% back · 44 portal adds — the biggest retool here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218688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10896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Protect Leavitt — the rebuilt OL is the bet of the season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059936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3950208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Tempo early: make Allen's defense align fast, then strike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4901184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4791456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Let Baker hunt with the pressure package on obvious downs</a:t>
            </a:r>
          </a:p>
        </p:txBody>
      </p:sp>
      <p:sp>
        <p:nvSpPr>
          <p:cNvPr id="18" name="Oval 17"/>
          <p:cNvSpPr/>
          <p:nvPr/>
        </p:nvSpPr>
        <p:spPr>
          <a:xfrm>
            <a:off x="914400" y="5742432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25880" y="5632704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Finish drives — red-zone scripts vs a blue-chip front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2 · WEEK 1 · Clemson at LSU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uisvil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vs</a:t>
            </a:r>
          </a:p>
        </p:txBody>
      </p:sp>
      <p:pic>
        <p:nvPicPr>
          <p:cNvPr id="4" name="Picture 3" descr="olemis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384048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54680" y="347472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Louisville vs Ole Miss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859536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5C6B7E"/>
                </a:solidFill>
                <a:latin typeface="Arial"/>
              </a:rPr>
              <a:t>Sun Sep 6 · 7:30 ET · neutral site · Golding's debut as the head man · Chambliss back after the eligibility win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0020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WHY IT MATTERS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2139696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057400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Golding's first game as the head man — keeping a 13-win CFP program's identity after Kiffin left with it</a:t>
            </a:r>
          </a:p>
        </p:txBody>
      </p:sp>
      <p:sp>
        <p:nvSpPr>
          <p:cNvPr id="10" name="Oval 9"/>
          <p:cNvSpPr/>
          <p:nvPr/>
        </p:nvSpPr>
        <p:spPr>
          <a:xfrm>
            <a:off x="868680" y="2852928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2770632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Chambliss is the rare continuity star (50% of production back); Brohm counters with his third new QB1 in three years</a:t>
            </a:r>
          </a:p>
        </p:txBody>
      </p:sp>
      <p:sp>
        <p:nvSpPr>
          <p:cNvPr id="12" name="Oval 11"/>
          <p:cNvSpPr/>
          <p:nvPr/>
        </p:nvSpPr>
        <p:spPr>
          <a:xfrm>
            <a:off x="868680" y="3566160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3483864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Sunday night in Nashville — neutral on paper, Ole Miss crowd in practice</a:t>
            </a:r>
          </a:p>
        </p:txBody>
      </p:sp>
      <p:sp>
        <p:nvSpPr>
          <p:cNvPr id="14" name="Oval 13"/>
          <p:cNvSpPr/>
          <p:nvPr/>
        </p:nvSpPr>
        <p:spPr>
          <a:xfrm>
            <a:off x="868680" y="4279392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8720" y="4197096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Both need this one: Louisville's easiest big-name scalp; Ole Miss defending the CFP-program label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5047488"/>
            <a:ext cx="658368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5202936"/>
            <a:ext cx="612648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5C6B7E"/>
                </a:solidFill>
                <a:latin typeface="Arial"/>
              </a:rPr>
              <a:t>The market opened −8.5 and walked to −6.5/−7 — it has come to the machine's −6.5. That's agreement, not edge. And nothing in a preseason prior prices a first-year head coach's game management on a Sunday neutral floor.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0" y="1600200"/>
            <a:ext cx="3566160" cy="4206240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0" y="1810512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47321"/>
                </a:solidFill>
                <a:latin typeface="Arial"/>
              </a:rPr>
              <a:t>THE NUMBER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2103120"/>
            <a:ext cx="30175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Ole Miss –6.5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0" y="2596896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Ole Miss –184 · Louisville +184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20" y="2852928"/>
            <a:ext cx="30175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machine line · fair odds, no vig · raw margin Ole Miss +6.5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0" y="3246120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Arial"/>
              </a:rPr>
              <a:t>–7 / –7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0" y="3639312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market (DK / Bovada) · DK Ole Miss -265 / Louisville +215 · Bov Ole Miss -270 / Louisville +220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406908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7321"/>
                </a:solidFill>
                <a:latin typeface="Arial"/>
              </a:rPr>
              <a:t>Ole Miss 31 – Louisville 25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4407408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score prediction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46720" y="4754880"/>
            <a:ext cx="3017520" cy="365760"/>
          </a:xfrm>
          <a:prstGeom prst="roundRect">
            <a:avLst/>
          </a:prstGeom>
          <a:solidFill>
            <a:srgbClr val="AD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046720" y="4754880"/>
            <a:ext cx="1961388" cy="365760"/>
          </a:xfrm>
          <a:prstGeom prst="round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19872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MISS 65%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96528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FFFFFF"/>
                </a:solidFill>
                <a:latin typeface="Arial"/>
              </a:rPr>
              <a:t>35% LOU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46720" y="5175504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win probability (machine)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46720" y="54406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LINE MOVE  –6.5 → –7 · CLV -0.5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" y="6236208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5C6B7E"/>
                </a:solidFill>
                <a:latin typeface="Arial"/>
              </a:rPr>
              <a:t>Line movement: first-seen –6.5 (Aug 18) → now –7 · opened –8.5 · CLV -0.5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uisvil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Louisville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Louisville vs Ole Miss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Brohm, year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NEW — Kienholz: third QB1 in three years, least-proven yet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35% back · 33 portal adds — the annual Brohm re-skin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218688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10896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Ride the run game and keep Chambliss on the sideline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059936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3950208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No coverage busts — the season-long bug can't show up here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4901184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4791456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Pressure with the edges, not blitz-and-bust gambles</a:t>
            </a:r>
          </a:p>
        </p:txBody>
      </p:sp>
      <p:sp>
        <p:nvSpPr>
          <p:cNvPr id="18" name="Oval 17"/>
          <p:cNvSpPr/>
          <p:nvPr/>
        </p:nvSpPr>
        <p:spPr>
          <a:xfrm>
            <a:off x="914400" y="5742432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25880" y="5632704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Keep Kienholz's menu short and make an early lead real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2 · WEEK 1 · Louisville vs Ole Miss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lemi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Ole Miss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Louisville vs Ole Miss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NEW — Pete Golding, promoted; kept the defensive spine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RETURNS — Chambliss, SEC Newcomer of the Year; won his eligibility appeal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50% back · 28 portal adds — the spine stayed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218688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10896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Let Chambliss escape — the off-script plays are the edge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059936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3950208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Interior line vs Louisville's backfield: end the run game early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4901184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4791456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Tempo the Brohm defense into simple, static looks</a:t>
            </a:r>
          </a:p>
        </p:txBody>
      </p:sp>
      <p:sp>
        <p:nvSpPr>
          <p:cNvPr id="18" name="Oval 17"/>
          <p:cNvSpPr/>
          <p:nvPr/>
        </p:nvSpPr>
        <p:spPr>
          <a:xfrm>
            <a:off x="914400" y="5742432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25880" y="5632704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Win field position all night on a neutral floor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2 · WEEK 1 · Louisville vs Ole Miss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wiscons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vs</a:t>
            </a:r>
          </a:p>
        </p:txBody>
      </p:sp>
      <p:pic>
        <p:nvPicPr>
          <p:cNvPr id="4" name="Picture 3" descr="notredam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384048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54680" y="347472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Wisconsin vs Notre Dame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859536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5C6B7E"/>
                </a:solidFill>
                <a:latin typeface="Arial"/>
              </a:rPr>
              <a:t>Sun Sep 6 · 7:30 ET · neutral site · the 'Leave No Doubt' tour opens · Fickell's survival season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0020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WHY IT MATTERS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2139696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057400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The revenge tour begins — 'Leave No Doubt' opens at Lambeau Field</a:t>
            </a:r>
          </a:p>
        </p:txBody>
      </p:sp>
      <p:sp>
        <p:nvSpPr>
          <p:cNvPr id="10" name="Oval 9"/>
          <p:cNvSpPr/>
          <p:nvPr/>
        </p:nvSpPr>
        <p:spPr>
          <a:xfrm>
            <a:off x="868680" y="2852928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2770632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ND is the card's continuity outlier: Carr in year two, 51% of production back, just 7 portal adds</a:t>
            </a:r>
          </a:p>
        </p:txBody>
      </p:sp>
      <p:sp>
        <p:nvSpPr>
          <p:cNvPr id="12" name="Oval 11"/>
          <p:cNvSpPr/>
          <p:nvPr/>
        </p:nvSpPr>
        <p:spPr>
          <a:xfrm>
            <a:off x="868680" y="3566160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3483864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Fickell's survival season starts as a 20-point dog, with a new QB again (Joseph, 31% back)</a:t>
            </a:r>
          </a:p>
        </p:txBody>
      </p:sp>
      <p:sp>
        <p:nvSpPr>
          <p:cNvPr id="14" name="Oval 13"/>
          <p:cNvSpPr/>
          <p:nvPr/>
        </p:nvSpPr>
        <p:spPr>
          <a:xfrm>
            <a:off x="868680" y="4279392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8720" y="4197096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A No. 1-seed résumé game for the Irish; a cover is Wisconsin's moral win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5047488"/>
            <a:ext cx="658368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5202936"/>
            <a:ext cx="612648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5C6B7E"/>
                </a:solidFill>
                <a:latin typeface="Arial"/>
              </a:rPr>
              <a:t>Housekeeping: our ledger's July first-seen on this game is a known CFBD sides-flip data error, so the honest movement read is the opener — Bovada hung −16.5 and the market walked it to −20.5, four points toward the Irish. Machine −21.1, market −20.5: nothing to do but watch.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0" y="1600200"/>
            <a:ext cx="3566160" cy="4206240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0" y="1810512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47321"/>
                </a:solidFill>
                <a:latin typeface="Arial"/>
              </a:rPr>
              <a:t>THE NUMBER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2103120"/>
            <a:ext cx="30175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ND –21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0" y="2596896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ND –697 · Wisconsin +697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20" y="2852928"/>
            <a:ext cx="30175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machine line · fair odds, no vig · raw margin ND +21.1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0" y="3246120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Arial"/>
              </a:rPr>
              <a:t>–20.5 / –20.5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0" y="3639312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market (DK / Bovada) · DK ND -1650 / Wisconsin +950 · Bov ND -2500 / Wisconsin +1000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406908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47321"/>
                </a:solidFill>
                <a:latin typeface="Arial"/>
              </a:rPr>
              <a:t>ND 34 – Wisconsin 13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4407408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score prediction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46720" y="4754880"/>
            <a:ext cx="3017520" cy="365760"/>
          </a:xfrm>
          <a:prstGeom prst="roundRect">
            <a:avLst/>
          </a:prstGeom>
          <a:solidFill>
            <a:srgbClr val="C505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046720" y="4754880"/>
            <a:ext cx="2625242" cy="365760"/>
          </a:xfrm>
          <a:prstGeom prst="round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19872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ND 87%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96528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FFFFFF"/>
                </a:solidFill>
                <a:latin typeface="Arial"/>
              </a:rPr>
              <a:t>13% WIS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46720" y="5175504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win probability (machine)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46720" y="54406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LINE MOVE  –16.5 → –20.5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" y="6236208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5C6B7E"/>
                </a:solidFill>
                <a:latin typeface="Arial"/>
              </a:rPr>
              <a:t>Line movement: opened –16.5 → now –20.5 (first-seen excluded: sides-flip data error)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wiscons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Wisconsin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Wisconsin vs Notre Dame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Fickell, year 4 — survival season; the Air Raid detour is dead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NEW — Colton Joseph (Old Dominion), a real dual threat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31% back · 33 portal adds — retooled around a veteran OL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218688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10896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Shorten the game: long drives, no clock stoppages, no gifts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059936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3950208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Find counters vs a tite front built to erase the run-first pivot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4901184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4791456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Joseph's legs on third-and-medium — the one chain-mover that travels</a:t>
            </a:r>
          </a:p>
        </p:txBody>
      </p:sp>
      <p:sp>
        <p:nvSpPr>
          <p:cNvPr id="18" name="Oval 17"/>
          <p:cNvSpPr/>
          <p:nvPr/>
        </p:nvSpPr>
        <p:spPr>
          <a:xfrm>
            <a:off x="914400" y="5742432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25880" y="5632704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Force Carr to beat the 3-3-5 from the pocket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2 · WEEK 1 · Wisconsin vs Notre Dame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notreda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Notre Dame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Wisconsin vs Notre Dame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Freeman — full staff and identity continuity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RETURNS — CJ Carr, year two: the top-10's likeliest QB leap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51% back · just 7 portal adds — the continuity program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218688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10896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Post-Love backfield: prove the duo/counter identity early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059936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3950208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Carr in rhythm — play-action on schedule, nothing forced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4901184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4791456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Erase explosives; make Wisconsin play 12-play drives</a:t>
            </a:r>
          </a:p>
        </p:txBody>
      </p:sp>
      <p:sp>
        <p:nvSpPr>
          <p:cNvPr id="18" name="Oval 17"/>
          <p:cNvSpPr/>
          <p:nvPr/>
        </p:nvSpPr>
        <p:spPr>
          <a:xfrm>
            <a:off x="914400" y="5742432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25880" y="5632704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'Leave No Doubt' means no scoreboard mercy — bury it early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2 · WEEK 1 · Wisconsin vs Notre Dame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m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at</a:t>
            </a:r>
          </a:p>
        </p:txBody>
      </p:sp>
      <p:pic>
        <p:nvPicPr>
          <p:cNvPr id="4" name="Picture 3" descr="fs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384048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54680" y="347472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SMU at Florida State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859536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5C6B7E"/>
                </a:solidFill>
                <a:latin typeface="Arial"/>
              </a:rPr>
              <a:t>Mon Sep 7 · 7:30 ET · Labor Day nightcap · ON THE UPSET BOARD — 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0020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WHY IT MATTERS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2139696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057400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Monday night, alone on the calendar — the week's last word</a:t>
            </a:r>
          </a:p>
        </p:txBody>
      </p:sp>
      <p:sp>
        <p:nvSpPr>
          <p:cNvPr id="10" name="Oval 9"/>
          <p:cNvSpPr/>
          <p:nvPr/>
        </p:nvSpPr>
        <p:spPr>
          <a:xfrm>
            <a:off x="868680" y="2852928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2770632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FSU's 36-month whiplash (CFP → 2–10 → reset) meets SMU's post-CFP expectations</a:t>
            </a:r>
          </a:p>
        </p:txBody>
      </p:sp>
      <p:sp>
        <p:nvSpPr>
          <p:cNvPr id="12" name="Oval 11"/>
          <p:cNvSpPr/>
          <p:nvPr/>
        </p:nvSpPr>
        <p:spPr>
          <a:xfrm>
            <a:off x="868680" y="3566160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3483864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SMU kept the roster (57% back) but lost both coordinators; FSU kept Norvell but reloads via portal again</a:t>
            </a:r>
          </a:p>
        </p:txBody>
      </p:sp>
      <p:sp>
        <p:nvSpPr>
          <p:cNvPr id="14" name="Oval 13"/>
          <p:cNvSpPr/>
          <p:nvPr/>
        </p:nvSpPr>
        <p:spPr>
          <a:xfrm>
            <a:off x="868680" y="4279392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8720" y="4197096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RED ALERT: the machine takes the home dog outright — FSU 52%, market 42%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5047488"/>
            <a:ext cx="658368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5202936"/>
            <a:ext cx="612648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5C6B7E"/>
                </a:solidFill>
                <a:latin typeface="Arial"/>
              </a:rPr>
              <a:t>Respect the backtest: RED alerts hit 49.7% ATS across 2023–25 — below break-even. The flag is a research shortlist, not a pick. And FSU's 36-month whiplash (CFP → 2–10 → reset) makes its preseason prior the least trustworthy number on this card.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0" y="1600200"/>
            <a:ext cx="3566160" cy="4206240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0" y="1810512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47321"/>
                </a:solidFill>
                <a:latin typeface="Arial"/>
              </a:rPr>
              <a:t>THE NUMBER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2103120"/>
            <a:ext cx="30175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FSU –0.5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0" y="2596896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FSU –110 · SMU +110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20" y="2852928"/>
            <a:ext cx="30175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machine line · fair odds, no vig · raw margin FSU +0.7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0" y="3246120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Arial"/>
              </a:rPr>
              <a:t>+3 / +3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0" y="3639312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market (DK / Bovada) · DK FSU +136 / SMU -162 · Bov FSU +145 / SMU -170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406908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47321"/>
                </a:solidFill>
                <a:latin typeface="Arial"/>
              </a:rPr>
              <a:t>FSU 27 – SMU 26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4407408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score prediction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46720" y="4754880"/>
            <a:ext cx="3017520" cy="365760"/>
          </a:xfrm>
          <a:prstGeom prst="roundRect">
            <a:avLst/>
          </a:prstGeom>
          <a:solidFill>
            <a:srgbClr val="0033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046720" y="4754880"/>
            <a:ext cx="1569110" cy="365760"/>
          </a:xfrm>
          <a:prstGeom prst="roundRect">
            <a:avLst/>
          </a:prstGeom>
          <a:solidFill>
            <a:srgbClr val="782F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19872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FSU 52%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96528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FFFFFF"/>
                </a:solidFill>
                <a:latin typeface="Arial"/>
              </a:rPr>
              <a:t>48% SMU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46720" y="5175504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win probability (machine)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46720" y="54406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LINE MOVE  +2.5 → +3 · CLV -0.5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" y="6236208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5C6B7E"/>
                </a:solidFill>
                <a:latin typeface="Arial"/>
              </a:rPr>
              <a:t>Line movement: first-seen +2.5 (Aug 18) → now +3 · CLV -0.5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m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SMU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SMU at Florida State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Lashlee, year 5 — both coordinators left; co-coordinator troikas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NEW — post-Jennings; the system made 3 straight top-25 offenses with 3 QBs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57% back · 15 portal adds — kept the roster, lost the callers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218688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10896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Prove the troika can call it: tempo and spacing from drive one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059936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3950208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Protect the new quarterback against a rebuilt FSU front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4901184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4791456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Explosives, not field goals — White's 3-3-5 bends on purpose</a:t>
            </a:r>
          </a:p>
        </p:txBody>
      </p:sp>
      <p:sp>
        <p:nvSpPr>
          <p:cNvPr id="18" name="Oval 17"/>
          <p:cNvSpPr/>
          <p:nvPr/>
        </p:nvSpPr>
        <p:spPr>
          <a:xfrm>
            <a:off x="914400" y="5742432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25880" y="5632704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Win the takeaway ledger: the gambling profile has to cash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2 · WEEK 1 · SMU at Florida State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s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Florida State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SMU at Florida State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Norvell, year 7 — Harris promoted to OC (Malzahn retired)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NEW — veteran portal room again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40% back · 22 portal adds — another portal reload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218688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10896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Run it with the portal front — make it physical early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059936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3950208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Quarterback run as the cheat code in Norvell's heavier hand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4901184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4791456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No boom-bust: field position over hero ball</a:t>
            </a:r>
          </a:p>
        </p:txBody>
      </p:sp>
      <p:sp>
        <p:nvSpPr>
          <p:cNvPr id="18" name="Oval 17"/>
          <p:cNvSpPr/>
          <p:nvPr/>
        </p:nvSpPr>
        <p:spPr>
          <a:xfrm>
            <a:off x="914400" y="5742432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25880" y="5632704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Start fast and let the Monday-night Doak crowd matter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2 · WEEK 1 · SMU at Florida State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85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47321"/>
                </a:solidFill>
                <a:latin typeface="Arial"/>
              </a:rPr>
              <a:t>EPISODE 2 · THE CARD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Arial"/>
              </a:rPr>
              <a:t>Our predictions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783080"/>
            <a:ext cx="10515600" cy="658368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05840" y="1874519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bay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3388" y="1922068"/>
            <a:ext cx="380390" cy="380390"/>
          </a:xfrm>
          <a:prstGeom prst="rect">
            <a:avLst/>
          </a:prstGeom>
        </p:spPr>
      </p:pic>
      <p:sp>
        <p:nvSpPr>
          <p:cNvPr id="7" name="Oval 6"/>
          <p:cNvSpPr/>
          <p:nvPr/>
        </p:nvSpPr>
        <p:spPr>
          <a:xfrm>
            <a:off x="1600200" y="1874519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aubur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47748" y="1922068"/>
            <a:ext cx="380390" cy="38039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286000" y="1956816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Arial"/>
              </a:rPr>
              <a:t>Baylor vs Auburn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1865376"/>
            <a:ext cx="47548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550" b="1" i="0">
                <a:solidFill>
                  <a:srgbClr val="F47321"/>
                </a:solidFill>
                <a:latin typeface="Arial"/>
              </a:rPr>
              <a:t>Auburn 33 – Baylor 27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212848"/>
            <a:ext cx="47548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8FA5C4"/>
                </a:solidFill>
                <a:latin typeface="Arial"/>
              </a:rPr>
              <a:t>market –7.5 / –7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2514600"/>
            <a:ext cx="10515600" cy="658368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05840" y="2606040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clems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3388" y="2653588"/>
            <a:ext cx="380390" cy="380390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1600200" y="2606040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lsu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47748" y="2653588"/>
            <a:ext cx="380390" cy="38039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2286000" y="2688336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Arial"/>
              </a:rPr>
              <a:t>Clemson at LSU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2596896"/>
            <a:ext cx="47548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550" b="1" i="0">
                <a:solidFill>
                  <a:srgbClr val="F47321"/>
                </a:solidFill>
                <a:latin typeface="Arial"/>
              </a:rPr>
              <a:t>LSU 30 – Clemson 21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2944368"/>
            <a:ext cx="47548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8FA5C4"/>
                </a:solidFill>
                <a:latin typeface="Arial"/>
              </a:rPr>
              <a:t>market –10 / –10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2960" y="3246120"/>
            <a:ext cx="10515600" cy="658368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005840" y="3337560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louisvill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53388" y="3385108"/>
            <a:ext cx="380390" cy="380390"/>
          </a:xfrm>
          <a:prstGeom prst="rect">
            <a:avLst/>
          </a:prstGeom>
        </p:spPr>
      </p:pic>
      <p:sp>
        <p:nvSpPr>
          <p:cNvPr id="23" name="Oval 22"/>
          <p:cNvSpPr/>
          <p:nvPr/>
        </p:nvSpPr>
        <p:spPr>
          <a:xfrm>
            <a:off x="1600200" y="3337560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olemis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647748" y="3385108"/>
            <a:ext cx="380390" cy="38039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2286000" y="3419856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Arial"/>
              </a:rPr>
              <a:t>Louisville vs Ole Miss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3328415"/>
            <a:ext cx="47548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550" b="1" i="0">
                <a:solidFill>
                  <a:srgbClr val="F47321"/>
                </a:solidFill>
                <a:latin typeface="Arial"/>
              </a:rPr>
              <a:t>Ole Miss 31 – Louisville 25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3675887"/>
            <a:ext cx="47548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8FA5C4"/>
                </a:solidFill>
                <a:latin typeface="Arial"/>
              </a:rPr>
              <a:t>market –7 / –7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22960" y="3977639"/>
            <a:ext cx="10515600" cy="658368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05840" y="4069079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wisconsin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53388" y="4116628"/>
            <a:ext cx="380390" cy="380390"/>
          </a:xfrm>
          <a:prstGeom prst="rect">
            <a:avLst/>
          </a:prstGeom>
        </p:spPr>
      </p:pic>
      <p:sp>
        <p:nvSpPr>
          <p:cNvPr id="31" name="Oval 30"/>
          <p:cNvSpPr/>
          <p:nvPr/>
        </p:nvSpPr>
        <p:spPr>
          <a:xfrm>
            <a:off x="1600200" y="4069079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notredam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647748" y="4116628"/>
            <a:ext cx="380390" cy="380390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2286000" y="4151376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Arial"/>
              </a:rPr>
              <a:t>Wisconsin vs Notre Dame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0" y="4059935"/>
            <a:ext cx="47548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550" b="1" i="0">
                <a:solidFill>
                  <a:srgbClr val="F47321"/>
                </a:solidFill>
                <a:latin typeface="Arial"/>
              </a:rPr>
              <a:t>ND 34 – Wisconsin 13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0" y="4407407"/>
            <a:ext cx="47548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8FA5C4"/>
                </a:solidFill>
                <a:latin typeface="Arial"/>
              </a:rPr>
              <a:t>market –20.5 / –20.5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22960" y="4709159"/>
            <a:ext cx="10515600" cy="658368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1005840" y="4800599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smu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53388" y="4848148"/>
            <a:ext cx="380390" cy="380390"/>
          </a:xfrm>
          <a:prstGeom prst="rect">
            <a:avLst/>
          </a:prstGeom>
        </p:spPr>
      </p:pic>
      <p:sp>
        <p:nvSpPr>
          <p:cNvPr id="39" name="Oval 38"/>
          <p:cNvSpPr/>
          <p:nvPr/>
        </p:nvSpPr>
        <p:spPr>
          <a:xfrm>
            <a:off x="1600200" y="4800599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0" name="Picture 39" descr="fsu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647748" y="4848148"/>
            <a:ext cx="380390" cy="380390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2286000" y="4882896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Arial"/>
              </a:rPr>
              <a:t>SMU at Florida State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00800" y="4791455"/>
            <a:ext cx="47548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550" b="1" i="0">
                <a:solidFill>
                  <a:srgbClr val="F47321"/>
                </a:solidFill>
                <a:latin typeface="Arial"/>
              </a:rPr>
              <a:t>FSU 27 – SMU 26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00800" y="5138927"/>
            <a:ext cx="47548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8FA5C4"/>
                </a:solidFill>
                <a:latin typeface="Arial"/>
              </a:rPr>
              <a:t>market +3 / +3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22960" y="5513831"/>
            <a:ext cx="10515600" cy="932688"/>
          </a:xfrm>
          <a:prstGeom prst="roundRect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97280" y="5596127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★ SUPERDOG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291840" y="5596127"/>
            <a:ext cx="78638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Arial"/>
              </a:rPr>
              <a:t>Coastal Carolina +21 at West Virginia · ML +950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97280" y="5998464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★ GIANT KILLER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291840" y="5998464"/>
            <a:ext cx="78638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Arial"/>
              </a:rPr>
              <a:t>Washington State +23.5 at #17 Washington · ML +1300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22960" y="656539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1">
                <a:solidFill>
                  <a:srgbClr val="8FA5C4"/>
                </a:solidFill>
                <a:latin typeface="Arial"/>
              </a:rPr>
              <a:t>projected scores = machine margin on the market total · superdogs = dog to win outright, points = the spread · graded vs first-seen lines · research, not picks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