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2" r:id="rId13"/>
    <p:sldId id="263" r:id="rId14"/>
    <p:sldId id="261" r:id="rId12"/>
    <p:sldId id="265" r:id="rId16"/>
    <p:sldId id="266" r:id="rId17"/>
    <p:sldId id="264" r:id="rId15"/>
    <p:sldId id="268" r:id="rId19"/>
    <p:sldId id="269" r:id="rId20"/>
    <p:sldId id="267" r:id="rId18"/>
    <p:sldId id="271" r:id="rId22"/>
    <p:sldId id="272" r:id="rId23"/>
    <p:sldId id="270" r:id="rId21"/>
    <p:sldId id="274" r:id="rId25"/>
    <p:sldId id="275" r:id="rId26"/>
    <p:sldId id="273" r:id="rId24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Relationship Id="rId9" Type="http://schemas.openxmlformats.org/officeDocument/2006/relationships/image" Target="../media/image32.png"/><Relationship Id="rId10" Type="http://schemas.openxmlformats.org/officeDocument/2006/relationships/image" Target="../media/image33.png"/><Relationship Id="rId11" Type="http://schemas.openxmlformats.org/officeDocument/2006/relationships/image" Target="../media/image3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0.png"/><Relationship Id="rId5" Type="http://schemas.openxmlformats.org/officeDocument/2006/relationships/image" Target="../media/image37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3.png"/><Relationship Id="rId9" Type="http://schemas.openxmlformats.org/officeDocument/2006/relationships/image" Target="../media/image25.png"/><Relationship Id="rId10" Type="http://schemas.openxmlformats.org/officeDocument/2006/relationships/image" Target="../media/image23.png"/><Relationship Id="rId11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10.png"/><Relationship Id="rId9" Type="http://schemas.openxmlformats.org/officeDocument/2006/relationships/image" Target="../media/image17.png"/><Relationship Id="rId10" Type="http://schemas.openxmlformats.org/officeDocument/2006/relationships/image" Target="../media/image11.png"/><Relationship Id="rId11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0.png"/><Relationship Id="rId5" Type="http://schemas.openxmlformats.org/officeDocument/2006/relationships/image" Target="../media/image37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3.png"/><Relationship Id="rId9" Type="http://schemas.openxmlformats.org/officeDocument/2006/relationships/image" Target="../media/image25.png"/><Relationship Id="rId10" Type="http://schemas.openxmlformats.org/officeDocument/2006/relationships/image" Target="../media/image23.png"/><Relationship Id="rId1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6 · WEEK 5 · THE MACHINE'S TOP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Our Top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Machine rating · Δ this week · AP week 5 poll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6093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6280" y="16093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60934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16093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609344"/>
            <a:ext cx="685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1609344"/>
            <a:ext cx="5943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VOTERS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82880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860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65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georg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32" y="1892807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37360" y="1860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Georgia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860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29.0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8745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87451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1808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371600" y="218541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otred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2212848"/>
            <a:ext cx="201168" cy="201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737360" y="21808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Notre Dame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1808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19456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246888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hio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032" y="2532888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3736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Ohio State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28209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35" name="Oval 34"/>
          <p:cNvSpPr/>
          <p:nvPr/>
        </p:nvSpPr>
        <p:spPr>
          <a:xfrm>
            <a:off x="1371600" y="28254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tex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32" y="2852927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37360" y="28209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28209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27.0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28346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0" y="283463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1409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43" name="Oval 42"/>
          <p:cNvSpPr/>
          <p:nvPr/>
        </p:nvSpPr>
        <p:spPr>
          <a:xfrm>
            <a:off x="1371600" y="31455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ls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032" y="3172968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737360" y="31409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LSU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14096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26.1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315467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315467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34610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1371600" y="34655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alabam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9032" y="3493008"/>
            <a:ext cx="201168" cy="20116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37360" y="34610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Alabama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34610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26280" y="34747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12080" y="34747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" y="3749039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" y="37810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58" name="Oval 57"/>
          <p:cNvSpPr/>
          <p:nvPr/>
        </p:nvSpPr>
        <p:spPr>
          <a:xfrm>
            <a:off x="1371600" y="378561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miam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9032" y="3813048"/>
            <a:ext cx="201168" cy="2011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737360" y="37810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Miami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840480" y="37810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24.6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26280" y="37947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379475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41010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65" name="Oval 64"/>
          <p:cNvSpPr/>
          <p:nvPr/>
        </p:nvSpPr>
        <p:spPr>
          <a:xfrm>
            <a:off x="1371600" y="410565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ndian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9032" y="4133087"/>
            <a:ext cx="201168" cy="20116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737360" y="410108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Indiana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40480" y="410108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21.4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26280" y="41147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0" y="411479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2960" y="438912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" y="44211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73" name="Oval 72"/>
          <p:cNvSpPr/>
          <p:nvPr/>
        </p:nvSpPr>
        <p:spPr>
          <a:xfrm>
            <a:off x="1371600" y="44256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florid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99032" y="4453128"/>
            <a:ext cx="201168" cy="20116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737360" y="44211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Florida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40480" y="44211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20.4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26280" y="44348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+3.4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434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41248" y="47411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80" name="Oval 79"/>
          <p:cNvSpPr/>
          <p:nvPr/>
        </p:nvSpPr>
        <p:spPr>
          <a:xfrm>
            <a:off x="1371600" y="47457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oreg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9032" y="4773168"/>
            <a:ext cx="201168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737360" y="47411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Oregon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40480" y="474116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19.1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26280" y="4754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+2.8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12080" y="4754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248" y="50612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11</a:t>
            </a:r>
          </a:p>
        </p:txBody>
      </p:sp>
      <p:sp>
        <p:nvSpPr>
          <p:cNvPr id="88" name="Oval 87"/>
          <p:cNvSpPr/>
          <p:nvPr/>
        </p:nvSpPr>
        <p:spPr>
          <a:xfrm>
            <a:off x="1371600" y="50657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texasam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99032" y="5093208"/>
            <a:ext cx="201168" cy="2011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737360" y="50612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A&amp;M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40480" y="50612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26280" y="50749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80" y="50749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53812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12</a:t>
            </a:r>
          </a:p>
        </p:txBody>
      </p:sp>
      <p:sp>
        <p:nvSpPr>
          <p:cNvPr id="95" name="Oval 94"/>
          <p:cNvSpPr/>
          <p:nvPr/>
        </p:nvSpPr>
        <p:spPr>
          <a:xfrm>
            <a:off x="1371600" y="538581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utah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9032" y="5413248"/>
            <a:ext cx="201168" cy="2011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737360" y="53812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Utah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0" y="53812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17.3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26280" y="53949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12080" y="539495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22960" y="5669279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1248" y="57012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13</a:t>
            </a:r>
          </a:p>
        </p:txBody>
      </p:sp>
      <p:sp>
        <p:nvSpPr>
          <p:cNvPr id="103" name="Oval 102"/>
          <p:cNvSpPr/>
          <p:nvPr/>
        </p:nvSpPr>
        <p:spPr>
          <a:xfrm>
            <a:off x="1371600" y="570585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tennesse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99032" y="5733288"/>
            <a:ext cx="201168" cy="2011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737360" y="570128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Tennessee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840480" y="570128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280" y="57149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80" y="571499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355080" y="182880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73368" y="18608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14</a:t>
            </a:r>
          </a:p>
        </p:txBody>
      </p:sp>
      <p:sp>
        <p:nvSpPr>
          <p:cNvPr id="111" name="Oval 110"/>
          <p:cNvSpPr/>
          <p:nvPr/>
        </p:nvSpPr>
        <p:spPr>
          <a:xfrm>
            <a:off x="6903720" y="18653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oklahom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31152" y="1892807"/>
            <a:ext cx="201168" cy="20116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269480" y="18608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Oklahoma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72600" y="18608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058400" y="187451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744200" y="187451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73368" y="21808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15</a:t>
            </a:r>
          </a:p>
        </p:txBody>
      </p:sp>
      <p:sp>
        <p:nvSpPr>
          <p:cNvPr id="118" name="Oval 117"/>
          <p:cNvSpPr/>
          <p:nvPr/>
        </p:nvSpPr>
        <p:spPr>
          <a:xfrm>
            <a:off x="6903720" y="218541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olemis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1152" y="2212848"/>
            <a:ext cx="201168" cy="20116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7269480" y="21808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Ole Miss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372600" y="21808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16.0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0" y="219456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74420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355080" y="246888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373368" y="250088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16</a:t>
            </a:r>
          </a:p>
        </p:txBody>
      </p:sp>
      <p:sp>
        <p:nvSpPr>
          <p:cNvPr id="126" name="Oval 125"/>
          <p:cNvSpPr/>
          <p:nvPr/>
        </p:nvSpPr>
        <p:spPr>
          <a:xfrm>
            <a:off x="6903720" y="250545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texastec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1152" y="2532888"/>
            <a:ext cx="201168" cy="20116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7269480" y="250088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Texas Tech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372600" y="250088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15.9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058400" y="251460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744200" y="25146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373368" y="28209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17</a:t>
            </a:r>
          </a:p>
        </p:txBody>
      </p:sp>
      <p:sp>
        <p:nvSpPr>
          <p:cNvPr id="133" name="Oval 132"/>
          <p:cNvSpPr/>
          <p:nvPr/>
        </p:nvSpPr>
        <p:spPr>
          <a:xfrm>
            <a:off x="6903720" y="28254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usc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31152" y="2852927"/>
            <a:ext cx="201168" cy="20116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7269480" y="28209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USC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9372600" y="28209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14.3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058400" y="283463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744200" y="283463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18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355080" y="310896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373368" y="31409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18</a:t>
            </a:r>
          </a:p>
        </p:txBody>
      </p:sp>
      <p:sp>
        <p:nvSpPr>
          <p:cNvPr id="141" name="Oval 140"/>
          <p:cNvSpPr/>
          <p:nvPr/>
        </p:nvSpPr>
        <p:spPr>
          <a:xfrm>
            <a:off x="6903720" y="31455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2" name="Picture 141" descr="nebrask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31152" y="3172968"/>
            <a:ext cx="201168" cy="201168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269480" y="31409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Nebraska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372600" y="314096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058400" y="315467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+1.3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744200" y="315467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6373368" y="34610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19</a:t>
            </a:r>
          </a:p>
        </p:txBody>
      </p:sp>
      <p:sp>
        <p:nvSpPr>
          <p:cNvPr id="148" name="Oval 147"/>
          <p:cNvSpPr/>
          <p:nvPr/>
        </p:nvSpPr>
        <p:spPr>
          <a:xfrm>
            <a:off x="6903720" y="34655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9" name="Picture 148" descr="mississippistat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152" y="3493008"/>
            <a:ext cx="201168" cy="201168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7269480" y="34610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Mississippi State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372600" y="34610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14.1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058400" y="34747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-0.2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744200" y="34747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16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6355080" y="3749039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373368" y="37810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20</a:t>
            </a:r>
          </a:p>
        </p:txBody>
      </p:sp>
      <p:sp>
        <p:nvSpPr>
          <p:cNvPr id="156" name="Oval 155"/>
          <p:cNvSpPr/>
          <p:nvPr/>
        </p:nvSpPr>
        <p:spPr>
          <a:xfrm>
            <a:off x="6903720" y="378561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7" name="Picture 156" descr="pennstat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31152" y="3813048"/>
            <a:ext cx="201168" cy="201168"/>
          </a:xfrm>
          <a:prstGeom prst="rect">
            <a:avLst/>
          </a:prstGeom>
        </p:spPr>
      </p:pic>
      <p:sp>
        <p:nvSpPr>
          <p:cNvPr id="158" name="TextBox 157"/>
          <p:cNvSpPr txBox="1"/>
          <p:nvPr/>
        </p:nvSpPr>
        <p:spPr>
          <a:xfrm>
            <a:off x="7269480" y="37810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Penn State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372600" y="37810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058400" y="37947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-2.9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744200" y="379475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373368" y="4101083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21</a:t>
            </a:r>
          </a:p>
        </p:txBody>
      </p:sp>
      <p:sp>
        <p:nvSpPr>
          <p:cNvPr id="163" name="Oval 162"/>
          <p:cNvSpPr/>
          <p:nvPr/>
        </p:nvSpPr>
        <p:spPr>
          <a:xfrm>
            <a:off x="6903720" y="4105655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4" name="Picture 163" descr="byu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931152" y="4133087"/>
            <a:ext cx="201168" cy="201168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7269480" y="4101083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BYU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9372600" y="4101083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13.0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058400" y="411479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ADCFC"/>
                </a:solidFill>
                <a:latin typeface="Arial"/>
              </a:rPr>
              <a:t>0.0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744200" y="411479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355080" y="438912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73368" y="442112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22</a:t>
            </a:r>
          </a:p>
        </p:txBody>
      </p:sp>
      <p:sp>
        <p:nvSpPr>
          <p:cNvPr id="171" name="Oval 170"/>
          <p:cNvSpPr/>
          <p:nvPr/>
        </p:nvSpPr>
        <p:spPr>
          <a:xfrm>
            <a:off x="6903720" y="442569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2" name="Picture 171" descr="southcarolina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931152" y="4453128"/>
            <a:ext cx="201168" cy="201168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7269480" y="442112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South Carolina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372600" y="442112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12.5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0058400" y="44348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744200" y="4434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373368" y="474116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23</a:t>
            </a:r>
          </a:p>
        </p:txBody>
      </p:sp>
      <p:sp>
        <p:nvSpPr>
          <p:cNvPr id="178" name="Oval 177"/>
          <p:cNvSpPr/>
          <p:nvPr/>
        </p:nvSpPr>
        <p:spPr>
          <a:xfrm>
            <a:off x="6903720" y="474573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Picture 178" descr="auburn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31152" y="4773168"/>
            <a:ext cx="201168" cy="201168"/>
          </a:xfrm>
          <a:prstGeom prst="rect">
            <a:avLst/>
          </a:prstGeom>
        </p:spPr>
      </p:pic>
      <p:sp>
        <p:nvSpPr>
          <p:cNvPr id="180" name="TextBox 179"/>
          <p:cNvSpPr txBox="1"/>
          <p:nvPr/>
        </p:nvSpPr>
        <p:spPr>
          <a:xfrm>
            <a:off x="7269480" y="47411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Auburn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372600" y="474116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058400" y="475488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+0.3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0744200" y="4754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6355080" y="5029200"/>
            <a:ext cx="5029200" cy="32004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373368" y="506120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24</a:t>
            </a:r>
          </a:p>
        </p:txBody>
      </p:sp>
      <p:sp>
        <p:nvSpPr>
          <p:cNvPr id="186" name="Oval 185"/>
          <p:cNvSpPr/>
          <p:nvPr/>
        </p:nvSpPr>
        <p:spPr>
          <a:xfrm>
            <a:off x="6903720" y="506577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7" name="Picture 186" descr="michiga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931152" y="5093208"/>
            <a:ext cx="201168" cy="201168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269480" y="50612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Michigan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9372600" y="506120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12.0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058400" y="507492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-1.4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744200" y="50749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NR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373368" y="5381244"/>
            <a:ext cx="411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25</a:t>
            </a:r>
          </a:p>
        </p:txBody>
      </p:sp>
      <p:sp>
        <p:nvSpPr>
          <p:cNvPr id="193" name="Oval 192"/>
          <p:cNvSpPr/>
          <p:nvPr/>
        </p:nvSpPr>
        <p:spPr>
          <a:xfrm>
            <a:off x="6903720" y="5385816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4" name="Picture 193" descr="iowa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931152" y="5413248"/>
            <a:ext cx="201168" cy="201168"/>
          </a:xfrm>
          <a:prstGeom prst="rect">
            <a:avLst/>
          </a:prstGeom>
        </p:spPr>
      </p:pic>
      <p:sp>
        <p:nvSpPr>
          <p:cNvPr id="195" name="TextBox 194"/>
          <p:cNvSpPr txBox="1"/>
          <p:nvPr/>
        </p:nvSpPr>
        <p:spPr>
          <a:xfrm>
            <a:off x="7269480" y="53812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Arial"/>
              </a:rPr>
              <a:t>Iowa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9372600" y="5381244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FFFFFF"/>
                </a:solidFill>
                <a:latin typeface="Arial"/>
              </a:rPr>
              <a:t>10.9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058400" y="5394959"/>
            <a:ext cx="685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-0.2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744200" y="5394959"/>
            <a:ext cx="594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CADCFC"/>
                </a:solidFill>
                <a:latin typeface="Arial"/>
              </a:rPr>
              <a:t>AP 14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22960" y="6062472"/>
            <a:ext cx="10561320" cy="74980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005840" y="6089904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CD68A"/>
                </a:solidFill>
                <a:latin typeface="Arial"/>
              </a:rPr>
              <a:t>Biggest moves this week — up: Florida +3.4 #12→#9 · Notre Dame +3.2 #4→#2 · Oregon +2.8 #13→#10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05840" y="6263640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F7A7A"/>
                </a:solidFill>
                <a:latin typeface="Arial"/>
              </a:rPr>
              <a:t>Down: Ole Miss -2.9 #10→#15 · Penn State -2.9 #15→#20 · Texas A&amp;M -2.1 #9→#11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05840" y="6437376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  <a:latin typeface="Arial"/>
              </a:rPr>
              <a:t>Biggest splits: BYU #21 vs AP #10 · Iowa #25 vs AP #14 · LSU #5 vs AP #11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05840" y="6601968"/>
            <a:ext cx="10241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Arial"/>
              </a:rPr>
              <a:t>Ours, not theirs: Texas A&amp;M, Oklahoma, Nebraska, Penn State   ·   Theirs, not ours: Oklahoma State, Houston, SMU, Boise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6 · WEEK 5 · THE SEAT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Hot Seat Top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60% CBS rating + 40% machine odds of missing the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560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COACH · SCHOOL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673352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TENURE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CBS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P(GETS 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7335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MACHINE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6733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16733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673352"/>
            <a:ext cx="1920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LAST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190195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5681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19476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lorida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79676"/>
            <a:ext cx="210312" cy="2103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19568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Norvell · Florida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19842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38-34, yr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9659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8 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19659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19659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6.3 (4–8)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9842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-1.2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23960" y="195681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19842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34-7 vs Central Arkansas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2322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1234440" y="23134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aryl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345436"/>
            <a:ext cx="210312" cy="21031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00200" y="23225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Mike Locksley · Maryland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23500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37-49, yr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3317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331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3317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4.2 (2–6)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3500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-3.6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3225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91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23500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3-54 vs UCLA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263347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26883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41" name="Oval 40"/>
          <p:cNvSpPr/>
          <p:nvPr/>
        </p:nvSpPr>
        <p:spPr>
          <a:xfrm>
            <a:off x="1234440" y="2679191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ayl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2711196"/>
            <a:ext cx="210312" cy="2103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26883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Dave Aranda · Baylor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7157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36-37, yr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2697479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2697479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5CD68A"/>
                </a:solidFill>
                <a:latin typeface="Arial"/>
              </a:rPr>
              <a:t>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6640" y="2697479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6.9 (5–9)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2715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+0.4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26883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18320" y="27157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23-13 vs Colorado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3054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53" name="Oval 52"/>
          <p:cNvSpPr/>
          <p:nvPr/>
        </p:nvSpPr>
        <p:spPr>
          <a:xfrm>
            <a:off x="1234440" y="30449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outhcarol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076956"/>
            <a:ext cx="210312" cy="21031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600200" y="30540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Shane Beamer · South Carolina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06240" y="3081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33-30, yr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2356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4.3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72200" y="3063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7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208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45%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0" y="30632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6.3 (4–8)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0815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+0.8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23960" y="30540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18320" y="30815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18-49 at Alabama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2960" y="336499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34198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66" name="Oval 65"/>
          <p:cNvSpPr/>
          <p:nvPr/>
        </p:nvSpPr>
        <p:spPr>
          <a:xfrm>
            <a:off x="1234440" y="34107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ulmonro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3442716"/>
            <a:ext cx="210312" cy="21031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600200" y="34198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Bryant Vincent · UL Monroe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206240" y="3447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8-16, yr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2356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72200" y="34290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0840" y="34290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06640" y="34290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2.9 (1–4)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472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-5.1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23960" y="341985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34472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17-45 vs Florida Atlantic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378561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6</a:t>
            </a:r>
          </a:p>
        </p:txBody>
      </p:sp>
      <p:sp>
        <p:nvSpPr>
          <p:cNvPr id="78" name="Oval 77"/>
          <p:cNvSpPr/>
          <p:nvPr/>
        </p:nvSpPr>
        <p:spPr>
          <a:xfrm>
            <a:off x="1234440" y="37764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clems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6444" y="3808476"/>
            <a:ext cx="210312" cy="210312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1600200" y="378561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Dabo Swinney · Clemson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06240" y="38130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186-53, yr 18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2356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72200" y="37947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9 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720840" y="3794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17%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06640" y="37947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7.0 (5–9)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21040" y="38130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-4.3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23960" y="37856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70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418320" y="38130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24-10 at California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" y="409651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" y="4151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7</a:t>
            </a:r>
          </a:p>
        </p:txBody>
      </p:sp>
      <p:sp>
        <p:nvSpPr>
          <p:cNvPr id="91" name="Oval 90"/>
          <p:cNvSpPr/>
          <p:nvPr/>
        </p:nvSpPr>
        <p:spPr>
          <a:xfrm>
            <a:off x="1234440" y="414223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middletennesse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6444" y="4174236"/>
            <a:ext cx="210312" cy="21031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00200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Derek Mason · Middle Tennessee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206240" y="41788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3-9 in 2024, yr 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2356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72200" y="41605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4160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35%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406640" y="416052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4.9 (3–7)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21040" y="417880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CD68A"/>
                </a:solidFill>
                <a:latin typeface="Arial"/>
              </a:rPr>
              <a:t>+0.9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823960" y="415137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18320" y="41788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13-23 at Jacksonville State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2960" y="45171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8</a:t>
            </a:r>
          </a:p>
        </p:txBody>
      </p:sp>
      <p:sp>
        <p:nvSpPr>
          <p:cNvPr id="103" name="Oval 102"/>
          <p:cNvSpPr/>
          <p:nvPr/>
        </p:nvSpPr>
        <p:spPr>
          <a:xfrm>
            <a:off x="1234440" y="450799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bostoncolle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6444" y="4539996"/>
            <a:ext cx="210312" cy="21031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600200" y="45171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Bill O'Brien · Boston College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06240" y="45445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9-16, yr 3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2356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72200" y="4526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5 W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720840" y="4526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35%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06640" y="452628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3.9 (2–6)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21040" y="45445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-0.4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23960" y="45171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454456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L 14-21 vs Virginia Tech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22960" y="4828032"/>
            <a:ext cx="10515600" cy="365760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22960" y="48828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9</a:t>
            </a:r>
          </a:p>
        </p:txBody>
      </p:sp>
      <p:sp>
        <p:nvSpPr>
          <p:cNvPr id="116" name="Oval 115"/>
          <p:cNvSpPr/>
          <p:nvPr/>
        </p:nvSpPr>
        <p:spPr>
          <a:xfrm>
            <a:off x="1234440" y="487375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rutg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6444" y="4905756"/>
            <a:ext cx="210312" cy="21031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600200" y="488289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Greg Schiano · Rutgers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06240" y="49103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31-41 2nd stint, yr 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2356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3.0*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72200" y="48920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720840" y="4892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20%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06640" y="489204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4.2 (2–6)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91032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23960" y="48828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18320" y="4910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58-7 vs Howard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22960" y="5248655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10</a:t>
            </a:r>
          </a:p>
        </p:txBody>
      </p:sp>
      <p:sp>
        <p:nvSpPr>
          <p:cNvPr id="128" name="Oval 127"/>
          <p:cNvSpPr/>
          <p:nvPr/>
        </p:nvSpPr>
        <p:spPr>
          <a:xfrm>
            <a:off x="1234440" y="52395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9" name="Picture 128" descr="easternmichiga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66444" y="5271516"/>
            <a:ext cx="210312" cy="21031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1600200" y="5248655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Chris Creighton · Eastern Michigan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06240" y="52760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27-24 thru 2024, yr 13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2356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"/>
              </a:rPr>
              <a:t>2.8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172200" y="5257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6 W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720840" y="5257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FF7A7A"/>
                </a:solidFill>
                <a:latin typeface="Arial"/>
              </a:rPr>
              <a:t>15%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406640" y="525780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4.3 (3–6)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321040" y="52760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7A7A"/>
                </a:solidFill>
                <a:latin typeface="Arial"/>
              </a:rPr>
              <a:t>-2.4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23960" y="524865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68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418320" y="52760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 29-3 vs Lindenwood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822960" y="5669280"/>
            <a:ext cx="10515600" cy="56692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05840" y="572414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Next three: Deion Sanders 66 · Bill Belichick 63 · Brent Venables 62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05840" y="596188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ADCFC"/>
                </a:solidFill>
                <a:latin typeface="Arial"/>
              </a:rPr>
              <a:t>NEEDS = wins that keep the job · P(GETS IT) = the machine's odds · MACHINE WINS = projected (10th–90th)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840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6 · WEEK 5 · HEISMAN · BEST SO FAR, NOT A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9494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The Machine's Best-Player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ADCFC"/>
                </a:solidFill>
                <a:latin typeface="Arial"/>
              </a:rPr>
              <a:t>Any position · points added per game (PPA, shrunk toward 2025) × team factor · who is playing best, not who wins in December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673352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CADCFC"/>
                </a:solidFill>
                <a:latin typeface="Arial"/>
              </a:rPr>
              <a:t>PLAYER · POS ·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6733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2026 PPA (PLAYS)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67335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2025 PRIOR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PTS /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6733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TEAM P(10+)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1673352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ADCFC"/>
                </a:solidFill>
                <a:latin typeface="Arial"/>
              </a:rPr>
              <a:t>INDEX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1901952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9385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19293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1961388"/>
            <a:ext cx="210312" cy="2103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00200" y="218541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83-of-115, 1,206 yards, 10 TD, 1 INT through four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19385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Julian Sayin · QB · Ohio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9476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0.63 (131)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94767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947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19.1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9476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62%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938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15.5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5054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1234440" y="249631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ia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528316"/>
            <a:ext cx="210312" cy="2103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00200" y="2752344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94-of-106, 1,211 yards, 14 TD, 0 INT through four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25054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Darian Mensah · QB · Miami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5146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0.86 (112)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5146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0.37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5146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16.2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5146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77%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2505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14.4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3035808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07238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3</a:t>
            </a:r>
          </a:p>
        </p:txBody>
      </p:sp>
      <p:sp>
        <p:nvSpPr>
          <p:cNvPr id="34" name="Oval 33"/>
          <p:cNvSpPr/>
          <p:nvPr/>
        </p:nvSpPr>
        <p:spPr>
          <a:xfrm>
            <a:off x="1234440" y="306324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notred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444" y="3095244"/>
            <a:ext cx="210312" cy="2103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600200" y="3319272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67-of-95, 963 yards, 9 TD, 1 INT through four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307238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C.J. Carr · QB · Notre Dame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08152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0.59 (103)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308152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081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12.8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64040" y="308152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91%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072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12.3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3639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4</a:t>
            </a:r>
          </a:p>
        </p:txBody>
      </p:sp>
      <p:sp>
        <p:nvSpPr>
          <p:cNvPr id="44" name="Oval 43"/>
          <p:cNvSpPr/>
          <p:nvPr/>
        </p:nvSpPr>
        <p:spPr>
          <a:xfrm>
            <a:off x="12344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uta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662172"/>
            <a:ext cx="210312" cy="21031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600200" y="3886200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71-of-101, 896 yards, 9 TD, 1 INT · 136 rushing, 2 TD through four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00200" y="363931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Devon Dampier · QB · Utah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6484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0.43 (133)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6484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0.41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78240" y="3648456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14.1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4040" y="364845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58%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363931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11.1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" y="4169664"/>
            <a:ext cx="10515600" cy="566928"/>
          </a:xfrm>
          <a:prstGeom prst="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42062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F47321"/>
                </a:solidFill>
                <a:latin typeface="Arial"/>
              </a:rPr>
              <a:t>5</a:t>
            </a:r>
          </a:p>
        </p:txBody>
      </p:sp>
      <p:sp>
        <p:nvSpPr>
          <p:cNvPr id="55" name="Oval 54"/>
          <p:cNvSpPr/>
          <p:nvPr/>
        </p:nvSpPr>
        <p:spPr>
          <a:xfrm>
            <a:off x="1234440" y="419709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alab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6444" y="4229100"/>
            <a:ext cx="210312" cy="21031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600200" y="4453128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>78-of-110, 1,129 yards, 8 TD, 2 INT · 168 rushing, 3 TD through four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600200" y="42062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Keelon Russell · QB · Alabama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2153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0.58 (139)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42153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CADCFC"/>
                </a:solidFill>
                <a:latin typeface="Arial"/>
              </a:rPr>
              <a:t>new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4215384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15.9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64040" y="421538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FFFFFF"/>
                </a:solidFill>
                <a:latin typeface="Arial"/>
              </a:rPr>
              <a:t>40%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32720" y="4206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F47321"/>
                </a:solidFill>
                <a:latin typeface="Arial"/>
              </a:rPr>
              <a:t>11.1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477316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Arial"/>
              </a:rPr>
              <a:t>Next up: Sam Leavitt 11.0 · Jayden Maiava 10.0 · Jeremiah Smith 9.5 · Josh Hoover 9.3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22960" y="5102352"/>
            <a:ext cx="10515600" cy="65836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19379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A2851"/>
                </a:solidFill>
                <a:latin typeface="Arial"/>
              </a:rPr>
              <a:t>★ BEST SO FAR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0" y="5175504"/>
            <a:ext cx="7498079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"/>
              </a:rPr>
              <a:t>Julian Sayin, QB, Ohio State · index 15.5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960" y="587959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Arial"/>
              </a:rPr>
              <a:t>QB efficiency board (per play): Darian Mensah 51.4 · C.J. Carr 47.6 · Julian Sayin 47.3 · Josh Hoover 41.3 · Devon Dampier 33.4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  <a:latin typeface="Arial"/>
              </a:rPr>
              <a:t>PPA = predicted points added (CFBD) · points a game = shrunk per-play PPA × plays ÷ games · team factor = 0.5 + half the team's odds of 10 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6 · WEEK 5 · OCT 2–3,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Arial"/>
              </a:rPr>
              <a:t>Five Games, One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ttsbur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340864"/>
            <a:ext cx="438912" cy="43891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91640" y="228600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rginia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504" y="2340864"/>
            <a:ext cx="438912" cy="4389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68880" y="2286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Pitt at Virginia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1518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Blacksburg · Lane Stadium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6771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47321"/>
                </a:solidFill>
                <a:latin typeface="Arial"/>
              </a:rPr>
              <a:t>7:00 PM 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1518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Arial"/>
              </a:rPr>
              <a:t>Fri Oct 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999232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n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145536"/>
            <a:ext cx="438912" cy="438912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91640" y="3090672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orthweste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504" y="3145536"/>
            <a:ext cx="438912" cy="4389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3090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Penn State at Northwestern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1985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Evanston · the new Ryan Field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072384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47321"/>
                </a:solidFill>
                <a:latin typeface="Arial"/>
              </a:rPr>
              <a:t>8:00 PM 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4198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Arial"/>
              </a:rPr>
              <a:t>Fri Oct 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803904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lab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704" y="3950207"/>
            <a:ext cx="438912" cy="438912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91640" y="3895344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ississippist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6504" y="3950207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468880" y="3895344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Alabama at Mississippi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22452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Starkville · Davis Wade Stadium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877056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47321"/>
                </a:solidFill>
                <a:latin typeface="Arial"/>
              </a:rPr>
              <a:t>12:00 PM 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22452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Arial"/>
              </a:rPr>
              <a:t>Sat Oct 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608576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hiost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0704" y="4754879"/>
            <a:ext cx="438912" cy="438912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91640" y="4700016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o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46504" y="4754879"/>
            <a:ext cx="438912" cy="4389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468880" y="4700016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Ohio State at 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0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Iowa City · Kinnick Stadium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681728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47321"/>
                </a:solidFill>
                <a:latin typeface="Arial"/>
              </a:rPr>
              <a:t>3:30 PM 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5029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Arial"/>
              </a:rPr>
              <a:t>Sat Oct 03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413248"/>
            <a:ext cx="10515600" cy="731520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ubur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704" y="5559551"/>
            <a:ext cx="438912" cy="438912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91640" y="5504688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ennesse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504" y="5559551"/>
            <a:ext cx="438912" cy="43891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468880" y="55046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Auburn at Tennessee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8880" y="58338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ADCFC"/>
                </a:solidFill>
                <a:latin typeface="Arial"/>
              </a:rPr>
              <a:t>Knoxville · Neyland Stadium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548640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700" b="1" i="0">
                <a:solidFill>
                  <a:srgbClr val="F47321"/>
                </a:solidFill>
                <a:latin typeface="Arial"/>
              </a:rPr>
              <a:t>3:30 PM 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83387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CADCFC"/>
                </a:solidFill>
                <a:latin typeface="Arial"/>
              </a:rPr>
              <a:t>Sat Oct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CADCF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A2851"/>
                </a:solidFill>
                <a:latin typeface="Arial"/>
              </a:rPr>
              <a:t>Week 4 — the receipts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8755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5C6B7E"/>
                </a:solidFill>
                <a:latin typeface="Arial"/>
              </a:rPr>
              <a:t>Calls frozen at recording · off by = miss vs the final margin · deserved = the efficiency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x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536192"/>
            <a:ext cx="548640" cy="548640"/>
          </a:xfrm>
          <a:prstGeom prst="rect">
            <a:avLst/>
          </a:prstGeom>
        </p:spPr>
      </p:pic>
      <p:pic>
        <p:nvPicPr>
          <p:cNvPr id="6" name="Picture 5" descr="tennes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536192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0" y="1499616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Texas at Tennessee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83794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TEX 32–23 · Man TEX 31–24 · FINAL TEX 20–17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5179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Texas –9 · deserved TEX +4.4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81965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D"/>
                </a:solidFill>
                <a:latin typeface="Arial"/>
              </a:rPr>
              <a:t>off by · machine 6 · man 4 — man closer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276856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le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395728"/>
            <a:ext cx="548640" cy="548640"/>
          </a:xfrm>
          <a:prstGeom prst="rect">
            <a:avLst/>
          </a:prstGeom>
        </p:spPr>
      </p:pic>
      <p:pic>
        <p:nvPicPr>
          <p:cNvPr id="13" name="Picture 12" descr="flori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395728"/>
            <a:ext cx="548640" cy="548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77440" y="2359152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Ole Miss at Florida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2697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FLA 31–28 · Man FLA 35–34 · FINAL FLA 52–28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3774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Florida –3 · deserved FLA +19.6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67919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off by · machine 21 · man 23 — machine closer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136392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oklaho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55264"/>
            <a:ext cx="548640" cy="548640"/>
          </a:xfrm>
          <a:prstGeom prst="rect">
            <a:avLst/>
          </a:prstGeom>
        </p:spPr>
      </p:pic>
      <p:pic>
        <p:nvPicPr>
          <p:cNvPr id="20" name="Picture 19" descr="georgi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0" y="3255264"/>
            <a:ext cx="548640" cy="548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377440" y="3218688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Oklahoma at Georgia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355701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UGA 29–15 · Man UGA 34–20 · FINAL UGA 41–13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36976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Georgia –14 · deserved UGA +19.4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53872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C6B7E"/>
                </a:solidFill>
                <a:latin typeface="Arial"/>
              </a:rPr>
              <a:t>off by · machine 14 · man 14 — dead tie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95928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oreg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114800"/>
            <a:ext cx="548640" cy="548640"/>
          </a:xfrm>
          <a:prstGeom prst="rect">
            <a:avLst/>
          </a:prstGeom>
        </p:spPr>
      </p:pic>
      <p:pic>
        <p:nvPicPr>
          <p:cNvPr id="27" name="Picture 26" descr="us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5920" y="4114800"/>
            <a:ext cx="548640" cy="5486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377440" y="4078224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Oregon at USC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4165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ORE 32–31 · Man ORE 35–34 · FINAL ORE 41–27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096512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Oregon –0.5 · deserved ORE +8.4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398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4D"/>
                </a:solidFill>
                <a:latin typeface="Arial"/>
              </a:rPr>
              <a:t>off by · machine 13.5 · man 13 — man closer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" y="4855464"/>
            <a:ext cx="10515600" cy="786384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texasa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4974336"/>
            <a:ext cx="548640" cy="548640"/>
          </a:xfrm>
          <a:prstGeom prst="rect">
            <a:avLst/>
          </a:prstGeom>
        </p:spPr>
      </p:pic>
      <p:pic>
        <p:nvPicPr>
          <p:cNvPr id="34" name="Picture 33" descr="lsu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5920" y="4974336"/>
            <a:ext cx="548640" cy="548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377440" y="4937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6273D"/>
                </a:solidFill>
                <a:latin typeface="Arial"/>
              </a:rPr>
              <a:t>Texas A&amp;M at LSU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744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6273D"/>
                </a:solidFill>
                <a:latin typeface="Arial"/>
              </a:rPr>
              <a:t>Machine LSU 29–23 · Man LSU 31–27 · FINAL LSU 35–6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956048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7E"/>
                </a:solidFill>
                <a:latin typeface="Arial"/>
              </a:rPr>
              <a:t>our line LSU –5.5 · deserved LSU +33.9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525780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7321"/>
                </a:solidFill>
                <a:latin typeface="Arial"/>
              </a:rPr>
              <a:t>off by · machine 23.5 · man 25 — machine closer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60720"/>
            <a:ext cx="10515600" cy="77724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1560" y="5833872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Margin miss: man 79.0 · machine 78.0 — closer: man 2, machine 2, 1 tie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61722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Arial"/>
              </a:rPr>
              <a:t>Points off the final score: man 93 · machine 89   |   Machine's season: 289.5 off across 25 games · vs the deserved margins this week: 62.9   |   Pre-mortems: 5 graded · 1 fired · 0 picks lost · named the reason 0 of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tsbur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virginia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Pitt at Virginia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Fri Oct 2 · 7:00 ET · Blacksburg · Pitt 4–0 at Virginia Tech 3–1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Pitt has not left 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51% — a coin flip, and Pitt has not played a road game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11480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Pittsburgh –0.5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Virginia Tech +105 · Pittsburgh –105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Pittsburgh +0.7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18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Virginia Tech –3.5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market's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7321"/>
                </a:solidFill>
                <a:latin typeface="Arial"/>
              </a:rPr>
              <a:t>Pittsburgh 28 – Virginia Tech 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017520" cy="365760"/>
          </a:xfrm>
          <a:prstGeom prst="roundRect">
            <a:avLst/>
          </a:prstGeom>
          <a:solidFill>
            <a:srgbClr val="003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1478584" cy="365760"/>
          </a:xfrm>
          <a:prstGeom prst="roundRect">
            <a:avLst/>
          </a:prstGeom>
          <a:solidFill>
            <a:srgbClr val="6300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VT 49%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51% PITT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2978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ittsbur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Pittsburgh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Pitt at Virginia 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Narduzzi, year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Heintschel,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both lines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Heintschel against the rush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to keep the rush honest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Stop the run again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Pitt at Virginia 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rgini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Virginia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Pitt at Virginia 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James Franklin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Grunkemeyer (PSU)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69%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Grunkemeyer past the sticks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Overton against a wall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Third down is the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Pitt at Virginia 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nn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northwest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Penn State at Northwestern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Fri Oct 2 · 8:00 ET · Evanston · Penn State at Northwestern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Penn State off the Wisconsin loss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54% — a coin flip with a lean, on the road on a short week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11480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Penn State 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Northwestern +118 · Penn State –118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Penn State +1.9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18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Penn State –2.5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market's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7321"/>
                </a:solidFill>
                <a:latin typeface="Arial"/>
              </a:rPr>
              <a:t>Penn State 24 – Northwestern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017520" cy="365760"/>
          </a:xfrm>
          <a:prstGeom prst="round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1388059" cy="365760"/>
          </a:xfrm>
          <a:prstGeom prst="roundRect">
            <a:avLst/>
          </a:prstGeom>
          <a:solidFill>
            <a:srgbClr val="4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NW 46%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54% PSU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2978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enn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Penn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Penn State at Northwestern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Matt Campbell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Rocco Becht (ISU)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7 of 35 rotation players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Becht after the worst game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Get off the field on third 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Penn State at Northwestern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rthwes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Northwestern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Penn State at Northwestern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Braun, year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Aidan Chiles (MSU)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6 of 15 defensive regulars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Chiles keeps the zero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Find a run game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Win third-and-long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Penn State at Northwestern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ab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mississippi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Alabama at Mississippi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Oct 3 · 12:00 ET · Starkville · No. 7 at No.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Two explosive passing games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70% — the machine likes Alabama more than the room does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11480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Alabama –8.5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Mississippi State +229 · Alabama –229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Alabama +8.3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18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Alabama 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market's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7321"/>
                </a:solidFill>
                <a:latin typeface="Arial"/>
              </a:rPr>
              <a:t>Alabama 34 – Mississippi State 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017520" cy="365760"/>
          </a:xfrm>
          <a:prstGeom prst="roundRect">
            <a:avLst/>
          </a:prstGeom>
          <a:solidFill>
            <a:srgbClr val="9E1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905256" cy="365760"/>
          </a:xfrm>
          <a:prstGeom prst="roundRect">
            <a:avLst/>
          </a:prstGeom>
          <a:solidFill>
            <a:srgbClr val="5D1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MSST 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70% BAMA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2978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laba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Alabama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Alabama at Mississippi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DeBoer, year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Keelon Russell, RS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48%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Russell over the top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enough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Take the ball 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Alabama at Mississippi State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ssissippi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Mississippi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Alabama at Mississippi State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Lebby, year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Kamario Taylor,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eight transfers on the line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Taylor's deep ball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Bothwell and the run game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Stay out of third-and-long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Alabama at Mississippi State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iow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Ohio State at Iowa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Oct 3 · 3:30 ET · Iowa City · No. 5 at No.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Best passing game vs a run-stuffing defense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81% — dead agreement with the market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11480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Ohio State –14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Iowa +424 · Ohio State –424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Ohio State +14.1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18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Ohio State 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market's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Ohio State 30 – Iowa 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017520" cy="365760"/>
          </a:xfrm>
          <a:prstGeom prst="roundRect">
            <a:avLst/>
          </a:prstGeom>
          <a:solidFill>
            <a:srgbClr val="B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573328" cy="365760"/>
          </a:xfrm>
          <a:prstGeom prst="round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IOWA 19%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81% OSU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2978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hio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Ohio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Ohio State at Iowa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Day, year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Sayin, year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three OL starters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Sayin to Smith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at all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Third down and the red zone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Ohio State at Iowa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o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Iowa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Ohio State at Iowa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Ferentz, year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Hank Brown won the derby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last in the Big Ten in returning production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the ball, run the clock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Brown has to hit something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Field 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Ohio State at Iowa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b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84048"/>
            <a:ext cx="73152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4208" y="47548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5C6B7E"/>
                </a:solidFill>
                <a:latin typeface="Arial"/>
              </a:rPr>
              <a:t>at</a:t>
            </a:r>
          </a:p>
        </p:txBody>
      </p:sp>
      <p:pic>
        <p:nvPicPr>
          <p:cNvPr id="4" name="Picture 3" descr="tenness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384048"/>
            <a:ext cx="731520" cy="731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54680" y="347472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A2851"/>
                </a:solidFill>
                <a:latin typeface="Arial"/>
              </a:rPr>
              <a:t>Auburn at Tennessee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859536"/>
            <a:ext cx="8138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C6B7E"/>
                </a:solidFill>
                <a:latin typeface="Arial"/>
              </a:rPr>
              <a:t>Sat Oct 3 · 3:30 ET · Knoxville · Auburn at No.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2851"/>
                </a:solidFill>
                <a:latin typeface="Arial"/>
              </a:rPr>
              <a:t>WHY IT MATTERS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31136"/>
            <a:ext cx="128016" cy="128016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57400"/>
            <a:ext cx="6217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Tennessee out-played Texas and lost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658368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983480"/>
            <a:ext cx="6126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A2851"/>
                </a:solidFill>
                <a:latin typeface="Arial"/>
              </a:rPr>
              <a:t>67% — the machine and the market agree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600200"/>
            <a:ext cx="3566160" cy="4114800"/>
          </a:xfrm>
          <a:prstGeom prst="roundRect">
            <a:avLst/>
          </a:prstGeom>
          <a:solidFill>
            <a:srgbClr val="0A28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81051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47321"/>
                </a:solidFill>
                <a:latin typeface="Arial"/>
              </a:rPr>
              <a:t>THE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103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Tennessee –7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5968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Tennessee –205 · Auburn +205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52928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machine line · fair odds, no vig · raw margin Tennessee +6.8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186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Tennessee –7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the market's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862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7321"/>
                </a:solidFill>
                <a:latin typeface="Arial"/>
              </a:rPr>
              <a:t>Tennessee 31 – Auburn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270248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score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709160"/>
            <a:ext cx="3017520" cy="365760"/>
          </a:xfrm>
          <a:prstGeom prst="roundRect">
            <a:avLst/>
          </a:prstGeom>
          <a:solidFill>
            <a:srgbClr val="0C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4709160"/>
            <a:ext cx="2021738" cy="365760"/>
          </a:xfrm>
          <a:prstGeom prst="roundRect">
            <a:avLst/>
          </a:prstGeom>
          <a:solidFill>
            <a:srgbClr val="FF8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2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6273D"/>
                </a:solidFill>
                <a:latin typeface="Arial"/>
              </a:rPr>
              <a:t>TENN 67%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79145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FFFF"/>
                </a:solidFill>
                <a:latin typeface="Arial"/>
              </a:rPr>
              <a:t>33% AUB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29784"/>
            <a:ext cx="30175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Arial"/>
              </a:rPr>
              <a:t>win probability (machine)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ub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Auburn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Auburn at Tennessee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Alex Golesh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NEW — Byrum Brown (USF)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nine transfers on the line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Keep Brown upright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Get Brandon on the ground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Auburn at Tennessee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nness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051560" cy="1051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48840" y="603504"/>
            <a:ext cx="9052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A2851"/>
                </a:solidFill>
                <a:latin typeface="Arial"/>
              </a:rPr>
              <a:t>Tennessee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48840" y="1225296"/>
            <a:ext cx="9052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B7E"/>
                </a:solidFill>
                <a:latin typeface="Arial"/>
              </a:rPr>
              <a:t>What it takes to win · Auburn at Tennessee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960120"/>
          </a:xfrm>
          <a:prstGeom prst="round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COACH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Heupel, year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QB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Faizon Brandon, true freshman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01952"/>
            <a:ext cx="3246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7321"/>
                </a:solidFill>
                <a:latin typeface="Arial"/>
              </a:rPr>
              <a:t>ROSTER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39696"/>
            <a:ext cx="3246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6273D"/>
                </a:solidFill>
                <a:latin typeface="Arial"/>
              </a:rPr>
              <a:t>35% back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20040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Run it — the offense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389120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20624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Brandon's second real test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394959"/>
            <a:ext cx="137160" cy="137160"/>
          </a:xfrm>
          <a:prstGeom prst="ellipse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212079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16273D"/>
                </a:solidFill>
                <a:latin typeface="Arial"/>
              </a:rPr>
              <a:t>Protect him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51967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B7E"/>
                </a:solidFill>
                <a:latin typeface="Arial"/>
              </a:rPr>
              <a:t>EP 6 · WEEK 5 · Auburn at Tennessee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8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7321"/>
                </a:solidFill>
                <a:latin typeface="Arial"/>
              </a:rPr>
              <a:t>EPISODE 6 · THE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Our predictions — machine and man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ttsbur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88" y="1922068"/>
            <a:ext cx="380390" cy="38039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1600200" y="187451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rginia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7748" y="1922068"/>
            <a:ext cx="380390" cy="3803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0" y="193852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Pitt at Virginia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56231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47321"/>
                </a:solidFill>
                <a:latin typeface="Arial"/>
              </a:rPr>
              <a:t>Machine Pittsburgh 28 – Virginia Tech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856231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5CD68A"/>
                </a:solidFill>
                <a:latin typeface="Arial"/>
              </a:rPr>
              <a:t>Man Pittsburgh 28–27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212848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Pittsburgh –0.5  ·  market Virginia Tech –3.5  ·  machine 4 higher on Pittsburgh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1460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nst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388" y="2653588"/>
            <a:ext cx="380390" cy="38039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600200" y="260604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northweste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7748" y="2653588"/>
            <a:ext cx="380390" cy="380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86000" y="26700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Penn State at Northwestern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47321"/>
                </a:solidFill>
                <a:latin typeface="Arial"/>
              </a:rPr>
              <a:t>Machine Penn State 24 – Northwestern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58775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5CD68A"/>
                </a:solidFill>
                <a:latin typeface="Arial"/>
              </a:rPr>
              <a:t>Man Penn State 27–24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944368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Penn State –2  ·  market Penn State –2.5  ·  machine agrees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46120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584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labam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88" y="3385108"/>
            <a:ext cx="380390" cy="38039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1600200" y="3337560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ississippist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748" y="3385108"/>
            <a:ext cx="380390" cy="3803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86000" y="340156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Alabama at Mississippi State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31927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47321"/>
                </a:solidFill>
                <a:latin typeface="Arial"/>
              </a:rPr>
              <a:t>Machine Alabama 34 – Mississippi State 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331927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5CD68A"/>
                </a:solidFill>
                <a:latin typeface="Arial"/>
              </a:rPr>
              <a:t>Man Alabama 38–28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75887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Alabama –8.5  ·  market Alabama –6  ·  machine 2.5 higher on Alabama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397763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584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ohiosta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88" y="4116628"/>
            <a:ext cx="380390" cy="380390"/>
          </a:xfrm>
          <a:prstGeom prst="rect">
            <a:avLst/>
          </a:prstGeom>
        </p:spPr>
      </p:pic>
      <p:sp>
        <p:nvSpPr>
          <p:cNvPr id="34" name="Oval 33"/>
          <p:cNvSpPr/>
          <p:nvPr/>
        </p:nvSpPr>
        <p:spPr>
          <a:xfrm>
            <a:off x="1600200" y="406907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ow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7748" y="4116628"/>
            <a:ext cx="380390" cy="3803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286000" y="413308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Ohio State at Iowa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050791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47321"/>
                </a:solidFill>
                <a:latin typeface="Arial"/>
              </a:rPr>
              <a:t>Machine Ohio State 30 – Iowa 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4050791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5CD68A"/>
                </a:solidFill>
                <a:latin typeface="Arial"/>
              </a:rPr>
              <a:t>Man Ohio State 31–20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4407407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Ohio State –14  ·  market Ohio State –14  ·  machine agrees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4709159"/>
            <a:ext cx="10515600" cy="658368"/>
          </a:xfrm>
          <a:prstGeom prst="roundRect">
            <a:avLst/>
          </a:prstGeom>
          <a:solidFill>
            <a:srgbClr val="123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0584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aubur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3388" y="4848148"/>
            <a:ext cx="380390" cy="380390"/>
          </a:xfrm>
          <a:prstGeom prst="rect">
            <a:avLst/>
          </a:prstGeom>
        </p:spPr>
      </p:pic>
      <p:sp>
        <p:nvSpPr>
          <p:cNvPr id="43" name="Oval 42"/>
          <p:cNvSpPr/>
          <p:nvPr/>
        </p:nvSpPr>
        <p:spPr>
          <a:xfrm>
            <a:off x="1600200" y="4800599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ennesse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47748" y="4848148"/>
            <a:ext cx="380390" cy="3803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286000" y="4864607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Auburn at Tennessee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478231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47321"/>
                </a:solidFill>
                <a:latin typeface="Arial"/>
              </a:rPr>
              <a:t>Machine Tennessee 31 – Auburn 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78231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5CD68A"/>
                </a:solidFill>
                <a:latin typeface="Arial"/>
              </a:rPr>
              <a:t>Man Tennessee 31–21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138927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CADCFC"/>
                </a:solidFill>
                <a:latin typeface="Arial"/>
              </a:rPr>
              <a:t>machine Tennessee –7  ·  market Tennessee –7  ·  machine agrees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2960" y="5513831"/>
            <a:ext cx="10515600" cy="932688"/>
          </a:xfrm>
          <a:prstGeom prst="roundRect">
            <a:avLst/>
          </a:prstGeom>
          <a:solidFill>
            <a:srgbClr val="F47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57784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SUPERDOG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577840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Charlotte +20.5 vs Memphis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" y="59801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A2851"/>
                </a:solidFill>
                <a:latin typeface="Arial"/>
              </a:rPr>
              <a:t>★ GIANT KILLER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980176"/>
            <a:ext cx="786384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"/>
              </a:rPr>
              <a:t>Boston College +21 at #21 SMU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65379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ADCFC"/>
                </a:solidFill>
                <a:latin typeface="Arial"/>
              </a:rPr>
              <a:t>Superdogs: 5 for a cover · 5 + the spread for a win · 1 for a push · research, not picks · market = DraftKings, Sep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