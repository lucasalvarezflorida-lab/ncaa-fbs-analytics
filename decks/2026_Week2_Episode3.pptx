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.png"/><Relationship Id="rId4" Type="http://schemas.openxmlformats.org/officeDocument/2006/relationships/image" Target="../media/image3.png"/><Relationship Id="rId5" Type="http://schemas.openxmlformats.org/officeDocument/2006/relationships/image" Target="../media/image4.png"/><Relationship Id="rId6" Type="http://schemas.openxmlformats.org/officeDocument/2006/relationships/image" Target="../media/image5.png"/><Relationship Id="rId7" Type="http://schemas.openxmlformats.org/officeDocument/2006/relationships/image" Target="../media/image6.png"/><Relationship Id="rId8" Type="http://schemas.openxmlformats.org/officeDocument/2006/relationships/image" Target="../media/image7.png"/><Relationship Id="rId9" Type="http://schemas.openxmlformats.org/officeDocument/2006/relationships/image" Target="../media/image8.png"/><Relationship Id="rId10" Type="http://schemas.openxmlformats.org/officeDocument/2006/relationships/image" Target="../media/image9.png"/><Relationship Id="rId11" Type="http://schemas.openxmlformats.org/officeDocument/2006/relationships/image" Target="../media/image10.png"/><Relationship Id="rId12" Type="http://schemas.openxmlformats.org/officeDocument/2006/relationships/image" Target="../media/image11.png"/><Relationship Id="rId13" Type="http://schemas.openxmlformats.org/officeDocument/2006/relationships/image" Target="../media/image12.png"/><Relationship Id="rId14" Type="http://schemas.openxmlformats.org/officeDocument/2006/relationships/image" Target="../media/image13.png"/><Relationship Id="rId15" Type="http://schemas.openxmlformats.org/officeDocument/2006/relationships/image" Target="../media/image14.png"/><Relationship Id="rId16" Type="http://schemas.openxmlformats.org/officeDocument/2006/relationships/image" Target="../media/image15.png"/><Relationship Id="rId17" Type="http://schemas.openxmlformats.org/officeDocument/2006/relationships/image" Target="../media/image16.png"/><Relationship Id="rId18" Type="http://schemas.openxmlformats.org/officeDocument/2006/relationships/image" Target="../media/image17.png"/><Relationship Id="rId19" Type="http://schemas.openxmlformats.org/officeDocument/2006/relationships/image" Target="../media/image18.png"/><Relationship Id="rId20" Type="http://schemas.openxmlformats.org/officeDocument/2006/relationships/image" Target="../media/image19.png"/><Relationship Id="rId21" Type="http://schemas.openxmlformats.org/officeDocument/2006/relationships/image" Target="../media/image20.png"/><Relationship Id="rId22" Type="http://schemas.openxmlformats.org/officeDocument/2006/relationships/image" Target="../media/image21.png"/><Relationship Id="rId23" Type="http://schemas.openxmlformats.org/officeDocument/2006/relationships/image" Target="../media/image22.png"/><Relationship Id="rId24" Type="http://schemas.openxmlformats.org/officeDocument/2006/relationships/image" Target="../media/image23.png"/><Relationship Id="rId25" Type="http://schemas.openxmlformats.org/officeDocument/2006/relationships/image" Target="../media/image24.png"/><Relationship Id="rId26" Type="http://schemas.openxmlformats.org/officeDocument/2006/relationships/image" Target="../media/image25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6.png"/><Relationship Id="rId3" Type="http://schemas.openxmlformats.org/officeDocument/2006/relationships/image" Target="../media/image27.png"/><Relationship Id="rId4" Type="http://schemas.openxmlformats.org/officeDocument/2006/relationships/image" Target="../media/image28.png"/><Relationship Id="rId5" Type="http://schemas.openxmlformats.org/officeDocument/2006/relationships/image" Target="../media/image29.png"/><Relationship Id="rId6" Type="http://schemas.openxmlformats.org/officeDocument/2006/relationships/image" Target="../media/image30.png"/><Relationship Id="rId7" Type="http://schemas.openxmlformats.org/officeDocument/2006/relationships/image" Target="../media/image24.png"/><Relationship Id="rId8" Type="http://schemas.openxmlformats.org/officeDocument/2006/relationships/image" Target="../media/image31.png"/><Relationship Id="rId9" Type="http://schemas.openxmlformats.org/officeDocument/2006/relationships/image" Target="../media/image32.png"/><Relationship Id="rId10" Type="http://schemas.openxmlformats.org/officeDocument/2006/relationships/image" Target="../media/image33.png"/><Relationship Id="rId11" Type="http://schemas.openxmlformats.org/officeDocument/2006/relationships/image" Target="../media/image34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Relationship Id="rId3" Type="http://schemas.openxmlformats.org/officeDocument/2006/relationships/image" Target="../media/image6.png"/><Relationship Id="rId4" Type="http://schemas.openxmlformats.org/officeDocument/2006/relationships/image" Target="../media/image1.png"/><Relationship Id="rId5" Type="http://schemas.openxmlformats.org/officeDocument/2006/relationships/image" Target="../media/image7.png"/><Relationship Id="rId6" Type="http://schemas.openxmlformats.org/officeDocument/2006/relationships/image" Target="../media/image10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2.png"/><Relationship Id="rId3" Type="http://schemas.openxmlformats.org/officeDocument/2006/relationships/image" Target="../media/image21.png"/><Relationship Id="rId4" Type="http://schemas.openxmlformats.org/officeDocument/2006/relationships/image" Target="../media/image35.png"/><Relationship Id="rId5" Type="http://schemas.openxmlformats.org/officeDocument/2006/relationships/image" Target="../media/image11.png"/><Relationship Id="rId6" Type="http://schemas.openxmlformats.org/officeDocument/2006/relationships/image" Target="../media/image36.png"/><Relationship Id="rId7" Type="http://schemas.openxmlformats.org/officeDocument/2006/relationships/image" Target="../media/image18.png"/><Relationship Id="rId8" Type="http://schemas.openxmlformats.org/officeDocument/2006/relationships/image" Target="../media/image9.png"/><Relationship Id="rId9" Type="http://schemas.openxmlformats.org/officeDocument/2006/relationships/image" Target="../media/image37.png"/><Relationship Id="rId10" Type="http://schemas.openxmlformats.org/officeDocument/2006/relationships/image" Target="../media/image4.png"/><Relationship Id="rId11" Type="http://schemas.openxmlformats.org/officeDocument/2006/relationships/image" Target="../media/image2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8.png"/><Relationship Id="rId3" Type="http://schemas.openxmlformats.org/officeDocument/2006/relationships/image" Target="../media/image23.png"/><Relationship Id="rId4" Type="http://schemas.openxmlformats.org/officeDocument/2006/relationships/image" Target="../media/image33.png"/><Relationship Id="rId5" Type="http://schemas.openxmlformats.org/officeDocument/2006/relationships/image" Target="../media/image5.png"/><Relationship Id="rId6" Type="http://schemas.openxmlformats.org/officeDocument/2006/relationships/image" Target="../media/image38.png"/><Relationship Id="rId7" Type="http://schemas.openxmlformats.org/officeDocument/2006/relationships/image" Target="../media/image13.png"/><Relationship Id="rId8" Type="http://schemas.openxmlformats.org/officeDocument/2006/relationships/image" Target="../media/image30.png"/><Relationship Id="rId9" Type="http://schemas.openxmlformats.org/officeDocument/2006/relationships/image" Target="../media/image1.png"/><Relationship Id="rId10" Type="http://schemas.openxmlformats.org/officeDocument/2006/relationships/image" Target="../media/image22.png"/><Relationship Id="rId11" Type="http://schemas.openxmlformats.org/officeDocument/2006/relationships/image" Target="../media/image26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2.png"/><Relationship Id="rId3" Type="http://schemas.openxmlformats.org/officeDocument/2006/relationships/image" Target="../media/image21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2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1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5.png"/><Relationship Id="rId3" Type="http://schemas.openxmlformats.org/officeDocument/2006/relationships/image" Target="../media/image11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5.pn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1.png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6.png"/><Relationship Id="rId3" Type="http://schemas.openxmlformats.org/officeDocument/2006/relationships/image" Target="../media/image18.png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6.png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8.png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9.png"/><Relationship Id="rId3" Type="http://schemas.openxmlformats.org/officeDocument/2006/relationships/image" Target="../media/image37.png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9.png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7.png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Relationship Id="rId3" Type="http://schemas.openxmlformats.org/officeDocument/2006/relationships/image" Target="../media/image2.png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2.png"/><Relationship Id="rId3" Type="http://schemas.openxmlformats.org/officeDocument/2006/relationships/image" Target="../media/image21.png"/><Relationship Id="rId4" Type="http://schemas.openxmlformats.org/officeDocument/2006/relationships/image" Target="../media/image35.png"/><Relationship Id="rId5" Type="http://schemas.openxmlformats.org/officeDocument/2006/relationships/image" Target="../media/image11.png"/><Relationship Id="rId6" Type="http://schemas.openxmlformats.org/officeDocument/2006/relationships/image" Target="../media/image36.png"/><Relationship Id="rId7" Type="http://schemas.openxmlformats.org/officeDocument/2006/relationships/image" Target="../media/image18.png"/><Relationship Id="rId8" Type="http://schemas.openxmlformats.org/officeDocument/2006/relationships/image" Target="../media/image9.png"/><Relationship Id="rId9" Type="http://schemas.openxmlformats.org/officeDocument/2006/relationships/image" Target="../media/image37.png"/><Relationship Id="rId10" Type="http://schemas.openxmlformats.org/officeDocument/2006/relationships/image" Target="../media/image4.png"/><Relationship Id="rId11" Type="http://schemas.openxmlformats.org/officeDocument/2006/relationships/image" Target="../media/image2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2851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822960" y="384048"/>
            <a:ext cx="1051560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400" b="1" i="0">
                <a:solidFill>
                  <a:srgbClr val="F47321"/>
                </a:solidFill>
                <a:latin typeface="Arial"/>
              </a:rPr>
              <a:t>EPISODE 3 · WEEK 2 · THE MACHINE'S TOP 25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694944"/>
            <a:ext cx="10515600" cy="7315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4000" b="1" i="0">
                <a:solidFill>
                  <a:srgbClr val="FFFFFF"/>
                </a:solidFill>
                <a:latin typeface="Arial"/>
              </a:rPr>
              <a:t>Our Top 25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1371600"/>
            <a:ext cx="105156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100" b="0" i="1">
                <a:solidFill>
                  <a:srgbClr val="CADCFC"/>
                </a:solidFill>
                <a:latin typeface="Arial"/>
              </a:rPr>
              <a:t>our in-season rating after 51 rated games · Δ = move vs ESPN's preseason FPI (0.0 = no rated game yet) · AP = week 2 poll · NR = not ranked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840480" y="1591056"/>
            <a:ext cx="685800" cy="2011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800" b="1" i="0">
                <a:solidFill>
                  <a:srgbClr val="CADCFC"/>
                </a:solidFill>
                <a:latin typeface="Arial"/>
              </a:rPr>
              <a:t>RATING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26280" y="1591056"/>
            <a:ext cx="685800" cy="2011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800" b="1" i="0">
                <a:solidFill>
                  <a:srgbClr val="CADCFC"/>
                </a:solidFill>
                <a:latin typeface="Arial"/>
              </a:rPr>
              <a:t>Δ PRE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212080" y="1591056"/>
            <a:ext cx="594360" cy="2011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800" b="1" i="0">
                <a:solidFill>
                  <a:srgbClr val="CADCFC"/>
                </a:solidFill>
                <a:latin typeface="Arial"/>
              </a:rPr>
              <a:t>VOTERS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372600" y="1591056"/>
            <a:ext cx="685800" cy="2011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800" b="1" i="0">
                <a:solidFill>
                  <a:srgbClr val="CADCFC"/>
                </a:solidFill>
                <a:latin typeface="Arial"/>
              </a:rPr>
              <a:t>RATING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058400" y="1591056"/>
            <a:ext cx="685800" cy="2011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800" b="1" i="0">
                <a:solidFill>
                  <a:srgbClr val="CADCFC"/>
                </a:solidFill>
                <a:latin typeface="Arial"/>
              </a:rPr>
              <a:t>Δ PRE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744200" y="1591056"/>
            <a:ext cx="594360" cy="2011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800" b="1" i="0">
                <a:solidFill>
                  <a:srgbClr val="CADCFC"/>
                </a:solidFill>
                <a:latin typeface="Arial"/>
              </a:rPr>
              <a:t>VOTERS</a:t>
            </a:r>
          </a:p>
        </p:txBody>
      </p:sp>
      <p:sp>
        <p:nvSpPr>
          <p:cNvPr id="11" name="Rectangle 10"/>
          <p:cNvSpPr/>
          <p:nvPr/>
        </p:nvSpPr>
        <p:spPr>
          <a:xfrm>
            <a:off x="822960" y="1810512"/>
            <a:ext cx="5029200" cy="329184"/>
          </a:xfrm>
          <a:prstGeom prst="rect">
            <a:avLst/>
          </a:prstGeom>
          <a:solidFill>
            <a:srgbClr val="12356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41248" y="1842516"/>
            <a:ext cx="41148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1300" b="1" i="0">
                <a:solidFill>
                  <a:srgbClr val="F47321"/>
                </a:solidFill>
                <a:latin typeface="Arial"/>
              </a:rPr>
              <a:t>1</a:t>
            </a:r>
          </a:p>
        </p:txBody>
      </p:sp>
      <p:sp>
        <p:nvSpPr>
          <p:cNvPr id="13" name="Oval 12"/>
          <p:cNvSpPr/>
          <p:nvPr/>
        </p:nvSpPr>
        <p:spPr>
          <a:xfrm>
            <a:off x="1371600" y="1847088"/>
            <a:ext cx="256032" cy="256032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4" name="Picture 13" descr="notredam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99032" y="1874519"/>
            <a:ext cx="201168" cy="201168"/>
          </a:xfrm>
          <a:prstGeom prst="rect">
            <a:avLst/>
          </a:prstGeom>
        </p:spPr>
      </p:pic>
      <p:sp>
        <p:nvSpPr>
          <p:cNvPr id="15" name="TextBox 14"/>
          <p:cNvSpPr txBox="1"/>
          <p:nvPr/>
        </p:nvSpPr>
        <p:spPr>
          <a:xfrm>
            <a:off x="1737360" y="1842516"/>
            <a:ext cx="210312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250" b="1" i="0">
                <a:solidFill>
                  <a:srgbClr val="FFFFFF"/>
                </a:solidFill>
                <a:latin typeface="Arial"/>
              </a:rPr>
              <a:t>Notre Dame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840480" y="1842516"/>
            <a:ext cx="6858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1250" b="0" i="0">
                <a:solidFill>
                  <a:srgbClr val="FFFFFF"/>
                </a:solidFill>
                <a:latin typeface="Arial"/>
              </a:rPr>
              <a:t>27.3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526280" y="1856231"/>
            <a:ext cx="6858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1100" b="1" i="0">
                <a:solidFill>
                  <a:srgbClr val="5CD68A"/>
                </a:solidFill>
                <a:latin typeface="Arial"/>
              </a:rPr>
              <a:t>+1.4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212080" y="1856231"/>
            <a:ext cx="59436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1000" b="0" i="0">
                <a:solidFill>
                  <a:srgbClr val="CADCFC"/>
                </a:solidFill>
                <a:latin typeface="Arial"/>
              </a:rPr>
              <a:t>AP 3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41248" y="2171700"/>
            <a:ext cx="41148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1300" b="1" i="0">
                <a:solidFill>
                  <a:srgbClr val="F47321"/>
                </a:solidFill>
                <a:latin typeface="Arial"/>
              </a:rPr>
              <a:t>2</a:t>
            </a:r>
          </a:p>
        </p:txBody>
      </p:sp>
      <p:sp>
        <p:nvSpPr>
          <p:cNvPr id="20" name="Oval 19"/>
          <p:cNvSpPr/>
          <p:nvPr/>
        </p:nvSpPr>
        <p:spPr>
          <a:xfrm>
            <a:off x="1371600" y="2176272"/>
            <a:ext cx="256032" cy="256032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1" name="Picture 20" descr="texas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399032" y="2203703"/>
            <a:ext cx="201168" cy="201168"/>
          </a:xfrm>
          <a:prstGeom prst="rect">
            <a:avLst/>
          </a:prstGeom>
        </p:spPr>
      </p:pic>
      <p:sp>
        <p:nvSpPr>
          <p:cNvPr id="22" name="TextBox 21"/>
          <p:cNvSpPr txBox="1"/>
          <p:nvPr/>
        </p:nvSpPr>
        <p:spPr>
          <a:xfrm>
            <a:off x="1737360" y="2171700"/>
            <a:ext cx="210312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250" b="1" i="0">
                <a:solidFill>
                  <a:srgbClr val="FFFFFF"/>
                </a:solidFill>
                <a:latin typeface="Arial"/>
              </a:rPr>
              <a:t>Texas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3840480" y="2171700"/>
            <a:ext cx="6858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1250" b="0" i="0">
                <a:solidFill>
                  <a:srgbClr val="FFFFFF"/>
                </a:solidFill>
                <a:latin typeface="Arial"/>
              </a:rPr>
              <a:t>25.8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526280" y="2185415"/>
            <a:ext cx="6858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1100" b="1" i="0">
                <a:solidFill>
                  <a:srgbClr val="FF7A7A"/>
                </a:solidFill>
                <a:latin typeface="Arial"/>
              </a:rPr>
              <a:t>-1.1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5212080" y="2185415"/>
            <a:ext cx="59436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1000" b="0" i="0">
                <a:solidFill>
                  <a:srgbClr val="CADCFC"/>
                </a:solidFill>
                <a:latin typeface="Arial"/>
              </a:rPr>
              <a:t>AP 4</a:t>
            </a:r>
          </a:p>
        </p:txBody>
      </p:sp>
      <p:sp>
        <p:nvSpPr>
          <p:cNvPr id="26" name="Rectangle 25"/>
          <p:cNvSpPr/>
          <p:nvPr/>
        </p:nvSpPr>
        <p:spPr>
          <a:xfrm>
            <a:off x="822960" y="2468880"/>
            <a:ext cx="5029200" cy="329184"/>
          </a:xfrm>
          <a:prstGeom prst="rect">
            <a:avLst/>
          </a:prstGeom>
          <a:solidFill>
            <a:srgbClr val="12356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841248" y="2500884"/>
            <a:ext cx="41148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1300" b="1" i="0">
                <a:solidFill>
                  <a:srgbClr val="F47321"/>
                </a:solidFill>
                <a:latin typeface="Arial"/>
              </a:rPr>
              <a:t>3</a:t>
            </a:r>
          </a:p>
        </p:txBody>
      </p:sp>
      <p:sp>
        <p:nvSpPr>
          <p:cNvPr id="28" name="Oval 27"/>
          <p:cNvSpPr/>
          <p:nvPr/>
        </p:nvSpPr>
        <p:spPr>
          <a:xfrm>
            <a:off x="1371600" y="2505456"/>
            <a:ext cx="256032" cy="256032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9" name="Picture 28" descr="georgia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399032" y="2532888"/>
            <a:ext cx="201168" cy="201168"/>
          </a:xfrm>
          <a:prstGeom prst="rect">
            <a:avLst/>
          </a:prstGeom>
        </p:spPr>
      </p:pic>
      <p:sp>
        <p:nvSpPr>
          <p:cNvPr id="30" name="TextBox 29"/>
          <p:cNvSpPr txBox="1"/>
          <p:nvPr/>
        </p:nvSpPr>
        <p:spPr>
          <a:xfrm>
            <a:off x="1737360" y="2500884"/>
            <a:ext cx="210312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250" b="1" i="0">
                <a:solidFill>
                  <a:srgbClr val="FFFFFF"/>
                </a:solidFill>
                <a:latin typeface="Arial"/>
              </a:rPr>
              <a:t>Georgia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3840480" y="2500884"/>
            <a:ext cx="6858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1250" b="0" i="0">
                <a:solidFill>
                  <a:srgbClr val="FFFFFF"/>
                </a:solidFill>
                <a:latin typeface="Arial"/>
              </a:rPr>
              <a:t>24.8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4526280" y="2514600"/>
            <a:ext cx="6858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1100" b="0" i="0">
                <a:solidFill>
                  <a:srgbClr val="CADCFC"/>
                </a:solidFill>
                <a:latin typeface="Arial"/>
              </a:rPr>
              <a:t>0.0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5212080" y="2514600"/>
            <a:ext cx="59436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1000" b="0" i="0">
                <a:solidFill>
                  <a:srgbClr val="CADCFC"/>
                </a:solidFill>
                <a:latin typeface="Arial"/>
              </a:rPr>
              <a:t>AP 2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841248" y="2830068"/>
            <a:ext cx="41148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1300" b="1" i="0">
                <a:solidFill>
                  <a:srgbClr val="F47321"/>
                </a:solidFill>
                <a:latin typeface="Arial"/>
              </a:rPr>
              <a:t>4</a:t>
            </a:r>
          </a:p>
        </p:txBody>
      </p:sp>
      <p:sp>
        <p:nvSpPr>
          <p:cNvPr id="35" name="Oval 34"/>
          <p:cNvSpPr/>
          <p:nvPr/>
        </p:nvSpPr>
        <p:spPr>
          <a:xfrm>
            <a:off x="1371600" y="2834640"/>
            <a:ext cx="256032" cy="256032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6" name="Picture 35" descr="ohiostat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399032" y="2862072"/>
            <a:ext cx="201168" cy="201168"/>
          </a:xfrm>
          <a:prstGeom prst="rect">
            <a:avLst/>
          </a:prstGeom>
        </p:spPr>
      </p:pic>
      <p:sp>
        <p:nvSpPr>
          <p:cNvPr id="37" name="TextBox 36"/>
          <p:cNvSpPr txBox="1"/>
          <p:nvPr/>
        </p:nvSpPr>
        <p:spPr>
          <a:xfrm>
            <a:off x="1737360" y="2830068"/>
            <a:ext cx="210312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250" b="1" i="0">
                <a:solidFill>
                  <a:srgbClr val="FFFFFF"/>
                </a:solidFill>
                <a:latin typeface="Arial"/>
              </a:rPr>
              <a:t>Ohio State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3840480" y="2830068"/>
            <a:ext cx="6858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1250" b="0" i="0">
                <a:solidFill>
                  <a:srgbClr val="FFFFFF"/>
                </a:solidFill>
                <a:latin typeface="Arial"/>
              </a:rPr>
              <a:t>24.6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4526280" y="2843784"/>
            <a:ext cx="6858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1100" b="1" i="0">
                <a:solidFill>
                  <a:srgbClr val="FF7A7A"/>
                </a:solidFill>
                <a:latin typeface="Arial"/>
              </a:rPr>
              <a:t>-4.1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5212080" y="2843784"/>
            <a:ext cx="59436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1000" b="0" i="0">
                <a:solidFill>
                  <a:srgbClr val="CADCFC"/>
                </a:solidFill>
                <a:latin typeface="Arial"/>
              </a:rPr>
              <a:t>AP 1</a:t>
            </a:r>
          </a:p>
        </p:txBody>
      </p:sp>
      <p:sp>
        <p:nvSpPr>
          <p:cNvPr id="41" name="Rectangle 40"/>
          <p:cNvSpPr/>
          <p:nvPr/>
        </p:nvSpPr>
        <p:spPr>
          <a:xfrm>
            <a:off x="822960" y="3127248"/>
            <a:ext cx="5029200" cy="329184"/>
          </a:xfrm>
          <a:prstGeom prst="rect">
            <a:avLst/>
          </a:prstGeom>
          <a:solidFill>
            <a:srgbClr val="12356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841248" y="3159252"/>
            <a:ext cx="41148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1300" b="1" i="0">
                <a:solidFill>
                  <a:srgbClr val="F47321"/>
                </a:solidFill>
                <a:latin typeface="Arial"/>
              </a:rPr>
              <a:t>5</a:t>
            </a:r>
          </a:p>
        </p:txBody>
      </p:sp>
      <p:sp>
        <p:nvSpPr>
          <p:cNvPr id="43" name="Oval 42"/>
          <p:cNvSpPr/>
          <p:nvPr/>
        </p:nvSpPr>
        <p:spPr>
          <a:xfrm>
            <a:off x="1371600" y="3163824"/>
            <a:ext cx="256032" cy="256032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4" name="Picture 43" descr="lsu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399032" y="3191256"/>
            <a:ext cx="201168" cy="201168"/>
          </a:xfrm>
          <a:prstGeom prst="rect">
            <a:avLst/>
          </a:prstGeom>
        </p:spPr>
      </p:pic>
      <p:sp>
        <p:nvSpPr>
          <p:cNvPr id="45" name="TextBox 44"/>
          <p:cNvSpPr txBox="1"/>
          <p:nvPr/>
        </p:nvSpPr>
        <p:spPr>
          <a:xfrm>
            <a:off x="1737360" y="3159252"/>
            <a:ext cx="210312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250" b="1" i="0">
                <a:solidFill>
                  <a:srgbClr val="FFFFFF"/>
                </a:solidFill>
                <a:latin typeface="Arial"/>
              </a:rPr>
              <a:t>LSU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3840480" y="3159252"/>
            <a:ext cx="6858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1250" b="0" i="0">
                <a:solidFill>
                  <a:srgbClr val="FFFFFF"/>
                </a:solidFill>
                <a:latin typeface="Arial"/>
              </a:rPr>
              <a:t>23.8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4526280" y="3172968"/>
            <a:ext cx="6858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1100" b="1" i="0">
                <a:solidFill>
                  <a:srgbClr val="5CD68A"/>
                </a:solidFill>
                <a:latin typeface="Arial"/>
              </a:rPr>
              <a:t>+3.8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5212080" y="3172968"/>
            <a:ext cx="59436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1000" b="0" i="0">
                <a:solidFill>
                  <a:srgbClr val="CADCFC"/>
                </a:solidFill>
                <a:latin typeface="Arial"/>
              </a:rPr>
              <a:t>AP 8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841248" y="3488436"/>
            <a:ext cx="41148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1300" b="1" i="0">
                <a:solidFill>
                  <a:srgbClr val="F47321"/>
                </a:solidFill>
                <a:latin typeface="Arial"/>
              </a:rPr>
              <a:t>6</a:t>
            </a:r>
          </a:p>
        </p:txBody>
      </p:sp>
      <p:sp>
        <p:nvSpPr>
          <p:cNvPr id="50" name="Oval 49"/>
          <p:cNvSpPr/>
          <p:nvPr/>
        </p:nvSpPr>
        <p:spPr>
          <a:xfrm>
            <a:off x="1371600" y="3493008"/>
            <a:ext cx="256032" cy="256032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1" name="Picture 50" descr="miami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399032" y="3520439"/>
            <a:ext cx="201168" cy="201168"/>
          </a:xfrm>
          <a:prstGeom prst="rect">
            <a:avLst/>
          </a:prstGeom>
        </p:spPr>
      </p:pic>
      <p:sp>
        <p:nvSpPr>
          <p:cNvPr id="52" name="TextBox 51"/>
          <p:cNvSpPr txBox="1"/>
          <p:nvPr/>
        </p:nvSpPr>
        <p:spPr>
          <a:xfrm>
            <a:off x="1737360" y="3488436"/>
            <a:ext cx="210312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250" b="1" i="0">
                <a:solidFill>
                  <a:srgbClr val="FFFFFF"/>
                </a:solidFill>
                <a:latin typeface="Arial"/>
              </a:rPr>
              <a:t>Miami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3840480" y="3488436"/>
            <a:ext cx="6858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1250" b="0" i="0">
                <a:solidFill>
                  <a:srgbClr val="FFFFFF"/>
                </a:solidFill>
                <a:latin typeface="Arial"/>
              </a:rPr>
              <a:t>23.2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4526280" y="3502151"/>
            <a:ext cx="6858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1100" b="1" i="0">
                <a:solidFill>
                  <a:srgbClr val="5CD68A"/>
                </a:solidFill>
                <a:latin typeface="Arial"/>
              </a:rPr>
              <a:t>+1.4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5212080" y="3502151"/>
            <a:ext cx="59436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1000" b="0" i="0">
                <a:solidFill>
                  <a:srgbClr val="CADCFC"/>
                </a:solidFill>
                <a:latin typeface="Arial"/>
              </a:rPr>
              <a:t>AP 7</a:t>
            </a:r>
          </a:p>
        </p:txBody>
      </p:sp>
      <p:sp>
        <p:nvSpPr>
          <p:cNvPr id="56" name="Rectangle 55"/>
          <p:cNvSpPr/>
          <p:nvPr/>
        </p:nvSpPr>
        <p:spPr>
          <a:xfrm>
            <a:off x="822960" y="3785616"/>
            <a:ext cx="5029200" cy="329184"/>
          </a:xfrm>
          <a:prstGeom prst="rect">
            <a:avLst/>
          </a:prstGeom>
          <a:solidFill>
            <a:srgbClr val="12356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" name="TextBox 56"/>
          <p:cNvSpPr txBox="1"/>
          <p:nvPr/>
        </p:nvSpPr>
        <p:spPr>
          <a:xfrm>
            <a:off x="841248" y="3817620"/>
            <a:ext cx="41148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1300" b="1" i="0">
                <a:solidFill>
                  <a:srgbClr val="F47321"/>
                </a:solidFill>
                <a:latin typeface="Arial"/>
              </a:rPr>
              <a:t>7</a:t>
            </a:r>
          </a:p>
        </p:txBody>
      </p:sp>
      <p:sp>
        <p:nvSpPr>
          <p:cNvPr id="58" name="Oval 57"/>
          <p:cNvSpPr/>
          <p:nvPr/>
        </p:nvSpPr>
        <p:spPr>
          <a:xfrm>
            <a:off x="1371600" y="3822192"/>
            <a:ext cx="256032" cy="256032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9" name="Picture 58" descr="indiana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1399032" y="3849624"/>
            <a:ext cx="201168" cy="201168"/>
          </a:xfrm>
          <a:prstGeom prst="rect">
            <a:avLst/>
          </a:prstGeom>
        </p:spPr>
      </p:pic>
      <p:sp>
        <p:nvSpPr>
          <p:cNvPr id="60" name="TextBox 59"/>
          <p:cNvSpPr txBox="1"/>
          <p:nvPr/>
        </p:nvSpPr>
        <p:spPr>
          <a:xfrm>
            <a:off x="1737360" y="3817620"/>
            <a:ext cx="210312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250" b="1" i="0">
                <a:solidFill>
                  <a:srgbClr val="FFFFFF"/>
                </a:solidFill>
                <a:latin typeface="Arial"/>
              </a:rPr>
              <a:t>Indiana</a:t>
            </a:r>
          </a:p>
        </p:txBody>
      </p:sp>
      <p:sp>
        <p:nvSpPr>
          <p:cNvPr id="61" name="TextBox 60"/>
          <p:cNvSpPr txBox="1"/>
          <p:nvPr/>
        </p:nvSpPr>
        <p:spPr>
          <a:xfrm>
            <a:off x="3840480" y="3817620"/>
            <a:ext cx="6858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1250" b="0" i="0">
                <a:solidFill>
                  <a:srgbClr val="FFFFFF"/>
                </a:solidFill>
                <a:latin typeface="Arial"/>
              </a:rPr>
              <a:t>22.3</a:t>
            </a:r>
          </a:p>
        </p:txBody>
      </p:sp>
      <p:sp>
        <p:nvSpPr>
          <p:cNvPr id="62" name="TextBox 61"/>
          <p:cNvSpPr txBox="1"/>
          <p:nvPr/>
        </p:nvSpPr>
        <p:spPr>
          <a:xfrm>
            <a:off x="4526280" y="3831336"/>
            <a:ext cx="6858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1100" b="1" i="0">
                <a:solidFill>
                  <a:srgbClr val="FF7A7A"/>
                </a:solidFill>
                <a:latin typeface="Arial"/>
              </a:rPr>
              <a:t>-0.8</a:t>
            </a:r>
          </a:p>
        </p:txBody>
      </p:sp>
      <p:sp>
        <p:nvSpPr>
          <p:cNvPr id="63" name="TextBox 62"/>
          <p:cNvSpPr txBox="1"/>
          <p:nvPr/>
        </p:nvSpPr>
        <p:spPr>
          <a:xfrm>
            <a:off x="5212080" y="3831336"/>
            <a:ext cx="59436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1000" b="0" i="0">
                <a:solidFill>
                  <a:srgbClr val="CADCFC"/>
                </a:solidFill>
                <a:latin typeface="Arial"/>
              </a:rPr>
              <a:t>AP 5</a:t>
            </a:r>
          </a:p>
        </p:txBody>
      </p:sp>
      <p:sp>
        <p:nvSpPr>
          <p:cNvPr id="64" name="TextBox 63"/>
          <p:cNvSpPr txBox="1"/>
          <p:nvPr/>
        </p:nvSpPr>
        <p:spPr>
          <a:xfrm>
            <a:off x="841248" y="4146804"/>
            <a:ext cx="41148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1300" b="1" i="0">
                <a:solidFill>
                  <a:srgbClr val="F47321"/>
                </a:solidFill>
                <a:latin typeface="Arial"/>
              </a:rPr>
              <a:t>8</a:t>
            </a:r>
          </a:p>
        </p:txBody>
      </p:sp>
      <p:sp>
        <p:nvSpPr>
          <p:cNvPr id="65" name="Oval 64"/>
          <p:cNvSpPr/>
          <p:nvPr/>
        </p:nvSpPr>
        <p:spPr>
          <a:xfrm>
            <a:off x="1371600" y="4151376"/>
            <a:ext cx="256032" cy="256032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66" name="Picture 65" descr="oregon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1399032" y="4178808"/>
            <a:ext cx="201168" cy="201168"/>
          </a:xfrm>
          <a:prstGeom prst="rect">
            <a:avLst/>
          </a:prstGeom>
        </p:spPr>
      </p:pic>
      <p:sp>
        <p:nvSpPr>
          <p:cNvPr id="67" name="TextBox 66"/>
          <p:cNvSpPr txBox="1"/>
          <p:nvPr/>
        </p:nvSpPr>
        <p:spPr>
          <a:xfrm>
            <a:off x="1737360" y="4146804"/>
            <a:ext cx="210312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250" b="1" i="0">
                <a:solidFill>
                  <a:srgbClr val="FFFFFF"/>
                </a:solidFill>
                <a:latin typeface="Arial"/>
              </a:rPr>
              <a:t>Oregon</a:t>
            </a:r>
          </a:p>
        </p:txBody>
      </p:sp>
      <p:sp>
        <p:nvSpPr>
          <p:cNvPr id="68" name="TextBox 67"/>
          <p:cNvSpPr txBox="1"/>
          <p:nvPr/>
        </p:nvSpPr>
        <p:spPr>
          <a:xfrm>
            <a:off x="3840480" y="4146804"/>
            <a:ext cx="6858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1250" b="0" i="0">
                <a:solidFill>
                  <a:srgbClr val="FFFFFF"/>
                </a:solidFill>
                <a:latin typeface="Arial"/>
              </a:rPr>
              <a:t>21.9</a:t>
            </a:r>
          </a:p>
        </p:txBody>
      </p:sp>
      <p:sp>
        <p:nvSpPr>
          <p:cNvPr id="69" name="TextBox 68"/>
          <p:cNvSpPr txBox="1"/>
          <p:nvPr/>
        </p:nvSpPr>
        <p:spPr>
          <a:xfrm>
            <a:off x="4526280" y="4160520"/>
            <a:ext cx="6858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1100" b="1" i="0">
                <a:solidFill>
                  <a:srgbClr val="FF7A7A"/>
                </a:solidFill>
                <a:latin typeface="Arial"/>
              </a:rPr>
              <a:t>-3.4</a:t>
            </a:r>
          </a:p>
        </p:txBody>
      </p:sp>
      <p:sp>
        <p:nvSpPr>
          <p:cNvPr id="70" name="TextBox 69"/>
          <p:cNvSpPr txBox="1"/>
          <p:nvPr/>
        </p:nvSpPr>
        <p:spPr>
          <a:xfrm>
            <a:off x="5212080" y="4160520"/>
            <a:ext cx="59436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1000" b="0" i="0">
                <a:solidFill>
                  <a:srgbClr val="CADCFC"/>
                </a:solidFill>
                <a:latin typeface="Arial"/>
              </a:rPr>
              <a:t>AP 6</a:t>
            </a:r>
          </a:p>
        </p:txBody>
      </p:sp>
      <p:sp>
        <p:nvSpPr>
          <p:cNvPr id="71" name="Rectangle 70"/>
          <p:cNvSpPr/>
          <p:nvPr/>
        </p:nvSpPr>
        <p:spPr>
          <a:xfrm>
            <a:off x="822960" y="4443983"/>
            <a:ext cx="5029200" cy="329184"/>
          </a:xfrm>
          <a:prstGeom prst="rect">
            <a:avLst/>
          </a:prstGeom>
          <a:solidFill>
            <a:srgbClr val="12356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2" name="TextBox 71"/>
          <p:cNvSpPr txBox="1"/>
          <p:nvPr/>
        </p:nvSpPr>
        <p:spPr>
          <a:xfrm>
            <a:off x="841248" y="4475988"/>
            <a:ext cx="41148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1300" b="1" i="0">
                <a:solidFill>
                  <a:srgbClr val="F47321"/>
                </a:solidFill>
                <a:latin typeface="Arial"/>
              </a:rPr>
              <a:t>9</a:t>
            </a:r>
          </a:p>
        </p:txBody>
      </p:sp>
      <p:sp>
        <p:nvSpPr>
          <p:cNvPr id="73" name="Oval 72"/>
          <p:cNvSpPr/>
          <p:nvPr/>
        </p:nvSpPr>
        <p:spPr>
          <a:xfrm>
            <a:off x="1371600" y="4480559"/>
            <a:ext cx="256032" cy="256032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74" name="Picture 73" descr="alabama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1399032" y="4507992"/>
            <a:ext cx="201168" cy="201168"/>
          </a:xfrm>
          <a:prstGeom prst="rect">
            <a:avLst/>
          </a:prstGeom>
        </p:spPr>
      </p:pic>
      <p:sp>
        <p:nvSpPr>
          <p:cNvPr id="75" name="TextBox 74"/>
          <p:cNvSpPr txBox="1"/>
          <p:nvPr/>
        </p:nvSpPr>
        <p:spPr>
          <a:xfrm>
            <a:off x="1737360" y="4475988"/>
            <a:ext cx="210312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250" b="1" i="0">
                <a:solidFill>
                  <a:srgbClr val="FFFFFF"/>
                </a:solidFill>
                <a:latin typeface="Arial"/>
              </a:rPr>
              <a:t>Alabama</a:t>
            </a:r>
          </a:p>
        </p:txBody>
      </p:sp>
      <p:sp>
        <p:nvSpPr>
          <p:cNvPr id="76" name="TextBox 75"/>
          <p:cNvSpPr txBox="1"/>
          <p:nvPr/>
        </p:nvSpPr>
        <p:spPr>
          <a:xfrm>
            <a:off x="3840480" y="4475988"/>
            <a:ext cx="6858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1250" b="0" i="0">
                <a:solidFill>
                  <a:srgbClr val="FFFFFF"/>
                </a:solidFill>
                <a:latin typeface="Arial"/>
              </a:rPr>
              <a:t>21.1</a:t>
            </a:r>
          </a:p>
        </p:txBody>
      </p:sp>
      <p:sp>
        <p:nvSpPr>
          <p:cNvPr id="77" name="TextBox 76"/>
          <p:cNvSpPr txBox="1"/>
          <p:nvPr/>
        </p:nvSpPr>
        <p:spPr>
          <a:xfrm>
            <a:off x="4526280" y="4489703"/>
            <a:ext cx="6858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1100" b="1" i="0">
                <a:solidFill>
                  <a:srgbClr val="5CD68A"/>
                </a:solidFill>
                <a:latin typeface="Arial"/>
              </a:rPr>
              <a:t>+1.0</a:t>
            </a:r>
          </a:p>
        </p:txBody>
      </p:sp>
      <p:sp>
        <p:nvSpPr>
          <p:cNvPr id="78" name="TextBox 77"/>
          <p:cNvSpPr txBox="1"/>
          <p:nvPr/>
        </p:nvSpPr>
        <p:spPr>
          <a:xfrm>
            <a:off x="5212080" y="4489703"/>
            <a:ext cx="59436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1000" b="0" i="0">
                <a:solidFill>
                  <a:srgbClr val="CADCFC"/>
                </a:solidFill>
                <a:latin typeface="Arial"/>
              </a:rPr>
              <a:t>AP 12</a:t>
            </a:r>
          </a:p>
        </p:txBody>
      </p:sp>
      <p:sp>
        <p:nvSpPr>
          <p:cNvPr id="79" name="TextBox 78"/>
          <p:cNvSpPr txBox="1"/>
          <p:nvPr/>
        </p:nvSpPr>
        <p:spPr>
          <a:xfrm>
            <a:off x="841248" y="4805172"/>
            <a:ext cx="41148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1300" b="1" i="0">
                <a:solidFill>
                  <a:srgbClr val="F47321"/>
                </a:solidFill>
                <a:latin typeface="Arial"/>
              </a:rPr>
              <a:t>10</a:t>
            </a:r>
          </a:p>
        </p:txBody>
      </p:sp>
      <p:sp>
        <p:nvSpPr>
          <p:cNvPr id="80" name="Oval 79"/>
          <p:cNvSpPr/>
          <p:nvPr/>
        </p:nvSpPr>
        <p:spPr>
          <a:xfrm>
            <a:off x="1371600" y="4809744"/>
            <a:ext cx="256032" cy="256032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81" name="Picture 80" descr="texastech.png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1399032" y="4837176"/>
            <a:ext cx="201168" cy="201168"/>
          </a:xfrm>
          <a:prstGeom prst="rect">
            <a:avLst/>
          </a:prstGeom>
        </p:spPr>
      </p:pic>
      <p:sp>
        <p:nvSpPr>
          <p:cNvPr id="82" name="TextBox 81"/>
          <p:cNvSpPr txBox="1"/>
          <p:nvPr/>
        </p:nvSpPr>
        <p:spPr>
          <a:xfrm>
            <a:off x="1737360" y="4805172"/>
            <a:ext cx="210312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250" b="1" i="0">
                <a:solidFill>
                  <a:srgbClr val="FFFFFF"/>
                </a:solidFill>
                <a:latin typeface="Arial"/>
              </a:rPr>
              <a:t>Texas Tech</a:t>
            </a:r>
          </a:p>
        </p:txBody>
      </p:sp>
      <p:sp>
        <p:nvSpPr>
          <p:cNvPr id="83" name="TextBox 82"/>
          <p:cNvSpPr txBox="1"/>
          <p:nvPr/>
        </p:nvSpPr>
        <p:spPr>
          <a:xfrm>
            <a:off x="3840480" y="4805172"/>
            <a:ext cx="6858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1250" b="0" i="0">
                <a:solidFill>
                  <a:srgbClr val="FFFFFF"/>
                </a:solidFill>
                <a:latin typeface="Arial"/>
              </a:rPr>
              <a:t>20.0</a:t>
            </a:r>
          </a:p>
        </p:txBody>
      </p:sp>
      <p:sp>
        <p:nvSpPr>
          <p:cNvPr id="84" name="TextBox 83"/>
          <p:cNvSpPr txBox="1"/>
          <p:nvPr/>
        </p:nvSpPr>
        <p:spPr>
          <a:xfrm>
            <a:off x="4526280" y="4818888"/>
            <a:ext cx="6858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1100" b="0" i="0">
                <a:solidFill>
                  <a:srgbClr val="CADCFC"/>
                </a:solidFill>
                <a:latin typeface="Arial"/>
              </a:rPr>
              <a:t>0.0</a:t>
            </a:r>
          </a:p>
        </p:txBody>
      </p:sp>
      <p:sp>
        <p:nvSpPr>
          <p:cNvPr id="85" name="TextBox 84"/>
          <p:cNvSpPr txBox="1"/>
          <p:nvPr/>
        </p:nvSpPr>
        <p:spPr>
          <a:xfrm>
            <a:off x="5212080" y="4818888"/>
            <a:ext cx="59436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1000" b="0" i="0">
                <a:solidFill>
                  <a:srgbClr val="CADCFC"/>
                </a:solidFill>
                <a:latin typeface="Arial"/>
              </a:rPr>
              <a:t>AP 13</a:t>
            </a:r>
          </a:p>
        </p:txBody>
      </p:sp>
      <p:sp>
        <p:nvSpPr>
          <p:cNvPr id="86" name="Rectangle 85"/>
          <p:cNvSpPr/>
          <p:nvPr/>
        </p:nvSpPr>
        <p:spPr>
          <a:xfrm>
            <a:off x="822960" y="5102352"/>
            <a:ext cx="5029200" cy="329184"/>
          </a:xfrm>
          <a:prstGeom prst="rect">
            <a:avLst/>
          </a:prstGeom>
          <a:solidFill>
            <a:srgbClr val="12356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7" name="TextBox 86"/>
          <p:cNvSpPr txBox="1"/>
          <p:nvPr/>
        </p:nvSpPr>
        <p:spPr>
          <a:xfrm>
            <a:off x="841248" y="5134356"/>
            <a:ext cx="41148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1300" b="1" i="0">
                <a:solidFill>
                  <a:srgbClr val="F47321"/>
                </a:solidFill>
                <a:latin typeface="Arial"/>
              </a:rPr>
              <a:t>11</a:t>
            </a:r>
          </a:p>
        </p:txBody>
      </p:sp>
      <p:sp>
        <p:nvSpPr>
          <p:cNvPr id="88" name="Oval 87"/>
          <p:cNvSpPr/>
          <p:nvPr/>
        </p:nvSpPr>
        <p:spPr>
          <a:xfrm>
            <a:off x="1371600" y="5138928"/>
            <a:ext cx="256032" cy="256032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89" name="Picture 88" descr="texasam.png"/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1399032" y="5166360"/>
            <a:ext cx="201168" cy="201168"/>
          </a:xfrm>
          <a:prstGeom prst="rect">
            <a:avLst/>
          </a:prstGeom>
        </p:spPr>
      </p:pic>
      <p:sp>
        <p:nvSpPr>
          <p:cNvPr id="90" name="TextBox 89"/>
          <p:cNvSpPr txBox="1"/>
          <p:nvPr/>
        </p:nvSpPr>
        <p:spPr>
          <a:xfrm>
            <a:off x="1737360" y="5134356"/>
            <a:ext cx="210312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250" b="1" i="0">
                <a:solidFill>
                  <a:srgbClr val="FFFFFF"/>
                </a:solidFill>
                <a:latin typeface="Arial"/>
              </a:rPr>
              <a:t>Texas A&amp;M</a:t>
            </a:r>
          </a:p>
        </p:txBody>
      </p:sp>
      <p:sp>
        <p:nvSpPr>
          <p:cNvPr id="91" name="TextBox 90"/>
          <p:cNvSpPr txBox="1"/>
          <p:nvPr/>
        </p:nvSpPr>
        <p:spPr>
          <a:xfrm>
            <a:off x="3840480" y="5134356"/>
            <a:ext cx="6858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1250" b="0" i="0">
                <a:solidFill>
                  <a:srgbClr val="FFFFFF"/>
                </a:solidFill>
                <a:latin typeface="Arial"/>
              </a:rPr>
              <a:t>19.0</a:t>
            </a:r>
          </a:p>
        </p:txBody>
      </p:sp>
      <p:sp>
        <p:nvSpPr>
          <p:cNvPr id="92" name="TextBox 91"/>
          <p:cNvSpPr txBox="1"/>
          <p:nvPr/>
        </p:nvSpPr>
        <p:spPr>
          <a:xfrm>
            <a:off x="4526280" y="5148072"/>
            <a:ext cx="6858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1100" b="1" i="0">
                <a:solidFill>
                  <a:srgbClr val="FF7A7A"/>
                </a:solidFill>
                <a:latin typeface="Arial"/>
              </a:rPr>
              <a:t>-1.0</a:t>
            </a:r>
          </a:p>
        </p:txBody>
      </p:sp>
      <p:sp>
        <p:nvSpPr>
          <p:cNvPr id="93" name="TextBox 92"/>
          <p:cNvSpPr txBox="1"/>
          <p:nvPr/>
        </p:nvSpPr>
        <p:spPr>
          <a:xfrm>
            <a:off x="5212080" y="5148072"/>
            <a:ext cx="59436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1000" b="0" i="0">
                <a:solidFill>
                  <a:srgbClr val="CADCFC"/>
                </a:solidFill>
                <a:latin typeface="Arial"/>
              </a:rPr>
              <a:t>AP 10</a:t>
            </a:r>
          </a:p>
        </p:txBody>
      </p:sp>
      <p:sp>
        <p:nvSpPr>
          <p:cNvPr id="94" name="TextBox 93"/>
          <p:cNvSpPr txBox="1"/>
          <p:nvPr/>
        </p:nvSpPr>
        <p:spPr>
          <a:xfrm>
            <a:off x="841248" y="5463540"/>
            <a:ext cx="41148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1300" b="1" i="0">
                <a:solidFill>
                  <a:srgbClr val="F47321"/>
                </a:solidFill>
                <a:latin typeface="Arial"/>
              </a:rPr>
              <a:t>12</a:t>
            </a:r>
          </a:p>
        </p:txBody>
      </p:sp>
      <p:sp>
        <p:nvSpPr>
          <p:cNvPr id="95" name="Oval 94"/>
          <p:cNvSpPr/>
          <p:nvPr/>
        </p:nvSpPr>
        <p:spPr>
          <a:xfrm>
            <a:off x="1371600" y="5468112"/>
            <a:ext cx="256032" cy="256032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96" name="Picture 95" descr="oklahoma.png"/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1399032" y="5495544"/>
            <a:ext cx="201168" cy="201168"/>
          </a:xfrm>
          <a:prstGeom prst="rect">
            <a:avLst/>
          </a:prstGeom>
        </p:spPr>
      </p:pic>
      <p:sp>
        <p:nvSpPr>
          <p:cNvPr id="97" name="TextBox 96"/>
          <p:cNvSpPr txBox="1"/>
          <p:nvPr/>
        </p:nvSpPr>
        <p:spPr>
          <a:xfrm>
            <a:off x="1737360" y="5463540"/>
            <a:ext cx="210312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250" b="1" i="0">
                <a:solidFill>
                  <a:srgbClr val="FFFFFF"/>
                </a:solidFill>
                <a:latin typeface="Arial"/>
              </a:rPr>
              <a:t>Oklahoma</a:t>
            </a:r>
          </a:p>
        </p:txBody>
      </p:sp>
      <p:sp>
        <p:nvSpPr>
          <p:cNvPr id="98" name="TextBox 97"/>
          <p:cNvSpPr txBox="1"/>
          <p:nvPr/>
        </p:nvSpPr>
        <p:spPr>
          <a:xfrm>
            <a:off x="3840480" y="5463540"/>
            <a:ext cx="6858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1250" b="0" i="0">
                <a:solidFill>
                  <a:srgbClr val="FFFFFF"/>
                </a:solidFill>
                <a:latin typeface="Arial"/>
              </a:rPr>
              <a:t>16.0</a:t>
            </a:r>
          </a:p>
        </p:txBody>
      </p:sp>
      <p:sp>
        <p:nvSpPr>
          <p:cNvPr id="99" name="TextBox 98"/>
          <p:cNvSpPr txBox="1"/>
          <p:nvPr/>
        </p:nvSpPr>
        <p:spPr>
          <a:xfrm>
            <a:off x="4526280" y="5477255"/>
            <a:ext cx="6858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1100" b="1" i="0">
                <a:solidFill>
                  <a:srgbClr val="FF7A7A"/>
                </a:solidFill>
                <a:latin typeface="Arial"/>
              </a:rPr>
              <a:t>-1.8</a:t>
            </a:r>
          </a:p>
        </p:txBody>
      </p:sp>
      <p:sp>
        <p:nvSpPr>
          <p:cNvPr id="100" name="TextBox 99"/>
          <p:cNvSpPr txBox="1"/>
          <p:nvPr/>
        </p:nvSpPr>
        <p:spPr>
          <a:xfrm>
            <a:off x="5212080" y="5477255"/>
            <a:ext cx="59436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1000" b="0" i="0">
                <a:solidFill>
                  <a:srgbClr val="CADCFC"/>
                </a:solidFill>
                <a:latin typeface="Arial"/>
              </a:rPr>
              <a:t>AP 11</a:t>
            </a:r>
          </a:p>
        </p:txBody>
      </p:sp>
      <p:sp>
        <p:nvSpPr>
          <p:cNvPr id="101" name="Rectangle 100"/>
          <p:cNvSpPr/>
          <p:nvPr/>
        </p:nvSpPr>
        <p:spPr>
          <a:xfrm>
            <a:off x="822960" y="5760720"/>
            <a:ext cx="5029200" cy="329184"/>
          </a:xfrm>
          <a:prstGeom prst="rect">
            <a:avLst/>
          </a:prstGeom>
          <a:solidFill>
            <a:srgbClr val="12356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2" name="TextBox 101"/>
          <p:cNvSpPr txBox="1"/>
          <p:nvPr/>
        </p:nvSpPr>
        <p:spPr>
          <a:xfrm>
            <a:off x="841248" y="5792724"/>
            <a:ext cx="41148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1300" b="1" i="0">
                <a:solidFill>
                  <a:srgbClr val="F47321"/>
                </a:solidFill>
                <a:latin typeface="Arial"/>
              </a:rPr>
              <a:t>13</a:t>
            </a:r>
          </a:p>
        </p:txBody>
      </p:sp>
      <p:sp>
        <p:nvSpPr>
          <p:cNvPr id="103" name="Oval 102"/>
          <p:cNvSpPr/>
          <p:nvPr/>
        </p:nvSpPr>
        <p:spPr>
          <a:xfrm>
            <a:off x="1371600" y="5797296"/>
            <a:ext cx="256032" cy="256032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04" name="Picture 103" descr="olemiss.png"/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1399032" y="5824728"/>
            <a:ext cx="201168" cy="201168"/>
          </a:xfrm>
          <a:prstGeom prst="rect">
            <a:avLst/>
          </a:prstGeom>
        </p:spPr>
      </p:pic>
      <p:sp>
        <p:nvSpPr>
          <p:cNvPr id="105" name="TextBox 104"/>
          <p:cNvSpPr txBox="1"/>
          <p:nvPr/>
        </p:nvSpPr>
        <p:spPr>
          <a:xfrm>
            <a:off x="1737360" y="5792724"/>
            <a:ext cx="210312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250" b="1" i="0">
                <a:solidFill>
                  <a:srgbClr val="FFFFFF"/>
                </a:solidFill>
                <a:latin typeface="Arial"/>
              </a:rPr>
              <a:t>Ole Miss</a:t>
            </a:r>
          </a:p>
        </p:txBody>
      </p:sp>
      <p:sp>
        <p:nvSpPr>
          <p:cNvPr id="106" name="TextBox 105"/>
          <p:cNvSpPr txBox="1"/>
          <p:nvPr/>
        </p:nvSpPr>
        <p:spPr>
          <a:xfrm>
            <a:off x="3840480" y="5792724"/>
            <a:ext cx="6858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1250" b="0" i="0">
                <a:solidFill>
                  <a:srgbClr val="FFFFFF"/>
                </a:solidFill>
                <a:latin typeface="Arial"/>
              </a:rPr>
              <a:t>15.3</a:t>
            </a:r>
          </a:p>
        </p:txBody>
      </p:sp>
      <p:sp>
        <p:nvSpPr>
          <p:cNvPr id="107" name="TextBox 106"/>
          <p:cNvSpPr txBox="1"/>
          <p:nvPr/>
        </p:nvSpPr>
        <p:spPr>
          <a:xfrm>
            <a:off x="4526280" y="5806440"/>
            <a:ext cx="6858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1100" b="1" i="0">
                <a:solidFill>
                  <a:srgbClr val="FF7A7A"/>
                </a:solidFill>
                <a:latin typeface="Arial"/>
              </a:rPr>
              <a:t>-0.7</a:t>
            </a:r>
          </a:p>
        </p:txBody>
      </p:sp>
      <p:sp>
        <p:nvSpPr>
          <p:cNvPr id="108" name="TextBox 107"/>
          <p:cNvSpPr txBox="1"/>
          <p:nvPr/>
        </p:nvSpPr>
        <p:spPr>
          <a:xfrm>
            <a:off x="5212080" y="5806440"/>
            <a:ext cx="59436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1000" b="0" i="0">
                <a:solidFill>
                  <a:srgbClr val="CADCFC"/>
                </a:solidFill>
                <a:latin typeface="Arial"/>
              </a:rPr>
              <a:t>AP 9</a:t>
            </a:r>
          </a:p>
        </p:txBody>
      </p:sp>
      <p:sp>
        <p:nvSpPr>
          <p:cNvPr id="109" name="Rectangle 108"/>
          <p:cNvSpPr/>
          <p:nvPr/>
        </p:nvSpPr>
        <p:spPr>
          <a:xfrm>
            <a:off x="6355080" y="1810512"/>
            <a:ext cx="5029200" cy="329184"/>
          </a:xfrm>
          <a:prstGeom prst="rect">
            <a:avLst/>
          </a:prstGeom>
          <a:solidFill>
            <a:srgbClr val="12356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0" name="TextBox 109"/>
          <p:cNvSpPr txBox="1"/>
          <p:nvPr/>
        </p:nvSpPr>
        <p:spPr>
          <a:xfrm>
            <a:off x="6373368" y="1842516"/>
            <a:ext cx="41148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1300" b="1" i="0">
                <a:solidFill>
                  <a:srgbClr val="F47321"/>
                </a:solidFill>
                <a:latin typeface="Arial"/>
              </a:rPr>
              <a:t>14</a:t>
            </a:r>
          </a:p>
        </p:txBody>
      </p:sp>
      <p:sp>
        <p:nvSpPr>
          <p:cNvPr id="111" name="Oval 110"/>
          <p:cNvSpPr/>
          <p:nvPr/>
        </p:nvSpPr>
        <p:spPr>
          <a:xfrm>
            <a:off x="6903720" y="1847088"/>
            <a:ext cx="256032" cy="256032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12" name="Picture 111" descr="usc.png"/>
          <p:cNvPicPr>
            <a:picLocks noChangeAspect="1"/>
          </p:cNvPicPr>
          <p:nvPr/>
        </p:nvPicPr>
        <p:blipFill>
          <a:blip r:embed="rId15"/>
          <a:stretch>
            <a:fillRect/>
          </a:stretch>
        </p:blipFill>
        <p:spPr>
          <a:xfrm>
            <a:off x="6931152" y="1874519"/>
            <a:ext cx="201168" cy="201168"/>
          </a:xfrm>
          <a:prstGeom prst="rect">
            <a:avLst/>
          </a:prstGeom>
        </p:spPr>
      </p:pic>
      <p:sp>
        <p:nvSpPr>
          <p:cNvPr id="113" name="TextBox 112"/>
          <p:cNvSpPr txBox="1"/>
          <p:nvPr/>
        </p:nvSpPr>
        <p:spPr>
          <a:xfrm>
            <a:off x="7269480" y="1842516"/>
            <a:ext cx="210312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250" b="1" i="0">
                <a:solidFill>
                  <a:srgbClr val="FFFFFF"/>
                </a:solidFill>
                <a:latin typeface="Arial"/>
              </a:rPr>
              <a:t>USC</a:t>
            </a:r>
          </a:p>
        </p:txBody>
      </p:sp>
      <p:sp>
        <p:nvSpPr>
          <p:cNvPr id="114" name="TextBox 113"/>
          <p:cNvSpPr txBox="1"/>
          <p:nvPr/>
        </p:nvSpPr>
        <p:spPr>
          <a:xfrm>
            <a:off x="9372600" y="1842516"/>
            <a:ext cx="6858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1250" b="0" i="0">
                <a:solidFill>
                  <a:srgbClr val="FFFFFF"/>
                </a:solidFill>
                <a:latin typeface="Arial"/>
              </a:rPr>
              <a:t>15.2</a:t>
            </a:r>
          </a:p>
        </p:txBody>
      </p:sp>
      <p:sp>
        <p:nvSpPr>
          <p:cNvPr id="115" name="TextBox 114"/>
          <p:cNvSpPr txBox="1"/>
          <p:nvPr/>
        </p:nvSpPr>
        <p:spPr>
          <a:xfrm>
            <a:off x="10058400" y="1856231"/>
            <a:ext cx="6858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1100" b="1" i="0">
                <a:solidFill>
                  <a:srgbClr val="FF7A7A"/>
                </a:solidFill>
                <a:latin typeface="Arial"/>
              </a:rPr>
              <a:t>-1.8</a:t>
            </a:r>
          </a:p>
        </p:txBody>
      </p:sp>
      <p:sp>
        <p:nvSpPr>
          <p:cNvPr id="116" name="TextBox 115"/>
          <p:cNvSpPr txBox="1"/>
          <p:nvPr/>
        </p:nvSpPr>
        <p:spPr>
          <a:xfrm>
            <a:off x="10744200" y="1856231"/>
            <a:ext cx="59436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1000" b="0" i="0">
                <a:solidFill>
                  <a:srgbClr val="CADCFC"/>
                </a:solidFill>
                <a:latin typeface="Arial"/>
              </a:rPr>
              <a:t>AP 14</a:t>
            </a:r>
          </a:p>
        </p:txBody>
      </p:sp>
      <p:sp>
        <p:nvSpPr>
          <p:cNvPr id="117" name="TextBox 116"/>
          <p:cNvSpPr txBox="1"/>
          <p:nvPr/>
        </p:nvSpPr>
        <p:spPr>
          <a:xfrm>
            <a:off x="6373368" y="2171700"/>
            <a:ext cx="41148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1300" b="1" i="0">
                <a:solidFill>
                  <a:srgbClr val="F47321"/>
                </a:solidFill>
                <a:latin typeface="Arial"/>
              </a:rPr>
              <a:t>15</a:t>
            </a:r>
          </a:p>
        </p:txBody>
      </p:sp>
      <p:sp>
        <p:nvSpPr>
          <p:cNvPr id="118" name="Oval 117"/>
          <p:cNvSpPr/>
          <p:nvPr/>
        </p:nvSpPr>
        <p:spPr>
          <a:xfrm>
            <a:off x="6903720" y="2176272"/>
            <a:ext cx="256032" cy="256032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19" name="Picture 118" descr="tennessee.png"/>
          <p:cNvPicPr>
            <a:picLocks noChangeAspect="1"/>
          </p:cNvPicPr>
          <p:nvPr/>
        </p:nvPicPr>
        <p:blipFill>
          <a:blip r:embed="rId16"/>
          <a:stretch>
            <a:fillRect/>
          </a:stretch>
        </p:blipFill>
        <p:spPr>
          <a:xfrm>
            <a:off x="6931152" y="2203703"/>
            <a:ext cx="201168" cy="201168"/>
          </a:xfrm>
          <a:prstGeom prst="rect">
            <a:avLst/>
          </a:prstGeom>
        </p:spPr>
      </p:pic>
      <p:sp>
        <p:nvSpPr>
          <p:cNvPr id="120" name="TextBox 119"/>
          <p:cNvSpPr txBox="1"/>
          <p:nvPr/>
        </p:nvSpPr>
        <p:spPr>
          <a:xfrm>
            <a:off x="7269480" y="2171700"/>
            <a:ext cx="210312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250" b="1" i="0">
                <a:solidFill>
                  <a:srgbClr val="FFFFFF"/>
                </a:solidFill>
                <a:latin typeface="Arial"/>
              </a:rPr>
              <a:t>Tennessee</a:t>
            </a:r>
          </a:p>
        </p:txBody>
      </p:sp>
      <p:sp>
        <p:nvSpPr>
          <p:cNvPr id="121" name="TextBox 120"/>
          <p:cNvSpPr txBox="1"/>
          <p:nvPr/>
        </p:nvSpPr>
        <p:spPr>
          <a:xfrm>
            <a:off x="9372600" y="2171700"/>
            <a:ext cx="6858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1250" b="0" i="0">
                <a:solidFill>
                  <a:srgbClr val="FFFFFF"/>
                </a:solidFill>
                <a:latin typeface="Arial"/>
              </a:rPr>
              <a:t>15.1</a:t>
            </a:r>
          </a:p>
        </p:txBody>
      </p:sp>
      <p:sp>
        <p:nvSpPr>
          <p:cNvPr id="122" name="TextBox 121"/>
          <p:cNvSpPr txBox="1"/>
          <p:nvPr/>
        </p:nvSpPr>
        <p:spPr>
          <a:xfrm>
            <a:off x="10058400" y="2185415"/>
            <a:ext cx="6858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1100" b="0" i="0">
                <a:solidFill>
                  <a:srgbClr val="CADCFC"/>
                </a:solidFill>
                <a:latin typeface="Arial"/>
              </a:rPr>
              <a:t>0.0</a:t>
            </a:r>
          </a:p>
        </p:txBody>
      </p:sp>
      <p:sp>
        <p:nvSpPr>
          <p:cNvPr id="123" name="TextBox 122"/>
          <p:cNvSpPr txBox="1"/>
          <p:nvPr/>
        </p:nvSpPr>
        <p:spPr>
          <a:xfrm>
            <a:off x="10744200" y="2185415"/>
            <a:ext cx="59436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1000" b="0" i="0">
                <a:solidFill>
                  <a:srgbClr val="CADCFC"/>
                </a:solidFill>
                <a:latin typeface="Arial"/>
              </a:rPr>
              <a:t>AP 18</a:t>
            </a:r>
          </a:p>
        </p:txBody>
      </p:sp>
      <p:sp>
        <p:nvSpPr>
          <p:cNvPr id="124" name="Rectangle 123"/>
          <p:cNvSpPr/>
          <p:nvPr/>
        </p:nvSpPr>
        <p:spPr>
          <a:xfrm>
            <a:off x="6355080" y="2468880"/>
            <a:ext cx="5029200" cy="329184"/>
          </a:xfrm>
          <a:prstGeom prst="rect">
            <a:avLst/>
          </a:prstGeom>
          <a:solidFill>
            <a:srgbClr val="12356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5" name="TextBox 124"/>
          <p:cNvSpPr txBox="1"/>
          <p:nvPr/>
        </p:nvSpPr>
        <p:spPr>
          <a:xfrm>
            <a:off x="6373368" y="2500884"/>
            <a:ext cx="41148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1300" b="1" i="0">
                <a:solidFill>
                  <a:srgbClr val="F47321"/>
                </a:solidFill>
                <a:latin typeface="Arial"/>
              </a:rPr>
              <a:t>16</a:t>
            </a:r>
          </a:p>
        </p:txBody>
      </p:sp>
      <p:sp>
        <p:nvSpPr>
          <p:cNvPr id="126" name="Oval 125"/>
          <p:cNvSpPr/>
          <p:nvPr/>
        </p:nvSpPr>
        <p:spPr>
          <a:xfrm>
            <a:off x="6903720" y="2505456"/>
            <a:ext cx="256032" cy="256032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27" name="Picture 126" descr="pennstate.png"/>
          <p:cNvPicPr>
            <a:picLocks noChangeAspect="1"/>
          </p:cNvPicPr>
          <p:nvPr/>
        </p:nvPicPr>
        <p:blipFill>
          <a:blip r:embed="rId17"/>
          <a:stretch>
            <a:fillRect/>
          </a:stretch>
        </p:blipFill>
        <p:spPr>
          <a:xfrm>
            <a:off x="6931152" y="2532888"/>
            <a:ext cx="201168" cy="201168"/>
          </a:xfrm>
          <a:prstGeom prst="rect">
            <a:avLst/>
          </a:prstGeom>
        </p:spPr>
      </p:pic>
      <p:sp>
        <p:nvSpPr>
          <p:cNvPr id="128" name="TextBox 127"/>
          <p:cNvSpPr txBox="1"/>
          <p:nvPr/>
        </p:nvSpPr>
        <p:spPr>
          <a:xfrm>
            <a:off x="7269480" y="2500884"/>
            <a:ext cx="210312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250" b="1" i="0">
                <a:solidFill>
                  <a:srgbClr val="FFFFFF"/>
                </a:solidFill>
                <a:latin typeface="Arial"/>
              </a:rPr>
              <a:t>Penn State</a:t>
            </a:r>
          </a:p>
        </p:txBody>
      </p:sp>
      <p:sp>
        <p:nvSpPr>
          <p:cNvPr id="129" name="TextBox 128"/>
          <p:cNvSpPr txBox="1"/>
          <p:nvPr/>
        </p:nvSpPr>
        <p:spPr>
          <a:xfrm>
            <a:off x="9372600" y="2500884"/>
            <a:ext cx="6858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1250" b="0" i="0">
                <a:solidFill>
                  <a:srgbClr val="FFFFFF"/>
                </a:solidFill>
                <a:latin typeface="Arial"/>
              </a:rPr>
              <a:t>14.3</a:t>
            </a:r>
          </a:p>
        </p:txBody>
      </p:sp>
      <p:sp>
        <p:nvSpPr>
          <p:cNvPr id="130" name="TextBox 129"/>
          <p:cNvSpPr txBox="1"/>
          <p:nvPr/>
        </p:nvSpPr>
        <p:spPr>
          <a:xfrm>
            <a:off x="10058400" y="2514600"/>
            <a:ext cx="6858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1100" b="1" i="0">
                <a:solidFill>
                  <a:srgbClr val="5CD68A"/>
                </a:solidFill>
                <a:latin typeface="Arial"/>
              </a:rPr>
              <a:t>+0.6</a:t>
            </a:r>
          </a:p>
        </p:txBody>
      </p:sp>
      <p:sp>
        <p:nvSpPr>
          <p:cNvPr id="131" name="TextBox 130"/>
          <p:cNvSpPr txBox="1"/>
          <p:nvPr/>
        </p:nvSpPr>
        <p:spPr>
          <a:xfrm>
            <a:off x="10744200" y="2514600"/>
            <a:ext cx="59436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1000" b="0" i="0">
                <a:solidFill>
                  <a:srgbClr val="CADCFC"/>
                </a:solidFill>
                <a:latin typeface="Arial"/>
              </a:rPr>
              <a:t>AP 16</a:t>
            </a:r>
          </a:p>
        </p:txBody>
      </p:sp>
      <p:sp>
        <p:nvSpPr>
          <p:cNvPr id="132" name="TextBox 131"/>
          <p:cNvSpPr txBox="1"/>
          <p:nvPr/>
        </p:nvSpPr>
        <p:spPr>
          <a:xfrm>
            <a:off x="6373368" y="2830068"/>
            <a:ext cx="41148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1300" b="1" i="0">
                <a:solidFill>
                  <a:srgbClr val="F47321"/>
                </a:solidFill>
                <a:latin typeface="Arial"/>
              </a:rPr>
              <a:t>17</a:t>
            </a:r>
          </a:p>
        </p:txBody>
      </p:sp>
      <p:sp>
        <p:nvSpPr>
          <p:cNvPr id="133" name="Oval 132"/>
          <p:cNvSpPr/>
          <p:nvPr/>
        </p:nvSpPr>
        <p:spPr>
          <a:xfrm>
            <a:off x="6903720" y="2834640"/>
            <a:ext cx="256032" cy="256032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34" name="Picture 133" descr="florida.png"/>
          <p:cNvPicPr>
            <a:picLocks noChangeAspect="1"/>
          </p:cNvPicPr>
          <p:nvPr/>
        </p:nvPicPr>
        <p:blipFill>
          <a:blip r:embed="rId18"/>
          <a:stretch>
            <a:fillRect/>
          </a:stretch>
        </p:blipFill>
        <p:spPr>
          <a:xfrm>
            <a:off x="6931152" y="2862072"/>
            <a:ext cx="201168" cy="201168"/>
          </a:xfrm>
          <a:prstGeom prst="rect">
            <a:avLst/>
          </a:prstGeom>
        </p:spPr>
      </p:pic>
      <p:sp>
        <p:nvSpPr>
          <p:cNvPr id="135" name="TextBox 134"/>
          <p:cNvSpPr txBox="1"/>
          <p:nvPr/>
        </p:nvSpPr>
        <p:spPr>
          <a:xfrm>
            <a:off x="7269480" y="2830068"/>
            <a:ext cx="210312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250" b="1" i="0">
                <a:solidFill>
                  <a:srgbClr val="FFFFFF"/>
                </a:solidFill>
                <a:latin typeface="Arial"/>
              </a:rPr>
              <a:t>Florida</a:t>
            </a:r>
          </a:p>
        </p:txBody>
      </p:sp>
      <p:sp>
        <p:nvSpPr>
          <p:cNvPr id="136" name="TextBox 135"/>
          <p:cNvSpPr txBox="1"/>
          <p:nvPr/>
        </p:nvSpPr>
        <p:spPr>
          <a:xfrm>
            <a:off x="9372600" y="2830068"/>
            <a:ext cx="6858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1250" b="0" i="0">
                <a:solidFill>
                  <a:srgbClr val="FFFFFF"/>
                </a:solidFill>
                <a:latin typeface="Arial"/>
              </a:rPr>
              <a:t>13.7</a:t>
            </a:r>
          </a:p>
        </p:txBody>
      </p:sp>
      <p:sp>
        <p:nvSpPr>
          <p:cNvPr id="137" name="TextBox 136"/>
          <p:cNvSpPr txBox="1"/>
          <p:nvPr/>
        </p:nvSpPr>
        <p:spPr>
          <a:xfrm>
            <a:off x="10058400" y="2843784"/>
            <a:ext cx="6858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1100" b="1" i="0">
                <a:solidFill>
                  <a:srgbClr val="5CD68A"/>
                </a:solidFill>
                <a:latin typeface="Arial"/>
              </a:rPr>
              <a:t>+0.1</a:t>
            </a:r>
          </a:p>
        </p:txBody>
      </p:sp>
      <p:sp>
        <p:nvSpPr>
          <p:cNvPr id="138" name="TextBox 137"/>
          <p:cNvSpPr txBox="1"/>
          <p:nvPr/>
        </p:nvSpPr>
        <p:spPr>
          <a:xfrm>
            <a:off x="10744200" y="2843784"/>
            <a:ext cx="59436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1000" b="0" i="0">
                <a:solidFill>
                  <a:srgbClr val="CADCFC"/>
                </a:solidFill>
                <a:latin typeface="Arial"/>
              </a:rPr>
              <a:t>NR</a:t>
            </a:r>
          </a:p>
        </p:txBody>
      </p:sp>
      <p:sp>
        <p:nvSpPr>
          <p:cNvPr id="139" name="Rectangle 138"/>
          <p:cNvSpPr/>
          <p:nvPr/>
        </p:nvSpPr>
        <p:spPr>
          <a:xfrm>
            <a:off x="6355080" y="3127248"/>
            <a:ext cx="5029200" cy="329184"/>
          </a:xfrm>
          <a:prstGeom prst="rect">
            <a:avLst/>
          </a:prstGeom>
          <a:solidFill>
            <a:srgbClr val="12356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0" name="TextBox 139"/>
          <p:cNvSpPr txBox="1"/>
          <p:nvPr/>
        </p:nvSpPr>
        <p:spPr>
          <a:xfrm>
            <a:off x="6373368" y="3159252"/>
            <a:ext cx="41148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1300" b="1" i="0">
                <a:solidFill>
                  <a:srgbClr val="F47321"/>
                </a:solidFill>
                <a:latin typeface="Arial"/>
              </a:rPr>
              <a:t>18</a:t>
            </a:r>
          </a:p>
        </p:txBody>
      </p:sp>
      <p:sp>
        <p:nvSpPr>
          <p:cNvPr id="141" name="Oval 140"/>
          <p:cNvSpPr/>
          <p:nvPr/>
        </p:nvSpPr>
        <p:spPr>
          <a:xfrm>
            <a:off x="6903720" y="3163824"/>
            <a:ext cx="256032" cy="256032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42" name="Picture 141" descr="byu.png"/>
          <p:cNvPicPr>
            <a:picLocks noChangeAspect="1"/>
          </p:cNvPicPr>
          <p:nvPr/>
        </p:nvPicPr>
        <p:blipFill>
          <a:blip r:embed="rId19"/>
          <a:stretch>
            <a:fillRect/>
          </a:stretch>
        </p:blipFill>
        <p:spPr>
          <a:xfrm>
            <a:off x="6931152" y="3191256"/>
            <a:ext cx="201168" cy="201168"/>
          </a:xfrm>
          <a:prstGeom prst="rect">
            <a:avLst/>
          </a:prstGeom>
        </p:spPr>
      </p:pic>
      <p:sp>
        <p:nvSpPr>
          <p:cNvPr id="143" name="TextBox 142"/>
          <p:cNvSpPr txBox="1"/>
          <p:nvPr/>
        </p:nvSpPr>
        <p:spPr>
          <a:xfrm>
            <a:off x="7269480" y="3159252"/>
            <a:ext cx="210312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250" b="1" i="0">
                <a:solidFill>
                  <a:srgbClr val="FFFFFF"/>
                </a:solidFill>
                <a:latin typeface="Arial"/>
              </a:rPr>
              <a:t>BYU</a:t>
            </a:r>
          </a:p>
        </p:txBody>
      </p:sp>
      <p:sp>
        <p:nvSpPr>
          <p:cNvPr id="144" name="TextBox 143"/>
          <p:cNvSpPr txBox="1"/>
          <p:nvPr/>
        </p:nvSpPr>
        <p:spPr>
          <a:xfrm>
            <a:off x="9372600" y="3159252"/>
            <a:ext cx="6858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1250" b="0" i="0">
                <a:solidFill>
                  <a:srgbClr val="FFFFFF"/>
                </a:solidFill>
                <a:latin typeface="Arial"/>
              </a:rPr>
              <a:t>13.1</a:t>
            </a:r>
          </a:p>
        </p:txBody>
      </p:sp>
      <p:sp>
        <p:nvSpPr>
          <p:cNvPr id="145" name="TextBox 144"/>
          <p:cNvSpPr txBox="1"/>
          <p:nvPr/>
        </p:nvSpPr>
        <p:spPr>
          <a:xfrm>
            <a:off x="10058400" y="3172968"/>
            <a:ext cx="6858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1100" b="0" i="0">
                <a:solidFill>
                  <a:srgbClr val="CADCFC"/>
                </a:solidFill>
                <a:latin typeface="Arial"/>
              </a:rPr>
              <a:t>0.0</a:t>
            </a:r>
          </a:p>
        </p:txBody>
      </p:sp>
      <p:sp>
        <p:nvSpPr>
          <p:cNvPr id="146" name="TextBox 145"/>
          <p:cNvSpPr txBox="1"/>
          <p:nvPr/>
        </p:nvSpPr>
        <p:spPr>
          <a:xfrm>
            <a:off x="10744200" y="3172968"/>
            <a:ext cx="59436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1000" b="0" i="0">
                <a:solidFill>
                  <a:srgbClr val="CADCFC"/>
                </a:solidFill>
                <a:latin typeface="Arial"/>
              </a:rPr>
              <a:t>AP 15</a:t>
            </a:r>
          </a:p>
        </p:txBody>
      </p:sp>
      <p:sp>
        <p:nvSpPr>
          <p:cNvPr id="147" name="TextBox 146"/>
          <p:cNvSpPr txBox="1"/>
          <p:nvPr/>
        </p:nvSpPr>
        <p:spPr>
          <a:xfrm>
            <a:off x="6373368" y="3488436"/>
            <a:ext cx="41148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1300" b="1" i="0">
                <a:solidFill>
                  <a:srgbClr val="F47321"/>
                </a:solidFill>
                <a:latin typeface="Arial"/>
              </a:rPr>
              <a:t>19</a:t>
            </a:r>
          </a:p>
        </p:txBody>
      </p:sp>
      <p:sp>
        <p:nvSpPr>
          <p:cNvPr id="148" name="Oval 147"/>
          <p:cNvSpPr/>
          <p:nvPr/>
        </p:nvSpPr>
        <p:spPr>
          <a:xfrm>
            <a:off x="6903720" y="3493008"/>
            <a:ext cx="256032" cy="256032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49" name="Picture 148" descr="missouri.png"/>
          <p:cNvPicPr>
            <a:picLocks noChangeAspect="1"/>
          </p:cNvPicPr>
          <p:nvPr/>
        </p:nvPicPr>
        <p:blipFill>
          <a:blip r:embed="rId20"/>
          <a:stretch>
            <a:fillRect/>
          </a:stretch>
        </p:blipFill>
        <p:spPr>
          <a:xfrm>
            <a:off x="6931152" y="3520439"/>
            <a:ext cx="201168" cy="201168"/>
          </a:xfrm>
          <a:prstGeom prst="rect">
            <a:avLst/>
          </a:prstGeom>
        </p:spPr>
      </p:pic>
      <p:sp>
        <p:nvSpPr>
          <p:cNvPr id="150" name="TextBox 149"/>
          <p:cNvSpPr txBox="1"/>
          <p:nvPr/>
        </p:nvSpPr>
        <p:spPr>
          <a:xfrm>
            <a:off x="7269480" y="3488436"/>
            <a:ext cx="210312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250" b="1" i="0">
                <a:solidFill>
                  <a:srgbClr val="FFFFFF"/>
                </a:solidFill>
                <a:latin typeface="Arial"/>
              </a:rPr>
              <a:t>Missouri</a:t>
            </a:r>
          </a:p>
        </p:txBody>
      </p:sp>
      <p:sp>
        <p:nvSpPr>
          <p:cNvPr id="151" name="TextBox 150"/>
          <p:cNvSpPr txBox="1"/>
          <p:nvPr/>
        </p:nvSpPr>
        <p:spPr>
          <a:xfrm>
            <a:off x="9372600" y="3488436"/>
            <a:ext cx="6858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1250" b="0" i="0">
                <a:solidFill>
                  <a:srgbClr val="FFFFFF"/>
                </a:solidFill>
                <a:latin typeface="Arial"/>
              </a:rPr>
              <a:t>12.2</a:t>
            </a:r>
          </a:p>
        </p:txBody>
      </p:sp>
      <p:sp>
        <p:nvSpPr>
          <p:cNvPr id="152" name="TextBox 151"/>
          <p:cNvSpPr txBox="1"/>
          <p:nvPr/>
        </p:nvSpPr>
        <p:spPr>
          <a:xfrm>
            <a:off x="10058400" y="3502151"/>
            <a:ext cx="6858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1100" b="0" i="0">
                <a:solidFill>
                  <a:srgbClr val="CADCFC"/>
                </a:solidFill>
                <a:latin typeface="Arial"/>
              </a:rPr>
              <a:t>0.0</a:t>
            </a:r>
          </a:p>
        </p:txBody>
      </p:sp>
      <p:sp>
        <p:nvSpPr>
          <p:cNvPr id="153" name="TextBox 152"/>
          <p:cNvSpPr txBox="1"/>
          <p:nvPr/>
        </p:nvSpPr>
        <p:spPr>
          <a:xfrm>
            <a:off x="10744200" y="3502151"/>
            <a:ext cx="59436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1000" b="0" i="0">
                <a:solidFill>
                  <a:srgbClr val="CADCFC"/>
                </a:solidFill>
                <a:latin typeface="Arial"/>
              </a:rPr>
              <a:t>AP 23</a:t>
            </a:r>
          </a:p>
        </p:txBody>
      </p:sp>
      <p:sp>
        <p:nvSpPr>
          <p:cNvPr id="154" name="Rectangle 153"/>
          <p:cNvSpPr/>
          <p:nvPr/>
        </p:nvSpPr>
        <p:spPr>
          <a:xfrm>
            <a:off x="6355080" y="3785616"/>
            <a:ext cx="5029200" cy="329184"/>
          </a:xfrm>
          <a:prstGeom prst="rect">
            <a:avLst/>
          </a:prstGeom>
          <a:solidFill>
            <a:srgbClr val="12356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5" name="TextBox 154"/>
          <p:cNvSpPr txBox="1"/>
          <p:nvPr/>
        </p:nvSpPr>
        <p:spPr>
          <a:xfrm>
            <a:off x="6373368" y="3817620"/>
            <a:ext cx="41148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1300" b="1" i="0">
                <a:solidFill>
                  <a:srgbClr val="F47321"/>
                </a:solidFill>
                <a:latin typeface="Arial"/>
              </a:rPr>
              <a:t>20</a:t>
            </a:r>
          </a:p>
        </p:txBody>
      </p:sp>
      <p:sp>
        <p:nvSpPr>
          <p:cNvPr id="156" name="Oval 155"/>
          <p:cNvSpPr/>
          <p:nvPr/>
        </p:nvSpPr>
        <p:spPr>
          <a:xfrm>
            <a:off x="6903720" y="3822192"/>
            <a:ext cx="256032" cy="256032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57" name="Picture 156" descr="virginia.png"/>
          <p:cNvPicPr>
            <a:picLocks noChangeAspect="1"/>
          </p:cNvPicPr>
          <p:nvPr/>
        </p:nvPicPr>
        <p:blipFill>
          <a:blip r:embed="rId21"/>
          <a:stretch>
            <a:fillRect/>
          </a:stretch>
        </p:blipFill>
        <p:spPr>
          <a:xfrm>
            <a:off x="6931152" y="3849624"/>
            <a:ext cx="201168" cy="201168"/>
          </a:xfrm>
          <a:prstGeom prst="rect">
            <a:avLst/>
          </a:prstGeom>
        </p:spPr>
      </p:pic>
      <p:sp>
        <p:nvSpPr>
          <p:cNvPr id="158" name="TextBox 157"/>
          <p:cNvSpPr txBox="1"/>
          <p:nvPr/>
        </p:nvSpPr>
        <p:spPr>
          <a:xfrm>
            <a:off x="7269480" y="3817620"/>
            <a:ext cx="210312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250" b="1" i="0">
                <a:solidFill>
                  <a:srgbClr val="FFFFFF"/>
                </a:solidFill>
                <a:latin typeface="Arial"/>
              </a:rPr>
              <a:t>Virginia</a:t>
            </a:r>
          </a:p>
        </p:txBody>
      </p:sp>
      <p:sp>
        <p:nvSpPr>
          <p:cNvPr id="159" name="TextBox 158"/>
          <p:cNvSpPr txBox="1"/>
          <p:nvPr/>
        </p:nvSpPr>
        <p:spPr>
          <a:xfrm>
            <a:off x="9372600" y="3817620"/>
            <a:ext cx="6858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1250" b="0" i="0">
                <a:solidFill>
                  <a:srgbClr val="FFFFFF"/>
                </a:solidFill>
                <a:latin typeface="Arial"/>
              </a:rPr>
              <a:t>11.8</a:t>
            </a:r>
          </a:p>
        </p:txBody>
      </p:sp>
      <p:sp>
        <p:nvSpPr>
          <p:cNvPr id="160" name="TextBox 159"/>
          <p:cNvSpPr txBox="1"/>
          <p:nvPr/>
        </p:nvSpPr>
        <p:spPr>
          <a:xfrm>
            <a:off x="10058400" y="3831336"/>
            <a:ext cx="6858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1100" b="1" i="0">
                <a:solidFill>
                  <a:srgbClr val="5CD68A"/>
                </a:solidFill>
                <a:latin typeface="Arial"/>
              </a:rPr>
              <a:t>+3.9</a:t>
            </a:r>
          </a:p>
        </p:txBody>
      </p:sp>
      <p:sp>
        <p:nvSpPr>
          <p:cNvPr id="161" name="TextBox 160"/>
          <p:cNvSpPr txBox="1"/>
          <p:nvPr/>
        </p:nvSpPr>
        <p:spPr>
          <a:xfrm>
            <a:off x="10744200" y="3831336"/>
            <a:ext cx="59436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1000" b="0" i="0">
                <a:solidFill>
                  <a:srgbClr val="CADCFC"/>
                </a:solidFill>
                <a:latin typeface="Arial"/>
              </a:rPr>
              <a:t>AP 25</a:t>
            </a:r>
          </a:p>
        </p:txBody>
      </p:sp>
      <p:sp>
        <p:nvSpPr>
          <p:cNvPr id="162" name="TextBox 161"/>
          <p:cNvSpPr txBox="1"/>
          <p:nvPr/>
        </p:nvSpPr>
        <p:spPr>
          <a:xfrm>
            <a:off x="6373368" y="4146804"/>
            <a:ext cx="41148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1300" b="1" i="0">
                <a:solidFill>
                  <a:srgbClr val="F47321"/>
                </a:solidFill>
                <a:latin typeface="Arial"/>
              </a:rPr>
              <a:t>21</a:t>
            </a:r>
          </a:p>
        </p:txBody>
      </p:sp>
      <p:sp>
        <p:nvSpPr>
          <p:cNvPr id="163" name="Oval 162"/>
          <p:cNvSpPr/>
          <p:nvPr/>
        </p:nvSpPr>
        <p:spPr>
          <a:xfrm>
            <a:off x="6903720" y="4151376"/>
            <a:ext cx="256032" cy="256032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64" name="Picture 163" descr="michigan.png"/>
          <p:cNvPicPr>
            <a:picLocks noChangeAspect="1"/>
          </p:cNvPicPr>
          <p:nvPr/>
        </p:nvPicPr>
        <p:blipFill>
          <a:blip r:embed="rId22"/>
          <a:stretch>
            <a:fillRect/>
          </a:stretch>
        </p:blipFill>
        <p:spPr>
          <a:xfrm>
            <a:off x="6931152" y="4178808"/>
            <a:ext cx="201168" cy="201168"/>
          </a:xfrm>
          <a:prstGeom prst="rect">
            <a:avLst/>
          </a:prstGeom>
        </p:spPr>
      </p:pic>
      <p:sp>
        <p:nvSpPr>
          <p:cNvPr id="165" name="TextBox 164"/>
          <p:cNvSpPr txBox="1"/>
          <p:nvPr/>
        </p:nvSpPr>
        <p:spPr>
          <a:xfrm>
            <a:off x="7269480" y="4146804"/>
            <a:ext cx="210312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250" b="1" i="0">
                <a:solidFill>
                  <a:srgbClr val="FFFFFF"/>
                </a:solidFill>
                <a:latin typeface="Arial"/>
              </a:rPr>
              <a:t>Michigan</a:t>
            </a:r>
          </a:p>
        </p:txBody>
      </p:sp>
      <p:sp>
        <p:nvSpPr>
          <p:cNvPr id="166" name="TextBox 165"/>
          <p:cNvSpPr txBox="1"/>
          <p:nvPr/>
        </p:nvSpPr>
        <p:spPr>
          <a:xfrm>
            <a:off x="9372600" y="4146804"/>
            <a:ext cx="6858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1250" b="0" i="0">
                <a:solidFill>
                  <a:srgbClr val="FFFFFF"/>
                </a:solidFill>
                <a:latin typeface="Arial"/>
              </a:rPr>
              <a:t>11.6</a:t>
            </a:r>
          </a:p>
        </p:txBody>
      </p:sp>
      <p:sp>
        <p:nvSpPr>
          <p:cNvPr id="167" name="TextBox 166"/>
          <p:cNvSpPr txBox="1"/>
          <p:nvPr/>
        </p:nvSpPr>
        <p:spPr>
          <a:xfrm>
            <a:off x="10058400" y="4160520"/>
            <a:ext cx="6858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1100" b="1" i="0">
                <a:solidFill>
                  <a:srgbClr val="FF7A7A"/>
                </a:solidFill>
                <a:latin typeface="Arial"/>
              </a:rPr>
              <a:t>-4.3</a:t>
            </a:r>
          </a:p>
        </p:txBody>
      </p:sp>
      <p:sp>
        <p:nvSpPr>
          <p:cNvPr id="168" name="TextBox 167"/>
          <p:cNvSpPr txBox="1"/>
          <p:nvPr/>
        </p:nvSpPr>
        <p:spPr>
          <a:xfrm>
            <a:off x="10744200" y="4160520"/>
            <a:ext cx="59436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1000" b="0" i="0">
                <a:solidFill>
                  <a:srgbClr val="CADCFC"/>
                </a:solidFill>
                <a:latin typeface="Arial"/>
              </a:rPr>
              <a:t>NR</a:t>
            </a:r>
          </a:p>
        </p:txBody>
      </p:sp>
      <p:sp>
        <p:nvSpPr>
          <p:cNvPr id="169" name="Rectangle 168"/>
          <p:cNvSpPr/>
          <p:nvPr/>
        </p:nvSpPr>
        <p:spPr>
          <a:xfrm>
            <a:off x="6355080" y="4443983"/>
            <a:ext cx="5029200" cy="329184"/>
          </a:xfrm>
          <a:prstGeom prst="rect">
            <a:avLst/>
          </a:prstGeom>
          <a:solidFill>
            <a:srgbClr val="12356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0" name="TextBox 169"/>
          <p:cNvSpPr txBox="1"/>
          <p:nvPr/>
        </p:nvSpPr>
        <p:spPr>
          <a:xfrm>
            <a:off x="6373368" y="4475988"/>
            <a:ext cx="41148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1300" b="1" i="0">
                <a:solidFill>
                  <a:srgbClr val="F47321"/>
                </a:solidFill>
                <a:latin typeface="Arial"/>
              </a:rPr>
              <a:t>22</a:t>
            </a:r>
          </a:p>
        </p:txBody>
      </p:sp>
      <p:sp>
        <p:nvSpPr>
          <p:cNvPr id="171" name="Oval 170"/>
          <p:cNvSpPr/>
          <p:nvPr/>
        </p:nvSpPr>
        <p:spPr>
          <a:xfrm>
            <a:off x="6903720" y="4480559"/>
            <a:ext cx="256032" cy="256032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72" name="Picture 171" descr="smu.png"/>
          <p:cNvPicPr>
            <a:picLocks noChangeAspect="1"/>
          </p:cNvPicPr>
          <p:nvPr/>
        </p:nvPicPr>
        <p:blipFill>
          <a:blip r:embed="rId23"/>
          <a:stretch>
            <a:fillRect/>
          </a:stretch>
        </p:blipFill>
        <p:spPr>
          <a:xfrm>
            <a:off x="6931152" y="4507992"/>
            <a:ext cx="201168" cy="201168"/>
          </a:xfrm>
          <a:prstGeom prst="rect">
            <a:avLst/>
          </a:prstGeom>
        </p:spPr>
      </p:pic>
      <p:sp>
        <p:nvSpPr>
          <p:cNvPr id="173" name="TextBox 172"/>
          <p:cNvSpPr txBox="1"/>
          <p:nvPr/>
        </p:nvSpPr>
        <p:spPr>
          <a:xfrm>
            <a:off x="7269480" y="4475988"/>
            <a:ext cx="210312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250" b="1" i="0">
                <a:solidFill>
                  <a:srgbClr val="FFFFFF"/>
                </a:solidFill>
                <a:latin typeface="Arial"/>
              </a:rPr>
              <a:t>SMU</a:t>
            </a:r>
          </a:p>
        </p:txBody>
      </p:sp>
      <p:sp>
        <p:nvSpPr>
          <p:cNvPr id="174" name="TextBox 173"/>
          <p:cNvSpPr txBox="1"/>
          <p:nvPr/>
        </p:nvSpPr>
        <p:spPr>
          <a:xfrm>
            <a:off x="9372600" y="4475988"/>
            <a:ext cx="6858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1250" b="0" i="0">
                <a:solidFill>
                  <a:srgbClr val="FFFFFF"/>
                </a:solidFill>
                <a:latin typeface="Arial"/>
              </a:rPr>
              <a:t>11.4</a:t>
            </a:r>
          </a:p>
        </p:txBody>
      </p:sp>
      <p:sp>
        <p:nvSpPr>
          <p:cNvPr id="175" name="TextBox 174"/>
          <p:cNvSpPr txBox="1"/>
          <p:nvPr/>
        </p:nvSpPr>
        <p:spPr>
          <a:xfrm>
            <a:off x="10058400" y="4489703"/>
            <a:ext cx="6858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1100" b="1" i="0">
                <a:solidFill>
                  <a:srgbClr val="5CD68A"/>
                </a:solidFill>
                <a:latin typeface="Arial"/>
              </a:rPr>
              <a:t>+0.3</a:t>
            </a:r>
          </a:p>
        </p:txBody>
      </p:sp>
      <p:sp>
        <p:nvSpPr>
          <p:cNvPr id="176" name="TextBox 175"/>
          <p:cNvSpPr txBox="1"/>
          <p:nvPr/>
        </p:nvSpPr>
        <p:spPr>
          <a:xfrm>
            <a:off x="10744200" y="4489703"/>
            <a:ext cx="59436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1000" b="0" i="0">
                <a:solidFill>
                  <a:srgbClr val="CADCFC"/>
                </a:solidFill>
                <a:latin typeface="Arial"/>
              </a:rPr>
              <a:t>AP 17</a:t>
            </a:r>
          </a:p>
        </p:txBody>
      </p:sp>
      <p:sp>
        <p:nvSpPr>
          <p:cNvPr id="177" name="TextBox 176"/>
          <p:cNvSpPr txBox="1"/>
          <p:nvPr/>
        </p:nvSpPr>
        <p:spPr>
          <a:xfrm>
            <a:off x="6373368" y="4805172"/>
            <a:ext cx="41148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1300" b="1" i="0">
                <a:solidFill>
                  <a:srgbClr val="F47321"/>
                </a:solidFill>
                <a:latin typeface="Arial"/>
              </a:rPr>
              <a:t>23</a:t>
            </a:r>
          </a:p>
        </p:txBody>
      </p:sp>
      <p:sp>
        <p:nvSpPr>
          <p:cNvPr id="178" name="Oval 177"/>
          <p:cNvSpPr/>
          <p:nvPr/>
        </p:nvSpPr>
        <p:spPr>
          <a:xfrm>
            <a:off x="6903720" y="4809744"/>
            <a:ext cx="256032" cy="256032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79" name="Picture 178" descr="auburn.png"/>
          <p:cNvPicPr>
            <a:picLocks noChangeAspect="1"/>
          </p:cNvPicPr>
          <p:nvPr/>
        </p:nvPicPr>
        <p:blipFill>
          <a:blip r:embed="rId24"/>
          <a:stretch>
            <a:fillRect/>
          </a:stretch>
        </p:blipFill>
        <p:spPr>
          <a:xfrm>
            <a:off x="6931152" y="4837176"/>
            <a:ext cx="201168" cy="201168"/>
          </a:xfrm>
          <a:prstGeom prst="rect">
            <a:avLst/>
          </a:prstGeom>
        </p:spPr>
      </p:pic>
      <p:sp>
        <p:nvSpPr>
          <p:cNvPr id="180" name="TextBox 179"/>
          <p:cNvSpPr txBox="1"/>
          <p:nvPr/>
        </p:nvSpPr>
        <p:spPr>
          <a:xfrm>
            <a:off x="7269480" y="4805172"/>
            <a:ext cx="210312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250" b="1" i="0">
                <a:solidFill>
                  <a:srgbClr val="FFFFFF"/>
                </a:solidFill>
                <a:latin typeface="Arial"/>
              </a:rPr>
              <a:t>Auburn</a:t>
            </a:r>
          </a:p>
        </p:txBody>
      </p:sp>
      <p:sp>
        <p:nvSpPr>
          <p:cNvPr id="181" name="TextBox 180"/>
          <p:cNvSpPr txBox="1"/>
          <p:nvPr/>
        </p:nvSpPr>
        <p:spPr>
          <a:xfrm>
            <a:off x="9372600" y="4805172"/>
            <a:ext cx="6858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1250" b="0" i="0">
                <a:solidFill>
                  <a:srgbClr val="FFFFFF"/>
                </a:solidFill>
                <a:latin typeface="Arial"/>
              </a:rPr>
              <a:t>11.1</a:t>
            </a:r>
          </a:p>
        </p:txBody>
      </p:sp>
      <p:sp>
        <p:nvSpPr>
          <p:cNvPr id="182" name="TextBox 181"/>
          <p:cNvSpPr txBox="1"/>
          <p:nvPr/>
        </p:nvSpPr>
        <p:spPr>
          <a:xfrm>
            <a:off x="10058400" y="4818888"/>
            <a:ext cx="6858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1100" b="1" i="0">
                <a:solidFill>
                  <a:srgbClr val="FF7A7A"/>
                </a:solidFill>
                <a:latin typeface="Arial"/>
              </a:rPr>
              <a:t>-0.9</a:t>
            </a:r>
          </a:p>
        </p:txBody>
      </p:sp>
      <p:sp>
        <p:nvSpPr>
          <p:cNvPr id="183" name="TextBox 182"/>
          <p:cNvSpPr txBox="1"/>
          <p:nvPr/>
        </p:nvSpPr>
        <p:spPr>
          <a:xfrm>
            <a:off x="10744200" y="4818888"/>
            <a:ext cx="59436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1000" b="0" i="0">
                <a:solidFill>
                  <a:srgbClr val="CADCFC"/>
                </a:solidFill>
                <a:latin typeface="Arial"/>
              </a:rPr>
              <a:t>NR</a:t>
            </a:r>
          </a:p>
        </p:txBody>
      </p:sp>
      <p:sp>
        <p:nvSpPr>
          <p:cNvPr id="184" name="Rectangle 183"/>
          <p:cNvSpPr/>
          <p:nvPr/>
        </p:nvSpPr>
        <p:spPr>
          <a:xfrm>
            <a:off x="6355080" y="5102352"/>
            <a:ext cx="5029200" cy="329184"/>
          </a:xfrm>
          <a:prstGeom prst="rect">
            <a:avLst/>
          </a:prstGeom>
          <a:solidFill>
            <a:srgbClr val="12356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5" name="TextBox 184"/>
          <p:cNvSpPr txBox="1"/>
          <p:nvPr/>
        </p:nvSpPr>
        <p:spPr>
          <a:xfrm>
            <a:off x="6373368" y="5134356"/>
            <a:ext cx="41148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1300" b="1" i="0">
                <a:solidFill>
                  <a:srgbClr val="F47321"/>
                </a:solidFill>
                <a:latin typeface="Arial"/>
              </a:rPr>
              <a:t>24</a:t>
            </a:r>
          </a:p>
        </p:txBody>
      </p:sp>
      <p:sp>
        <p:nvSpPr>
          <p:cNvPr id="186" name="Oval 185"/>
          <p:cNvSpPr/>
          <p:nvPr/>
        </p:nvSpPr>
        <p:spPr>
          <a:xfrm>
            <a:off x="6903720" y="5138928"/>
            <a:ext cx="256032" cy="256032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87" name="Picture 186" descr="southcarolina.png"/>
          <p:cNvPicPr>
            <a:picLocks noChangeAspect="1"/>
          </p:cNvPicPr>
          <p:nvPr/>
        </p:nvPicPr>
        <p:blipFill>
          <a:blip r:embed="rId25"/>
          <a:stretch>
            <a:fillRect/>
          </a:stretch>
        </p:blipFill>
        <p:spPr>
          <a:xfrm>
            <a:off x="6931152" y="5166360"/>
            <a:ext cx="201168" cy="201168"/>
          </a:xfrm>
          <a:prstGeom prst="rect">
            <a:avLst/>
          </a:prstGeom>
        </p:spPr>
      </p:pic>
      <p:sp>
        <p:nvSpPr>
          <p:cNvPr id="188" name="TextBox 187"/>
          <p:cNvSpPr txBox="1"/>
          <p:nvPr/>
        </p:nvSpPr>
        <p:spPr>
          <a:xfrm>
            <a:off x="7269480" y="5134356"/>
            <a:ext cx="210312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250" b="1" i="0">
                <a:solidFill>
                  <a:srgbClr val="FFFFFF"/>
                </a:solidFill>
                <a:latin typeface="Arial"/>
              </a:rPr>
              <a:t>South Carolina</a:t>
            </a:r>
          </a:p>
        </p:txBody>
      </p:sp>
      <p:sp>
        <p:nvSpPr>
          <p:cNvPr id="189" name="TextBox 188"/>
          <p:cNvSpPr txBox="1"/>
          <p:nvPr/>
        </p:nvSpPr>
        <p:spPr>
          <a:xfrm>
            <a:off x="9372600" y="5134356"/>
            <a:ext cx="6858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1250" b="0" i="0">
                <a:solidFill>
                  <a:srgbClr val="FFFFFF"/>
                </a:solidFill>
                <a:latin typeface="Arial"/>
              </a:rPr>
              <a:t>10.9</a:t>
            </a:r>
          </a:p>
        </p:txBody>
      </p:sp>
      <p:sp>
        <p:nvSpPr>
          <p:cNvPr id="190" name="TextBox 189"/>
          <p:cNvSpPr txBox="1"/>
          <p:nvPr/>
        </p:nvSpPr>
        <p:spPr>
          <a:xfrm>
            <a:off x="10058400" y="5148072"/>
            <a:ext cx="6858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1100" b="1" i="0">
                <a:solidFill>
                  <a:srgbClr val="FF7A7A"/>
                </a:solidFill>
                <a:latin typeface="Arial"/>
              </a:rPr>
              <a:t>-0.8</a:t>
            </a:r>
          </a:p>
        </p:txBody>
      </p:sp>
      <p:sp>
        <p:nvSpPr>
          <p:cNvPr id="191" name="TextBox 190"/>
          <p:cNvSpPr txBox="1"/>
          <p:nvPr/>
        </p:nvSpPr>
        <p:spPr>
          <a:xfrm>
            <a:off x="10744200" y="5148072"/>
            <a:ext cx="59436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1000" b="0" i="0">
                <a:solidFill>
                  <a:srgbClr val="CADCFC"/>
                </a:solidFill>
                <a:latin typeface="Arial"/>
              </a:rPr>
              <a:t>NR</a:t>
            </a:r>
          </a:p>
        </p:txBody>
      </p:sp>
      <p:sp>
        <p:nvSpPr>
          <p:cNvPr id="192" name="TextBox 191"/>
          <p:cNvSpPr txBox="1"/>
          <p:nvPr/>
        </p:nvSpPr>
        <p:spPr>
          <a:xfrm>
            <a:off x="6373368" y="5463540"/>
            <a:ext cx="41148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1300" b="1" i="0">
                <a:solidFill>
                  <a:srgbClr val="F47321"/>
                </a:solidFill>
                <a:latin typeface="Arial"/>
              </a:rPr>
              <a:t>25</a:t>
            </a:r>
          </a:p>
        </p:txBody>
      </p:sp>
      <p:sp>
        <p:nvSpPr>
          <p:cNvPr id="193" name="Oval 192"/>
          <p:cNvSpPr/>
          <p:nvPr/>
        </p:nvSpPr>
        <p:spPr>
          <a:xfrm>
            <a:off x="6903720" y="5468112"/>
            <a:ext cx="256032" cy="256032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94" name="Picture 193" descr="iowa.png"/>
          <p:cNvPicPr>
            <a:picLocks noChangeAspect="1"/>
          </p:cNvPicPr>
          <p:nvPr/>
        </p:nvPicPr>
        <p:blipFill>
          <a:blip r:embed="rId26"/>
          <a:stretch>
            <a:fillRect/>
          </a:stretch>
        </p:blipFill>
        <p:spPr>
          <a:xfrm>
            <a:off x="6931152" y="5495544"/>
            <a:ext cx="201168" cy="201168"/>
          </a:xfrm>
          <a:prstGeom prst="rect">
            <a:avLst/>
          </a:prstGeom>
        </p:spPr>
      </p:pic>
      <p:sp>
        <p:nvSpPr>
          <p:cNvPr id="195" name="TextBox 194"/>
          <p:cNvSpPr txBox="1"/>
          <p:nvPr/>
        </p:nvSpPr>
        <p:spPr>
          <a:xfrm>
            <a:off x="7269480" y="5463540"/>
            <a:ext cx="210312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250" b="1" i="0">
                <a:solidFill>
                  <a:srgbClr val="FFFFFF"/>
                </a:solidFill>
                <a:latin typeface="Arial"/>
              </a:rPr>
              <a:t>Iowa</a:t>
            </a:r>
          </a:p>
        </p:txBody>
      </p:sp>
      <p:sp>
        <p:nvSpPr>
          <p:cNvPr id="196" name="TextBox 195"/>
          <p:cNvSpPr txBox="1"/>
          <p:nvPr/>
        </p:nvSpPr>
        <p:spPr>
          <a:xfrm>
            <a:off x="9372600" y="5463540"/>
            <a:ext cx="6858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1250" b="0" i="0">
                <a:solidFill>
                  <a:srgbClr val="FFFFFF"/>
                </a:solidFill>
                <a:latin typeface="Arial"/>
              </a:rPr>
              <a:t>10.7</a:t>
            </a:r>
          </a:p>
        </p:txBody>
      </p:sp>
      <p:sp>
        <p:nvSpPr>
          <p:cNvPr id="197" name="TextBox 196"/>
          <p:cNvSpPr txBox="1"/>
          <p:nvPr/>
        </p:nvSpPr>
        <p:spPr>
          <a:xfrm>
            <a:off x="10058400" y="5477255"/>
            <a:ext cx="6858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1100" b="1" i="0">
                <a:solidFill>
                  <a:srgbClr val="5CD68A"/>
                </a:solidFill>
                <a:latin typeface="Arial"/>
              </a:rPr>
              <a:t>+0.1</a:t>
            </a:r>
          </a:p>
        </p:txBody>
      </p:sp>
      <p:sp>
        <p:nvSpPr>
          <p:cNvPr id="198" name="TextBox 197"/>
          <p:cNvSpPr txBox="1"/>
          <p:nvPr/>
        </p:nvSpPr>
        <p:spPr>
          <a:xfrm>
            <a:off x="10744200" y="5477255"/>
            <a:ext cx="59436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1000" b="0" i="0">
                <a:solidFill>
                  <a:srgbClr val="CADCFC"/>
                </a:solidFill>
                <a:latin typeface="Arial"/>
              </a:rPr>
              <a:t>AP 21</a:t>
            </a:r>
          </a:p>
        </p:txBody>
      </p:sp>
      <p:sp>
        <p:nvSpPr>
          <p:cNvPr id="199" name="Rounded Rectangle 198"/>
          <p:cNvSpPr/>
          <p:nvPr/>
        </p:nvSpPr>
        <p:spPr>
          <a:xfrm>
            <a:off x="822960" y="6163056"/>
            <a:ext cx="10561320" cy="566928"/>
          </a:xfrm>
          <a:prstGeom prst="roundRect">
            <a:avLst/>
          </a:prstGeom>
          <a:solidFill>
            <a:srgbClr val="12356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0" name="TextBox 199"/>
          <p:cNvSpPr txBox="1"/>
          <p:nvPr/>
        </p:nvSpPr>
        <p:spPr>
          <a:xfrm>
            <a:off x="1005840" y="6217920"/>
            <a:ext cx="10241280" cy="25603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950" b="1" i="0">
                <a:solidFill>
                  <a:srgbClr val="FFFFFF"/>
                </a:solidFill>
                <a:latin typeface="Arial"/>
              </a:rPr>
              <a:t>Biggest splits with the voters: Virginia (machine #20, AP #25) · SMU (machine #22, AP #17) · Ole Miss (machine #13, AP #9) · Missouri (machine #19, AP #23)</a:t>
            </a:r>
          </a:p>
        </p:txBody>
      </p:sp>
      <p:sp>
        <p:nvSpPr>
          <p:cNvPr id="201" name="TextBox 200"/>
          <p:cNvSpPr txBox="1"/>
          <p:nvPr/>
        </p:nvSpPr>
        <p:spPr>
          <a:xfrm>
            <a:off x="1005840" y="6455664"/>
            <a:ext cx="10241280" cy="25603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950" b="0" i="0">
                <a:solidFill>
                  <a:srgbClr val="CADCFC"/>
                </a:solidFill>
                <a:latin typeface="Arial"/>
              </a:rPr>
              <a:t>In our 25, not theirs: Florida, Michigan, Auburn, South Carolina   |   In theirs, not ours: Washington (AP 19), Utah (AP 20), Houston (AP 22), Louisville (AP 24)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2851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822960" y="384048"/>
            <a:ext cx="1051560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400" b="1" i="0">
                <a:solidFill>
                  <a:srgbClr val="F47321"/>
                </a:solidFill>
                <a:latin typeface="Arial"/>
              </a:rPr>
              <a:t>EPISODE 3 · WEEK 2 · THE SEAT BOARD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694944"/>
            <a:ext cx="10515600" cy="7315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4000" b="1" i="0">
                <a:solidFill>
                  <a:srgbClr val="FFFFFF"/>
                </a:solidFill>
                <a:latin typeface="Arial"/>
              </a:rPr>
              <a:t>Hot Seat Top 10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1371600"/>
            <a:ext cx="105156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50" b="0" i="1">
                <a:solidFill>
                  <a:srgbClr val="CADCFC"/>
                </a:solidFill>
                <a:latin typeface="Arial"/>
              </a:rPr>
              <a:t>seat score = 60% the man (CBS hot-seat rating 0–5, Aug 29) + 40% the machine (odds of missing the job-saving win total, from our season sim) · * = estimated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600200" y="1673352"/>
            <a:ext cx="2560320" cy="2011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800" b="1" i="0">
                <a:solidFill>
                  <a:srgbClr val="CADCFC"/>
                </a:solidFill>
                <a:latin typeface="Arial"/>
              </a:rPr>
              <a:t>COACH · SCHOOL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206240" y="1673352"/>
            <a:ext cx="1371600" cy="2011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800" b="1" i="0">
                <a:solidFill>
                  <a:srgbClr val="CADCFC"/>
                </a:solidFill>
                <a:latin typeface="Arial"/>
              </a:rPr>
              <a:t>TENURE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23560" y="1673352"/>
            <a:ext cx="502920" cy="2011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800" b="1" i="0">
                <a:solidFill>
                  <a:srgbClr val="CADCFC"/>
                </a:solidFill>
                <a:latin typeface="Arial"/>
              </a:rPr>
              <a:t>CBS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172200" y="1673352"/>
            <a:ext cx="502920" cy="2011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800" b="1" i="0">
                <a:solidFill>
                  <a:srgbClr val="CADCFC"/>
                </a:solidFill>
                <a:latin typeface="Arial"/>
              </a:rPr>
              <a:t>NEEDS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720840" y="1673352"/>
            <a:ext cx="640080" cy="2011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800" b="1" i="0">
                <a:solidFill>
                  <a:srgbClr val="CADCFC"/>
                </a:solidFill>
                <a:latin typeface="Arial"/>
              </a:rPr>
              <a:t>P(GETS IT)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406640" y="1673352"/>
            <a:ext cx="868680" cy="2011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800" b="1" i="0">
                <a:solidFill>
                  <a:srgbClr val="CADCFC"/>
                </a:solidFill>
                <a:latin typeface="Arial"/>
              </a:rPr>
              <a:t>MACHINE WINS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321040" y="1673352"/>
            <a:ext cx="457200" cy="2011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800" b="1" i="0">
                <a:solidFill>
                  <a:srgbClr val="CADCFC"/>
                </a:solidFill>
                <a:latin typeface="Arial"/>
              </a:rPr>
              <a:t>Δ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823960" y="1673352"/>
            <a:ext cx="502920" cy="2011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800" b="1" i="0">
                <a:solidFill>
                  <a:srgbClr val="CADCFC"/>
                </a:solidFill>
                <a:latin typeface="Arial"/>
              </a:rPr>
              <a:t>SCORE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418320" y="1673352"/>
            <a:ext cx="1920240" cy="2011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800" b="1" i="0">
                <a:solidFill>
                  <a:srgbClr val="CADCFC"/>
                </a:solidFill>
                <a:latin typeface="Arial"/>
              </a:rPr>
              <a:t>LAST RESULT</a:t>
            </a:r>
          </a:p>
        </p:txBody>
      </p:sp>
      <p:sp>
        <p:nvSpPr>
          <p:cNvPr id="14" name="Rectangle 13"/>
          <p:cNvSpPr/>
          <p:nvPr/>
        </p:nvSpPr>
        <p:spPr>
          <a:xfrm>
            <a:off x="822960" y="1901952"/>
            <a:ext cx="10515600" cy="365760"/>
          </a:xfrm>
          <a:prstGeom prst="rect">
            <a:avLst/>
          </a:prstGeom>
          <a:solidFill>
            <a:srgbClr val="12356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22960" y="1956816"/>
            <a:ext cx="36576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1300" b="1" i="0">
                <a:solidFill>
                  <a:srgbClr val="F47321"/>
                </a:solidFill>
                <a:latin typeface="Arial"/>
              </a:rPr>
              <a:t>1</a:t>
            </a:r>
          </a:p>
        </p:txBody>
      </p:sp>
      <p:sp>
        <p:nvSpPr>
          <p:cNvPr id="16" name="Oval 15"/>
          <p:cNvSpPr/>
          <p:nvPr/>
        </p:nvSpPr>
        <p:spPr>
          <a:xfrm>
            <a:off x="1234440" y="1947672"/>
            <a:ext cx="274320" cy="274320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7" name="Picture 16" descr="floridastat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66444" y="1979676"/>
            <a:ext cx="210312" cy="210312"/>
          </a:xfrm>
          <a:prstGeom prst="rect">
            <a:avLst/>
          </a:prstGeom>
        </p:spPr>
      </p:pic>
      <p:sp>
        <p:nvSpPr>
          <p:cNvPr id="18" name="TextBox 17"/>
          <p:cNvSpPr txBox="1"/>
          <p:nvPr/>
        </p:nvSpPr>
        <p:spPr>
          <a:xfrm>
            <a:off x="1600200" y="1956816"/>
            <a:ext cx="256032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200" b="1" i="0">
                <a:solidFill>
                  <a:srgbClr val="FFFFFF"/>
                </a:solidFill>
                <a:latin typeface="Arial"/>
              </a:rPr>
              <a:t>Mike Norvell · Florida State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206240" y="1984248"/>
            <a:ext cx="13716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850" b="0" i="0">
                <a:solidFill>
                  <a:srgbClr val="CADCFC"/>
                </a:solidFill>
                <a:latin typeface="Arial"/>
              </a:rPr>
              <a:t>38-34, yr 7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623560" y="1965960"/>
            <a:ext cx="50292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1100" b="1" i="0">
                <a:solidFill>
                  <a:srgbClr val="FFFFFF"/>
                </a:solidFill>
                <a:latin typeface="Arial"/>
              </a:rPr>
              <a:t>5.0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172200" y="1965960"/>
            <a:ext cx="50292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1100" b="0" i="0">
                <a:solidFill>
                  <a:srgbClr val="FFFFFF"/>
                </a:solidFill>
                <a:latin typeface="Arial"/>
              </a:rPr>
              <a:t>8 W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720840" y="1965960"/>
            <a:ext cx="64008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1100" b="1" i="0">
                <a:solidFill>
                  <a:srgbClr val="FF7A7A"/>
                </a:solidFill>
                <a:latin typeface="Arial"/>
              </a:rPr>
              <a:t>20%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406640" y="1965960"/>
            <a:ext cx="86868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1050" b="0" i="0">
                <a:solidFill>
                  <a:srgbClr val="FFFFFF"/>
                </a:solidFill>
                <a:latin typeface="Arial"/>
              </a:rPr>
              <a:t>6.2 (4–8)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321040" y="1984248"/>
            <a:ext cx="4572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1000" b="1" i="0">
                <a:solidFill>
                  <a:srgbClr val="FF7A7A"/>
                </a:solidFill>
                <a:latin typeface="Arial"/>
              </a:rPr>
              <a:t>-2.4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823960" y="1956816"/>
            <a:ext cx="50292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1250" b="1" i="0">
                <a:solidFill>
                  <a:srgbClr val="F47321"/>
                </a:solidFill>
                <a:latin typeface="Arial"/>
              </a:rPr>
              <a:t>92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9418320" y="1984248"/>
            <a:ext cx="192024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850" b="0" i="0">
                <a:solidFill>
                  <a:srgbClr val="CADCFC"/>
                </a:solidFill>
                <a:latin typeface="Arial"/>
              </a:rPr>
              <a:t>L 24-27 vs SMU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822960" y="2322576"/>
            <a:ext cx="36576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1300" b="1" i="0">
                <a:solidFill>
                  <a:srgbClr val="F47321"/>
                </a:solidFill>
                <a:latin typeface="Arial"/>
              </a:rPr>
              <a:t>2</a:t>
            </a:r>
          </a:p>
        </p:txBody>
      </p:sp>
      <p:sp>
        <p:nvSpPr>
          <p:cNvPr id="28" name="Oval 27"/>
          <p:cNvSpPr/>
          <p:nvPr/>
        </p:nvSpPr>
        <p:spPr>
          <a:xfrm>
            <a:off x="1234440" y="2313432"/>
            <a:ext cx="274320" cy="274320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9" name="Picture 28" descr="marylan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66444" y="2345436"/>
            <a:ext cx="210312" cy="210312"/>
          </a:xfrm>
          <a:prstGeom prst="rect">
            <a:avLst/>
          </a:prstGeom>
        </p:spPr>
      </p:pic>
      <p:sp>
        <p:nvSpPr>
          <p:cNvPr id="30" name="TextBox 29"/>
          <p:cNvSpPr txBox="1"/>
          <p:nvPr/>
        </p:nvSpPr>
        <p:spPr>
          <a:xfrm>
            <a:off x="1600200" y="2322576"/>
            <a:ext cx="256032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200" b="1" i="0">
                <a:solidFill>
                  <a:srgbClr val="FFFFFF"/>
                </a:solidFill>
                <a:latin typeface="Arial"/>
              </a:rPr>
              <a:t>Mike Locksley · Maryland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4206240" y="2350008"/>
            <a:ext cx="13716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850" b="0" i="0">
                <a:solidFill>
                  <a:srgbClr val="CADCFC"/>
                </a:solidFill>
                <a:latin typeface="Arial"/>
              </a:rPr>
              <a:t>37-49, yr 8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5623560" y="2331720"/>
            <a:ext cx="50292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1100" b="1" i="0">
                <a:solidFill>
                  <a:srgbClr val="FFFFFF"/>
                </a:solidFill>
                <a:latin typeface="Arial"/>
              </a:rPr>
              <a:t>4.9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6172200" y="2331720"/>
            <a:ext cx="50292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1100" b="0" i="0">
                <a:solidFill>
                  <a:srgbClr val="FFFFFF"/>
                </a:solidFill>
                <a:latin typeface="Arial"/>
              </a:rPr>
              <a:t>6 W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6720840" y="2331720"/>
            <a:ext cx="64008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1100" b="1" i="0">
                <a:solidFill>
                  <a:srgbClr val="FFFFFF"/>
                </a:solidFill>
                <a:latin typeface="Arial"/>
              </a:rPr>
              <a:t>50%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7406640" y="2331720"/>
            <a:ext cx="86868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1050" b="0" i="0">
                <a:solidFill>
                  <a:srgbClr val="FFFFFF"/>
                </a:solidFill>
                <a:latin typeface="Arial"/>
              </a:rPr>
              <a:t>5.5 (4–7)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8321040" y="2350008"/>
            <a:ext cx="4572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1000" b="0" i="0">
                <a:solidFill>
                  <a:srgbClr val="CADCFC"/>
                </a:solidFill>
                <a:latin typeface="Arial"/>
              </a:rPr>
              <a:t>0.0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8823960" y="2322576"/>
            <a:ext cx="50292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1250" b="1" i="0">
                <a:solidFill>
                  <a:srgbClr val="F47321"/>
                </a:solidFill>
                <a:latin typeface="Arial"/>
              </a:rPr>
              <a:t>79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9418320" y="2350008"/>
            <a:ext cx="192024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850" b="0" i="0">
                <a:solidFill>
                  <a:srgbClr val="CADCFC"/>
                </a:solidFill>
                <a:latin typeface="Arial"/>
              </a:rPr>
              <a:t>W 62-0 vs Hampton</a:t>
            </a:r>
          </a:p>
        </p:txBody>
      </p:sp>
      <p:sp>
        <p:nvSpPr>
          <p:cNvPr id="39" name="Rectangle 38"/>
          <p:cNvSpPr/>
          <p:nvPr/>
        </p:nvSpPr>
        <p:spPr>
          <a:xfrm>
            <a:off x="822960" y="2633472"/>
            <a:ext cx="10515600" cy="365760"/>
          </a:xfrm>
          <a:prstGeom prst="rect">
            <a:avLst/>
          </a:prstGeom>
          <a:solidFill>
            <a:srgbClr val="12356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822960" y="2688336"/>
            <a:ext cx="36576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1300" b="1" i="0">
                <a:solidFill>
                  <a:srgbClr val="F47321"/>
                </a:solidFill>
                <a:latin typeface="Arial"/>
              </a:rPr>
              <a:t>3</a:t>
            </a:r>
          </a:p>
        </p:txBody>
      </p:sp>
      <p:sp>
        <p:nvSpPr>
          <p:cNvPr id="41" name="Oval 40"/>
          <p:cNvSpPr/>
          <p:nvPr/>
        </p:nvSpPr>
        <p:spPr>
          <a:xfrm>
            <a:off x="1234440" y="2679191"/>
            <a:ext cx="274320" cy="274320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2" name="Picture 41" descr="baylor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266444" y="2711196"/>
            <a:ext cx="210312" cy="210312"/>
          </a:xfrm>
          <a:prstGeom prst="rect">
            <a:avLst/>
          </a:prstGeom>
        </p:spPr>
      </p:pic>
      <p:sp>
        <p:nvSpPr>
          <p:cNvPr id="43" name="TextBox 42"/>
          <p:cNvSpPr txBox="1"/>
          <p:nvPr/>
        </p:nvSpPr>
        <p:spPr>
          <a:xfrm>
            <a:off x="1600200" y="2688336"/>
            <a:ext cx="256032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200" b="1" i="0">
                <a:solidFill>
                  <a:srgbClr val="FFFFFF"/>
                </a:solidFill>
                <a:latin typeface="Arial"/>
              </a:rPr>
              <a:t>Dave Aranda · Baylor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4206240" y="2715768"/>
            <a:ext cx="13716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850" b="0" i="0">
                <a:solidFill>
                  <a:srgbClr val="CADCFC"/>
                </a:solidFill>
                <a:latin typeface="Arial"/>
              </a:rPr>
              <a:t>36-37, yr 7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5623560" y="2697479"/>
            <a:ext cx="50292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1100" b="1" i="0">
                <a:solidFill>
                  <a:srgbClr val="FFFFFF"/>
                </a:solidFill>
                <a:latin typeface="Arial"/>
              </a:rPr>
              <a:t>5.0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6172200" y="2697479"/>
            <a:ext cx="50292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1100" b="0" i="0">
                <a:solidFill>
                  <a:srgbClr val="FFFFFF"/>
                </a:solidFill>
                <a:latin typeface="Arial"/>
              </a:rPr>
              <a:t>7 W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6720840" y="2697479"/>
            <a:ext cx="64008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1100" b="1" i="0">
                <a:solidFill>
                  <a:srgbClr val="5CD68A"/>
                </a:solidFill>
                <a:latin typeface="Arial"/>
              </a:rPr>
              <a:t>63%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7406640" y="2697479"/>
            <a:ext cx="86868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1050" b="0" i="0">
                <a:solidFill>
                  <a:srgbClr val="FFFFFF"/>
                </a:solidFill>
                <a:latin typeface="Arial"/>
              </a:rPr>
              <a:t>7.0 (5–9)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8321040" y="2715768"/>
            <a:ext cx="4572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1000" b="1" i="0">
                <a:solidFill>
                  <a:srgbClr val="5CD68A"/>
                </a:solidFill>
                <a:latin typeface="Arial"/>
              </a:rPr>
              <a:t>+0.9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8823960" y="2688336"/>
            <a:ext cx="50292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1250" b="1" i="0">
                <a:solidFill>
                  <a:srgbClr val="F47321"/>
                </a:solidFill>
                <a:latin typeface="Arial"/>
              </a:rPr>
              <a:t>75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9418320" y="2715768"/>
            <a:ext cx="192024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850" b="0" i="0">
                <a:solidFill>
                  <a:srgbClr val="CADCFC"/>
                </a:solidFill>
                <a:latin typeface="Arial"/>
              </a:rPr>
              <a:t>L 16-17 at Auburn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822960" y="3054096"/>
            <a:ext cx="36576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1300" b="1" i="0">
                <a:solidFill>
                  <a:srgbClr val="F47321"/>
                </a:solidFill>
                <a:latin typeface="Arial"/>
              </a:rPr>
              <a:t>4</a:t>
            </a:r>
          </a:p>
        </p:txBody>
      </p:sp>
      <p:sp>
        <p:nvSpPr>
          <p:cNvPr id="53" name="Oval 52"/>
          <p:cNvSpPr/>
          <p:nvPr/>
        </p:nvSpPr>
        <p:spPr>
          <a:xfrm>
            <a:off x="1234440" y="3044952"/>
            <a:ext cx="274320" cy="274320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4" name="Picture 53" descr="rutgers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266444" y="3076956"/>
            <a:ext cx="210312" cy="210312"/>
          </a:xfrm>
          <a:prstGeom prst="rect">
            <a:avLst/>
          </a:prstGeom>
        </p:spPr>
      </p:pic>
      <p:sp>
        <p:nvSpPr>
          <p:cNvPr id="55" name="TextBox 54"/>
          <p:cNvSpPr txBox="1"/>
          <p:nvPr/>
        </p:nvSpPr>
        <p:spPr>
          <a:xfrm>
            <a:off x="1600200" y="3054096"/>
            <a:ext cx="256032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200" b="1" i="0">
                <a:solidFill>
                  <a:srgbClr val="FFFFFF"/>
                </a:solidFill>
                <a:latin typeface="Arial"/>
              </a:rPr>
              <a:t>Greg Schiano · Rutgers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4206240" y="3081528"/>
            <a:ext cx="13716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850" b="0" i="0">
                <a:solidFill>
                  <a:srgbClr val="CADCFC"/>
                </a:solidFill>
                <a:latin typeface="Arial"/>
              </a:rPr>
              <a:t>31-41 2nd stint, yr 7</a:t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5623560" y="3063240"/>
            <a:ext cx="50292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1100" b="1" i="0">
                <a:solidFill>
                  <a:srgbClr val="FFFFFF"/>
                </a:solidFill>
                <a:latin typeface="Arial"/>
              </a:rPr>
              <a:t>3.0*</a:t>
            </a:r>
          </a:p>
        </p:txBody>
      </p:sp>
      <p:sp>
        <p:nvSpPr>
          <p:cNvPr id="58" name="TextBox 57"/>
          <p:cNvSpPr txBox="1"/>
          <p:nvPr/>
        </p:nvSpPr>
        <p:spPr>
          <a:xfrm>
            <a:off x="6172200" y="3063240"/>
            <a:ext cx="50292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1100" b="0" i="0">
                <a:solidFill>
                  <a:srgbClr val="FFFFFF"/>
                </a:solidFill>
                <a:latin typeface="Arial"/>
              </a:rPr>
              <a:t>6 W</a:t>
            </a:r>
          </a:p>
        </p:txBody>
      </p:sp>
      <p:sp>
        <p:nvSpPr>
          <p:cNvPr id="59" name="TextBox 58"/>
          <p:cNvSpPr txBox="1"/>
          <p:nvPr/>
        </p:nvSpPr>
        <p:spPr>
          <a:xfrm>
            <a:off x="6720840" y="3063240"/>
            <a:ext cx="64008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1100" b="1" i="0">
                <a:solidFill>
                  <a:srgbClr val="FF7A7A"/>
                </a:solidFill>
                <a:latin typeface="Arial"/>
              </a:rPr>
              <a:t>5%</a:t>
            </a:r>
          </a:p>
        </p:txBody>
      </p:sp>
      <p:sp>
        <p:nvSpPr>
          <p:cNvPr id="60" name="TextBox 59"/>
          <p:cNvSpPr txBox="1"/>
          <p:nvPr/>
        </p:nvSpPr>
        <p:spPr>
          <a:xfrm>
            <a:off x="7406640" y="3063240"/>
            <a:ext cx="86868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1050" b="0" i="0">
                <a:solidFill>
                  <a:srgbClr val="FFFFFF"/>
                </a:solidFill>
                <a:latin typeface="Arial"/>
              </a:rPr>
              <a:t>3.6 (2–5)</a:t>
            </a:r>
          </a:p>
        </p:txBody>
      </p:sp>
      <p:sp>
        <p:nvSpPr>
          <p:cNvPr id="61" name="TextBox 60"/>
          <p:cNvSpPr txBox="1"/>
          <p:nvPr/>
        </p:nvSpPr>
        <p:spPr>
          <a:xfrm>
            <a:off x="8321040" y="3081528"/>
            <a:ext cx="4572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1000" b="1" i="0">
                <a:solidFill>
                  <a:srgbClr val="FF7A7A"/>
                </a:solidFill>
                <a:latin typeface="Arial"/>
              </a:rPr>
              <a:t>-7.4</a:t>
            </a:r>
          </a:p>
        </p:txBody>
      </p:sp>
      <p:sp>
        <p:nvSpPr>
          <p:cNvPr id="62" name="TextBox 61"/>
          <p:cNvSpPr txBox="1"/>
          <p:nvPr/>
        </p:nvSpPr>
        <p:spPr>
          <a:xfrm>
            <a:off x="8823960" y="3054096"/>
            <a:ext cx="50292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1250" b="1" i="0">
                <a:solidFill>
                  <a:srgbClr val="F47321"/>
                </a:solidFill>
                <a:latin typeface="Arial"/>
              </a:rPr>
              <a:t>74</a:t>
            </a:r>
          </a:p>
        </p:txBody>
      </p:sp>
      <p:sp>
        <p:nvSpPr>
          <p:cNvPr id="63" name="TextBox 62"/>
          <p:cNvSpPr txBox="1"/>
          <p:nvPr/>
        </p:nvSpPr>
        <p:spPr>
          <a:xfrm>
            <a:off x="9418320" y="3081528"/>
            <a:ext cx="192024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850" b="0" i="0">
                <a:solidFill>
                  <a:srgbClr val="CADCFC"/>
                </a:solidFill>
                <a:latin typeface="Arial"/>
              </a:rPr>
              <a:t>L 21-37 vs Massachusetts</a:t>
            </a:r>
          </a:p>
        </p:txBody>
      </p:sp>
      <p:sp>
        <p:nvSpPr>
          <p:cNvPr id="64" name="Rectangle 63"/>
          <p:cNvSpPr/>
          <p:nvPr/>
        </p:nvSpPr>
        <p:spPr>
          <a:xfrm>
            <a:off x="822960" y="3364992"/>
            <a:ext cx="10515600" cy="365760"/>
          </a:xfrm>
          <a:prstGeom prst="rect">
            <a:avLst/>
          </a:prstGeom>
          <a:solidFill>
            <a:srgbClr val="12356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5" name="TextBox 64"/>
          <p:cNvSpPr txBox="1"/>
          <p:nvPr/>
        </p:nvSpPr>
        <p:spPr>
          <a:xfrm>
            <a:off x="822960" y="3419856"/>
            <a:ext cx="36576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1300" b="1" i="0">
                <a:solidFill>
                  <a:srgbClr val="F47321"/>
                </a:solidFill>
                <a:latin typeface="Arial"/>
              </a:rPr>
              <a:t>5</a:t>
            </a:r>
          </a:p>
        </p:txBody>
      </p:sp>
      <p:sp>
        <p:nvSpPr>
          <p:cNvPr id="66" name="Oval 65"/>
          <p:cNvSpPr/>
          <p:nvPr/>
        </p:nvSpPr>
        <p:spPr>
          <a:xfrm>
            <a:off x="1234440" y="3410712"/>
            <a:ext cx="274320" cy="274320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67" name="Picture 66" descr="wisconsin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266444" y="3442716"/>
            <a:ext cx="210312" cy="210312"/>
          </a:xfrm>
          <a:prstGeom prst="rect">
            <a:avLst/>
          </a:prstGeom>
        </p:spPr>
      </p:pic>
      <p:sp>
        <p:nvSpPr>
          <p:cNvPr id="68" name="TextBox 67"/>
          <p:cNvSpPr txBox="1"/>
          <p:nvPr/>
        </p:nvSpPr>
        <p:spPr>
          <a:xfrm>
            <a:off x="1600200" y="3419856"/>
            <a:ext cx="256032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200" b="1" i="0">
                <a:solidFill>
                  <a:srgbClr val="FFFFFF"/>
                </a:solidFill>
                <a:latin typeface="Arial"/>
              </a:rPr>
              <a:t>Luke Fickell · Wisconsin</a:t>
            </a:r>
          </a:p>
        </p:txBody>
      </p:sp>
      <p:sp>
        <p:nvSpPr>
          <p:cNvPr id="69" name="TextBox 68"/>
          <p:cNvSpPr txBox="1"/>
          <p:nvPr/>
        </p:nvSpPr>
        <p:spPr>
          <a:xfrm>
            <a:off x="4206240" y="3447288"/>
            <a:ext cx="13716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850" b="0" i="0">
                <a:solidFill>
                  <a:srgbClr val="CADCFC"/>
                </a:solidFill>
                <a:latin typeface="Arial"/>
              </a:rPr>
              <a:t>17-21, yr 4</a:t>
            </a:r>
          </a:p>
        </p:txBody>
      </p:sp>
      <p:sp>
        <p:nvSpPr>
          <p:cNvPr id="70" name="TextBox 69"/>
          <p:cNvSpPr txBox="1"/>
          <p:nvPr/>
        </p:nvSpPr>
        <p:spPr>
          <a:xfrm>
            <a:off x="5623560" y="3429000"/>
            <a:ext cx="50292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1100" b="1" i="0">
                <a:solidFill>
                  <a:srgbClr val="FFFFFF"/>
                </a:solidFill>
                <a:latin typeface="Arial"/>
              </a:rPr>
              <a:t>5.0</a:t>
            </a:r>
          </a:p>
        </p:txBody>
      </p:sp>
      <p:sp>
        <p:nvSpPr>
          <p:cNvPr id="71" name="TextBox 70"/>
          <p:cNvSpPr txBox="1"/>
          <p:nvPr/>
        </p:nvSpPr>
        <p:spPr>
          <a:xfrm>
            <a:off x="6172200" y="3429000"/>
            <a:ext cx="50292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1100" b="0" i="0">
                <a:solidFill>
                  <a:srgbClr val="FFFFFF"/>
                </a:solidFill>
                <a:latin typeface="Arial"/>
              </a:rPr>
              <a:t>6 W</a:t>
            </a:r>
          </a:p>
        </p:txBody>
      </p:sp>
      <p:sp>
        <p:nvSpPr>
          <p:cNvPr id="72" name="TextBox 71"/>
          <p:cNvSpPr txBox="1"/>
          <p:nvPr/>
        </p:nvSpPr>
        <p:spPr>
          <a:xfrm>
            <a:off x="6720840" y="3429000"/>
            <a:ext cx="64008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1100" b="1" i="0">
                <a:solidFill>
                  <a:srgbClr val="5CD68A"/>
                </a:solidFill>
                <a:latin typeface="Arial"/>
              </a:rPr>
              <a:t>67%</a:t>
            </a:r>
          </a:p>
        </p:txBody>
      </p:sp>
      <p:sp>
        <p:nvSpPr>
          <p:cNvPr id="73" name="TextBox 72"/>
          <p:cNvSpPr txBox="1"/>
          <p:nvPr/>
        </p:nvSpPr>
        <p:spPr>
          <a:xfrm>
            <a:off x="7406640" y="3429000"/>
            <a:ext cx="86868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1050" b="0" i="0">
                <a:solidFill>
                  <a:srgbClr val="FFFFFF"/>
                </a:solidFill>
                <a:latin typeface="Arial"/>
              </a:rPr>
              <a:t>6.2 (4–8)</a:t>
            </a:r>
          </a:p>
        </p:txBody>
      </p:sp>
      <p:sp>
        <p:nvSpPr>
          <p:cNvPr id="74" name="TextBox 73"/>
          <p:cNvSpPr txBox="1"/>
          <p:nvPr/>
        </p:nvSpPr>
        <p:spPr>
          <a:xfrm>
            <a:off x="8321040" y="3447288"/>
            <a:ext cx="4572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1000" b="1" i="0">
                <a:solidFill>
                  <a:srgbClr val="FF7A7A"/>
                </a:solidFill>
                <a:latin typeface="Arial"/>
              </a:rPr>
              <a:t>-1.4</a:t>
            </a:r>
          </a:p>
        </p:txBody>
      </p:sp>
      <p:sp>
        <p:nvSpPr>
          <p:cNvPr id="75" name="TextBox 74"/>
          <p:cNvSpPr txBox="1"/>
          <p:nvPr/>
        </p:nvSpPr>
        <p:spPr>
          <a:xfrm>
            <a:off x="8823960" y="3419856"/>
            <a:ext cx="50292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1250" b="1" i="0">
                <a:solidFill>
                  <a:srgbClr val="F47321"/>
                </a:solidFill>
                <a:latin typeface="Arial"/>
              </a:rPr>
              <a:t>73</a:t>
            </a:r>
          </a:p>
        </p:txBody>
      </p:sp>
      <p:sp>
        <p:nvSpPr>
          <p:cNvPr id="76" name="TextBox 75"/>
          <p:cNvSpPr txBox="1"/>
          <p:nvPr/>
        </p:nvSpPr>
        <p:spPr>
          <a:xfrm>
            <a:off x="9418320" y="3447288"/>
            <a:ext cx="192024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850" b="0" i="0">
                <a:solidFill>
                  <a:srgbClr val="CADCFC"/>
                </a:solidFill>
                <a:latin typeface="Arial"/>
              </a:rPr>
              <a:t>L 13-41 at Notre Dame</a:t>
            </a:r>
          </a:p>
        </p:txBody>
      </p:sp>
      <p:sp>
        <p:nvSpPr>
          <p:cNvPr id="77" name="TextBox 76"/>
          <p:cNvSpPr txBox="1"/>
          <p:nvPr/>
        </p:nvSpPr>
        <p:spPr>
          <a:xfrm>
            <a:off x="822960" y="3785615"/>
            <a:ext cx="36576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1300" b="1" i="0">
                <a:solidFill>
                  <a:srgbClr val="F47321"/>
                </a:solidFill>
                <a:latin typeface="Arial"/>
              </a:rPr>
              <a:t>6</a:t>
            </a:r>
          </a:p>
        </p:txBody>
      </p:sp>
      <p:sp>
        <p:nvSpPr>
          <p:cNvPr id="78" name="Oval 77"/>
          <p:cNvSpPr/>
          <p:nvPr/>
        </p:nvSpPr>
        <p:spPr>
          <a:xfrm>
            <a:off x="1234440" y="3776472"/>
            <a:ext cx="274320" cy="274320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79" name="Picture 78" descr="southcarolina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266444" y="3808476"/>
            <a:ext cx="210312" cy="210312"/>
          </a:xfrm>
          <a:prstGeom prst="rect">
            <a:avLst/>
          </a:prstGeom>
        </p:spPr>
      </p:pic>
      <p:sp>
        <p:nvSpPr>
          <p:cNvPr id="80" name="TextBox 79"/>
          <p:cNvSpPr txBox="1"/>
          <p:nvPr/>
        </p:nvSpPr>
        <p:spPr>
          <a:xfrm>
            <a:off x="1600200" y="3785615"/>
            <a:ext cx="256032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200" b="1" i="0">
                <a:solidFill>
                  <a:srgbClr val="FFFFFF"/>
                </a:solidFill>
                <a:latin typeface="Arial"/>
              </a:rPr>
              <a:t>Shane Beamer · South Carolina</a:t>
            </a:r>
          </a:p>
        </p:txBody>
      </p:sp>
      <p:sp>
        <p:nvSpPr>
          <p:cNvPr id="81" name="TextBox 80"/>
          <p:cNvSpPr txBox="1"/>
          <p:nvPr/>
        </p:nvSpPr>
        <p:spPr>
          <a:xfrm>
            <a:off x="4206240" y="3813048"/>
            <a:ext cx="13716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850" b="0" i="0">
                <a:solidFill>
                  <a:srgbClr val="CADCFC"/>
                </a:solidFill>
                <a:latin typeface="Arial"/>
              </a:rPr>
              <a:t>33-30, yr 6</a:t>
            </a:r>
          </a:p>
        </p:txBody>
      </p:sp>
      <p:sp>
        <p:nvSpPr>
          <p:cNvPr id="82" name="TextBox 81"/>
          <p:cNvSpPr txBox="1"/>
          <p:nvPr/>
        </p:nvSpPr>
        <p:spPr>
          <a:xfrm>
            <a:off x="5623560" y="3794760"/>
            <a:ext cx="50292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1100" b="1" i="0">
                <a:solidFill>
                  <a:srgbClr val="FFFFFF"/>
                </a:solidFill>
                <a:latin typeface="Arial"/>
              </a:rPr>
              <a:t>4.3</a:t>
            </a:r>
          </a:p>
        </p:txBody>
      </p:sp>
      <p:sp>
        <p:nvSpPr>
          <p:cNvPr id="83" name="TextBox 82"/>
          <p:cNvSpPr txBox="1"/>
          <p:nvPr/>
        </p:nvSpPr>
        <p:spPr>
          <a:xfrm>
            <a:off x="6172200" y="3794760"/>
            <a:ext cx="50292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1100" b="0" i="0">
                <a:solidFill>
                  <a:srgbClr val="FFFFFF"/>
                </a:solidFill>
                <a:latin typeface="Arial"/>
              </a:rPr>
              <a:t>7 W</a:t>
            </a:r>
          </a:p>
        </p:txBody>
      </p:sp>
      <p:sp>
        <p:nvSpPr>
          <p:cNvPr id="84" name="TextBox 83"/>
          <p:cNvSpPr txBox="1"/>
          <p:nvPr/>
        </p:nvSpPr>
        <p:spPr>
          <a:xfrm>
            <a:off x="6720840" y="3794760"/>
            <a:ext cx="64008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1100" b="1" i="0">
                <a:solidFill>
                  <a:srgbClr val="FFFFFF"/>
                </a:solidFill>
                <a:latin typeface="Arial"/>
              </a:rPr>
              <a:t>47%</a:t>
            </a:r>
          </a:p>
        </p:txBody>
      </p:sp>
      <p:sp>
        <p:nvSpPr>
          <p:cNvPr id="85" name="TextBox 84"/>
          <p:cNvSpPr txBox="1"/>
          <p:nvPr/>
        </p:nvSpPr>
        <p:spPr>
          <a:xfrm>
            <a:off x="7406640" y="3794760"/>
            <a:ext cx="86868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1050" b="0" i="0">
                <a:solidFill>
                  <a:srgbClr val="FFFFFF"/>
                </a:solidFill>
                <a:latin typeface="Arial"/>
              </a:rPr>
              <a:t>6.4 (5–8)</a:t>
            </a:r>
          </a:p>
        </p:txBody>
      </p:sp>
      <p:sp>
        <p:nvSpPr>
          <p:cNvPr id="86" name="TextBox 85"/>
          <p:cNvSpPr txBox="1"/>
          <p:nvPr/>
        </p:nvSpPr>
        <p:spPr>
          <a:xfrm>
            <a:off x="8321040" y="3813048"/>
            <a:ext cx="4572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1000" b="1" i="0">
                <a:solidFill>
                  <a:srgbClr val="FF7A7A"/>
                </a:solidFill>
                <a:latin typeface="Arial"/>
              </a:rPr>
              <a:t>-0.8</a:t>
            </a:r>
          </a:p>
        </p:txBody>
      </p:sp>
      <p:sp>
        <p:nvSpPr>
          <p:cNvPr id="87" name="TextBox 86"/>
          <p:cNvSpPr txBox="1"/>
          <p:nvPr/>
        </p:nvSpPr>
        <p:spPr>
          <a:xfrm>
            <a:off x="8823960" y="3785615"/>
            <a:ext cx="50292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1250" b="1" i="0">
                <a:solidFill>
                  <a:srgbClr val="F47321"/>
                </a:solidFill>
                <a:latin typeface="Arial"/>
              </a:rPr>
              <a:t>73</a:t>
            </a:r>
          </a:p>
        </p:txBody>
      </p:sp>
      <p:sp>
        <p:nvSpPr>
          <p:cNvPr id="88" name="TextBox 87"/>
          <p:cNvSpPr txBox="1"/>
          <p:nvPr/>
        </p:nvSpPr>
        <p:spPr>
          <a:xfrm>
            <a:off x="9418320" y="3813048"/>
            <a:ext cx="192024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850" b="0" i="0">
                <a:solidFill>
                  <a:srgbClr val="CADCFC"/>
                </a:solidFill>
                <a:latin typeface="Arial"/>
              </a:rPr>
              <a:t>W 57-0 vs Kent State</a:t>
            </a:r>
          </a:p>
        </p:txBody>
      </p:sp>
      <p:sp>
        <p:nvSpPr>
          <p:cNvPr id="89" name="Rectangle 88"/>
          <p:cNvSpPr/>
          <p:nvPr/>
        </p:nvSpPr>
        <p:spPr>
          <a:xfrm>
            <a:off x="822960" y="4096512"/>
            <a:ext cx="10515600" cy="365760"/>
          </a:xfrm>
          <a:prstGeom prst="rect">
            <a:avLst/>
          </a:prstGeom>
          <a:solidFill>
            <a:srgbClr val="12356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0" name="TextBox 89"/>
          <p:cNvSpPr txBox="1"/>
          <p:nvPr/>
        </p:nvSpPr>
        <p:spPr>
          <a:xfrm>
            <a:off x="822960" y="4151376"/>
            <a:ext cx="36576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1300" b="1" i="0">
                <a:solidFill>
                  <a:srgbClr val="F47321"/>
                </a:solidFill>
                <a:latin typeface="Arial"/>
              </a:rPr>
              <a:t>7</a:t>
            </a:r>
          </a:p>
        </p:txBody>
      </p:sp>
      <p:sp>
        <p:nvSpPr>
          <p:cNvPr id="91" name="Oval 90"/>
          <p:cNvSpPr/>
          <p:nvPr/>
        </p:nvSpPr>
        <p:spPr>
          <a:xfrm>
            <a:off x="1234440" y="4142232"/>
            <a:ext cx="274320" cy="274320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92" name="Picture 91" descr="middletennessee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1266444" y="4174236"/>
            <a:ext cx="210312" cy="210312"/>
          </a:xfrm>
          <a:prstGeom prst="rect">
            <a:avLst/>
          </a:prstGeom>
        </p:spPr>
      </p:pic>
      <p:sp>
        <p:nvSpPr>
          <p:cNvPr id="93" name="TextBox 92"/>
          <p:cNvSpPr txBox="1"/>
          <p:nvPr/>
        </p:nvSpPr>
        <p:spPr>
          <a:xfrm>
            <a:off x="1600200" y="4151376"/>
            <a:ext cx="256032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200" b="1" i="0">
                <a:solidFill>
                  <a:srgbClr val="FFFFFF"/>
                </a:solidFill>
                <a:latin typeface="Arial"/>
              </a:rPr>
              <a:t>Derek Mason · Middle Tennessee</a:t>
            </a:r>
          </a:p>
        </p:txBody>
      </p:sp>
      <p:sp>
        <p:nvSpPr>
          <p:cNvPr id="94" name="TextBox 93"/>
          <p:cNvSpPr txBox="1"/>
          <p:nvPr/>
        </p:nvSpPr>
        <p:spPr>
          <a:xfrm>
            <a:off x="4206240" y="4178808"/>
            <a:ext cx="13716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850" b="0" i="0">
                <a:solidFill>
                  <a:srgbClr val="CADCFC"/>
                </a:solidFill>
                <a:latin typeface="Arial"/>
              </a:rPr>
              <a:t>3-9 in 2024, yr 3</a:t>
            </a:r>
          </a:p>
        </p:txBody>
      </p:sp>
      <p:sp>
        <p:nvSpPr>
          <p:cNvPr id="95" name="TextBox 94"/>
          <p:cNvSpPr txBox="1"/>
          <p:nvPr/>
        </p:nvSpPr>
        <p:spPr>
          <a:xfrm>
            <a:off x="5623560" y="4160520"/>
            <a:ext cx="50292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1100" b="1" i="0">
                <a:solidFill>
                  <a:srgbClr val="FFFFFF"/>
                </a:solidFill>
                <a:latin typeface="Arial"/>
              </a:rPr>
              <a:t>3.6</a:t>
            </a:r>
          </a:p>
        </p:txBody>
      </p:sp>
      <p:sp>
        <p:nvSpPr>
          <p:cNvPr id="96" name="TextBox 95"/>
          <p:cNvSpPr txBox="1"/>
          <p:nvPr/>
        </p:nvSpPr>
        <p:spPr>
          <a:xfrm>
            <a:off x="6172200" y="4160520"/>
            <a:ext cx="50292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1100" b="0" i="0">
                <a:solidFill>
                  <a:srgbClr val="FFFFFF"/>
                </a:solidFill>
                <a:latin typeface="Arial"/>
              </a:rPr>
              <a:t>6 W</a:t>
            </a:r>
          </a:p>
        </p:txBody>
      </p:sp>
      <p:sp>
        <p:nvSpPr>
          <p:cNvPr id="97" name="TextBox 96"/>
          <p:cNvSpPr txBox="1"/>
          <p:nvPr/>
        </p:nvSpPr>
        <p:spPr>
          <a:xfrm>
            <a:off x="6720840" y="4160520"/>
            <a:ext cx="64008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1100" b="1" i="0">
                <a:solidFill>
                  <a:srgbClr val="FF7A7A"/>
                </a:solidFill>
                <a:latin typeface="Arial"/>
              </a:rPr>
              <a:t>30%</a:t>
            </a:r>
          </a:p>
        </p:txBody>
      </p:sp>
      <p:sp>
        <p:nvSpPr>
          <p:cNvPr id="98" name="TextBox 97"/>
          <p:cNvSpPr txBox="1"/>
          <p:nvPr/>
        </p:nvSpPr>
        <p:spPr>
          <a:xfrm>
            <a:off x="7406640" y="4160520"/>
            <a:ext cx="86868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1050" b="0" i="0">
                <a:solidFill>
                  <a:srgbClr val="FFFFFF"/>
                </a:solidFill>
                <a:latin typeface="Arial"/>
              </a:rPr>
              <a:t>4.7 (3–7)</a:t>
            </a:r>
          </a:p>
        </p:txBody>
      </p:sp>
      <p:sp>
        <p:nvSpPr>
          <p:cNvPr id="99" name="TextBox 98"/>
          <p:cNvSpPr txBox="1"/>
          <p:nvPr/>
        </p:nvSpPr>
        <p:spPr>
          <a:xfrm>
            <a:off x="8321040" y="4178808"/>
            <a:ext cx="4572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1000" b="0" i="0">
                <a:solidFill>
                  <a:srgbClr val="CADCFC"/>
                </a:solidFill>
                <a:latin typeface="Arial"/>
              </a:rPr>
              <a:t>0.0</a:t>
            </a:r>
          </a:p>
        </p:txBody>
      </p:sp>
      <p:sp>
        <p:nvSpPr>
          <p:cNvPr id="100" name="TextBox 99"/>
          <p:cNvSpPr txBox="1"/>
          <p:nvPr/>
        </p:nvSpPr>
        <p:spPr>
          <a:xfrm>
            <a:off x="8823960" y="4151376"/>
            <a:ext cx="50292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1250" b="1" i="0">
                <a:solidFill>
                  <a:srgbClr val="F47321"/>
                </a:solidFill>
                <a:latin typeface="Arial"/>
              </a:rPr>
              <a:t>71</a:t>
            </a:r>
          </a:p>
        </p:txBody>
      </p:sp>
      <p:sp>
        <p:nvSpPr>
          <p:cNvPr id="101" name="TextBox 100"/>
          <p:cNvSpPr txBox="1"/>
          <p:nvPr/>
        </p:nvSpPr>
        <p:spPr>
          <a:xfrm>
            <a:off x="9418320" y="4178808"/>
            <a:ext cx="192024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850" b="0" i="0">
                <a:solidFill>
                  <a:srgbClr val="CADCFC"/>
                </a:solidFill>
                <a:latin typeface="Arial"/>
              </a:rPr>
              <a:t>W 38-14 vs Murray State</a:t>
            </a:r>
          </a:p>
        </p:txBody>
      </p:sp>
      <p:sp>
        <p:nvSpPr>
          <p:cNvPr id="102" name="TextBox 101"/>
          <p:cNvSpPr txBox="1"/>
          <p:nvPr/>
        </p:nvSpPr>
        <p:spPr>
          <a:xfrm>
            <a:off x="822960" y="4517136"/>
            <a:ext cx="36576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1300" b="1" i="0">
                <a:solidFill>
                  <a:srgbClr val="F47321"/>
                </a:solidFill>
                <a:latin typeface="Arial"/>
              </a:rPr>
              <a:t>8</a:t>
            </a:r>
          </a:p>
        </p:txBody>
      </p:sp>
      <p:sp>
        <p:nvSpPr>
          <p:cNvPr id="103" name="Oval 102"/>
          <p:cNvSpPr/>
          <p:nvPr/>
        </p:nvSpPr>
        <p:spPr>
          <a:xfrm>
            <a:off x="1234440" y="4507992"/>
            <a:ext cx="274320" cy="274320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04" name="Picture 103" descr="bostoncollege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1266444" y="4539996"/>
            <a:ext cx="210312" cy="210312"/>
          </a:xfrm>
          <a:prstGeom prst="rect">
            <a:avLst/>
          </a:prstGeom>
        </p:spPr>
      </p:pic>
      <p:sp>
        <p:nvSpPr>
          <p:cNvPr id="105" name="TextBox 104"/>
          <p:cNvSpPr txBox="1"/>
          <p:nvPr/>
        </p:nvSpPr>
        <p:spPr>
          <a:xfrm>
            <a:off x="1600200" y="4517136"/>
            <a:ext cx="256032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200" b="1" i="0">
                <a:solidFill>
                  <a:srgbClr val="FFFFFF"/>
                </a:solidFill>
                <a:latin typeface="Arial"/>
              </a:rPr>
              <a:t>Bill O'Brien · Boston College</a:t>
            </a:r>
          </a:p>
        </p:txBody>
      </p:sp>
      <p:sp>
        <p:nvSpPr>
          <p:cNvPr id="106" name="TextBox 105"/>
          <p:cNvSpPr txBox="1"/>
          <p:nvPr/>
        </p:nvSpPr>
        <p:spPr>
          <a:xfrm>
            <a:off x="4206240" y="4544568"/>
            <a:ext cx="13716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850" b="0" i="0">
                <a:solidFill>
                  <a:srgbClr val="CADCFC"/>
                </a:solidFill>
                <a:latin typeface="Arial"/>
              </a:rPr>
              <a:t>9-16, yr 3</a:t>
            </a:r>
          </a:p>
        </p:txBody>
      </p:sp>
      <p:sp>
        <p:nvSpPr>
          <p:cNvPr id="107" name="TextBox 106"/>
          <p:cNvSpPr txBox="1"/>
          <p:nvPr/>
        </p:nvSpPr>
        <p:spPr>
          <a:xfrm>
            <a:off x="5623560" y="4526280"/>
            <a:ext cx="50292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1100" b="1" i="0">
                <a:solidFill>
                  <a:srgbClr val="FFFFFF"/>
                </a:solidFill>
                <a:latin typeface="Arial"/>
              </a:rPr>
              <a:t>3.5</a:t>
            </a:r>
          </a:p>
        </p:txBody>
      </p:sp>
      <p:sp>
        <p:nvSpPr>
          <p:cNvPr id="108" name="TextBox 107"/>
          <p:cNvSpPr txBox="1"/>
          <p:nvPr/>
        </p:nvSpPr>
        <p:spPr>
          <a:xfrm>
            <a:off x="6172200" y="4526280"/>
            <a:ext cx="50292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1100" b="0" i="0">
                <a:solidFill>
                  <a:srgbClr val="FFFFFF"/>
                </a:solidFill>
                <a:latin typeface="Arial"/>
              </a:rPr>
              <a:t>5 W</a:t>
            </a:r>
          </a:p>
        </p:txBody>
      </p:sp>
      <p:sp>
        <p:nvSpPr>
          <p:cNvPr id="109" name="TextBox 108"/>
          <p:cNvSpPr txBox="1"/>
          <p:nvPr/>
        </p:nvSpPr>
        <p:spPr>
          <a:xfrm>
            <a:off x="6720840" y="4526280"/>
            <a:ext cx="64008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1100" b="1" i="0">
                <a:solidFill>
                  <a:srgbClr val="FF7A7A"/>
                </a:solidFill>
                <a:latin typeface="Arial"/>
              </a:rPr>
              <a:t>28%</a:t>
            </a:r>
          </a:p>
        </p:txBody>
      </p:sp>
      <p:sp>
        <p:nvSpPr>
          <p:cNvPr id="110" name="TextBox 109"/>
          <p:cNvSpPr txBox="1"/>
          <p:nvPr/>
        </p:nvSpPr>
        <p:spPr>
          <a:xfrm>
            <a:off x="7406640" y="4526280"/>
            <a:ext cx="86868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1050" b="0" i="0">
                <a:solidFill>
                  <a:srgbClr val="FFFFFF"/>
                </a:solidFill>
                <a:latin typeface="Arial"/>
              </a:rPr>
              <a:t>3.8 (2–5)</a:t>
            </a:r>
          </a:p>
        </p:txBody>
      </p:sp>
      <p:sp>
        <p:nvSpPr>
          <p:cNvPr id="111" name="TextBox 110"/>
          <p:cNvSpPr txBox="1"/>
          <p:nvPr/>
        </p:nvSpPr>
        <p:spPr>
          <a:xfrm>
            <a:off x="8321040" y="4544568"/>
            <a:ext cx="4572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1000" b="1" i="0">
                <a:solidFill>
                  <a:srgbClr val="FF7A7A"/>
                </a:solidFill>
                <a:latin typeface="Arial"/>
              </a:rPr>
              <a:t>-1.9</a:t>
            </a:r>
          </a:p>
        </p:txBody>
      </p:sp>
      <p:sp>
        <p:nvSpPr>
          <p:cNvPr id="112" name="TextBox 111"/>
          <p:cNvSpPr txBox="1"/>
          <p:nvPr/>
        </p:nvSpPr>
        <p:spPr>
          <a:xfrm>
            <a:off x="8823960" y="4517136"/>
            <a:ext cx="50292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1250" b="1" i="0">
                <a:solidFill>
                  <a:srgbClr val="F47321"/>
                </a:solidFill>
                <a:latin typeface="Arial"/>
              </a:rPr>
              <a:t>71</a:t>
            </a:r>
          </a:p>
        </p:txBody>
      </p:sp>
      <p:sp>
        <p:nvSpPr>
          <p:cNvPr id="113" name="TextBox 112"/>
          <p:cNvSpPr txBox="1"/>
          <p:nvPr/>
        </p:nvSpPr>
        <p:spPr>
          <a:xfrm>
            <a:off x="9418320" y="4544568"/>
            <a:ext cx="192024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850" b="0" i="0">
                <a:solidFill>
                  <a:srgbClr val="CADCFC"/>
                </a:solidFill>
                <a:latin typeface="Arial"/>
              </a:rPr>
              <a:t>L 15-34 at Cincinnati</a:t>
            </a:r>
          </a:p>
        </p:txBody>
      </p:sp>
      <p:sp>
        <p:nvSpPr>
          <p:cNvPr id="114" name="Rectangle 113"/>
          <p:cNvSpPr/>
          <p:nvPr/>
        </p:nvSpPr>
        <p:spPr>
          <a:xfrm>
            <a:off x="822960" y="4828032"/>
            <a:ext cx="10515600" cy="365760"/>
          </a:xfrm>
          <a:prstGeom prst="rect">
            <a:avLst/>
          </a:prstGeom>
          <a:solidFill>
            <a:srgbClr val="12356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5" name="TextBox 114"/>
          <p:cNvSpPr txBox="1"/>
          <p:nvPr/>
        </p:nvSpPr>
        <p:spPr>
          <a:xfrm>
            <a:off x="822960" y="4882896"/>
            <a:ext cx="36576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1300" b="1" i="0">
                <a:solidFill>
                  <a:srgbClr val="F47321"/>
                </a:solidFill>
                <a:latin typeface="Arial"/>
              </a:rPr>
              <a:t>9</a:t>
            </a:r>
          </a:p>
        </p:txBody>
      </p:sp>
      <p:sp>
        <p:nvSpPr>
          <p:cNvPr id="116" name="Oval 115"/>
          <p:cNvSpPr/>
          <p:nvPr/>
        </p:nvSpPr>
        <p:spPr>
          <a:xfrm>
            <a:off x="1234440" y="4873752"/>
            <a:ext cx="274320" cy="274320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17" name="Picture 116" descr="clemson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1266444" y="4905756"/>
            <a:ext cx="210312" cy="210312"/>
          </a:xfrm>
          <a:prstGeom prst="rect">
            <a:avLst/>
          </a:prstGeom>
        </p:spPr>
      </p:pic>
      <p:sp>
        <p:nvSpPr>
          <p:cNvPr id="118" name="TextBox 117"/>
          <p:cNvSpPr txBox="1"/>
          <p:nvPr/>
        </p:nvSpPr>
        <p:spPr>
          <a:xfrm>
            <a:off x="1600200" y="4882896"/>
            <a:ext cx="256032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200" b="1" i="0">
                <a:solidFill>
                  <a:srgbClr val="FFFFFF"/>
                </a:solidFill>
                <a:latin typeface="Arial"/>
              </a:rPr>
              <a:t>Dabo Swinney · Clemson</a:t>
            </a:r>
          </a:p>
        </p:txBody>
      </p:sp>
      <p:sp>
        <p:nvSpPr>
          <p:cNvPr id="119" name="TextBox 118"/>
          <p:cNvSpPr txBox="1"/>
          <p:nvPr/>
        </p:nvSpPr>
        <p:spPr>
          <a:xfrm>
            <a:off x="4206240" y="4910328"/>
            <a:ext cx="13716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850" b="0" i="0">
                <a:solidFill>
                  <a:srgbClr val="CADCFC"/>
                </a:solidFill>
                <a:latin typeface="Arial"/>
              </a:rPr>
              <a:t>186-53, yr 18</a:t>
            </a:r>
          </a:p>
        </p:txBody>
      </p:sp>
      <p:sp>
        <p:nvSpPr>
          <p:cNvPr id="120" name="TextBox 119"/>
          <p:cNvSpPr txBox="1"/>
          <p:nvPr/>
        </p:nvSpPr>
        <p:spPr>
          <a:xfrm>
            <a:off x="5623560" y="4892040"/>
            <a:ext cx="50292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1100" b="1" i="0">
                <a:solidFill>
                  <a:srgbClr val="FFFFFF"/>
                </a:solidFill>
                <a:latin typeface="Arial"/>
              </a:rPr>
              <a:t>3.1</a:t>
            </a:r>
          </a:p>
        </p:txBody>
      </p:sp>
      <p:sp>
        <p:nvSpPr>
          <p:cNvPr id="121" name="TextBox 120"/>
          <p:cNvSpPr txBox="1"/>
          <p:nvPr/>
        </p:nvSpPr>
        <p:spPr>
          <a:xfrm>
            <a:off x="6172200" y="4892040"/>
            <a:ext cx="50292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1100" b="0" i="0">
                <a:solidFill>
                  <a:srgbClr val="FFFFFF"/>
                </a:solidFill>
                <a:latin typeface="Arial"/>
              </a:rPr>
              <a:t>9 W</a:t>
            </a:r>
          </a:p>
        </p:txBody>
      </p:sp>
      <p:sp>
        <p:nvSpPr>
          <p:cNvPr id="122" name="TextBox 121"/>
          <p:cNvSpPr txBox="1"/>
          <p:nvPr/>
        </p:nvSpPr>
        <p:spPr>
          <a:xfrm>
            <a:off x="6720840" y="4892040"/>
            <a:ext cx="64008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1100" b="1" i="0">
                <a:solidFill>
                  <a:srgbClr val="FF7A7A"/>
                </a:solidFill>
                <a:latin typeface="Arial"/>
              </a:rPr>
              <a:t>22%</a:t>
            </a:r>
          </a:p>
        </p:txBody>
      </p:sp>
      <p:sp>
        <p:nvSpPr>
          <p:cNvPr id="123" name="TextBox 122"/>
          <p:cNvSpPr txBox="1"/>
          <p:nvPr/>
        </p:nvSpPr>
        <p:spPr>
          <a:xfrm>
            <a:off x="7406640" y="4892040"/>
            <a:ext cx="86868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1050" b="0" i="0">
                <a:solidFill>
                  <a:srgbClr val="FFFFFF"/>
                </a:solidFill>
                <a:latin typeface="Arial"/>
              </a:rPr>
              <a:t>7.3 (5–9)</a:t>
            </a:r>
          </a:p>
        </p:txBody>
      </p:sp>
      <p:sp>
        <p:nvSpPr>
          <p:cNvPr id="124" name="TextBox 123"/>
          <p:cNvSpPr txBox="1"/>
          <p:nvPr/>
        </p:nvSpPr>
        <p:spPr>
          <a:xfrm>
            <a:off x="8321040" y="4910328"/>
            <a:ext cx="4572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1000" b="1" i="0">
                <a:solidFill>
                  <a:srgbClr val="FF7A7A"/>
                </a:solidFill>
                <a:latin typeface="Arial"/>
              </a:rPr>
              <a:t>-3.8</a:t>
            </a:r>
          </a:p>
        </p:txBody>
      </p:sp>
      <p:sp>
        <p:nvSpPr>
          <p:cNvPr id="125" name="TextBox 124"/>
          <p:cNvSpPr txBox="1"/>
          <p:nvPr/>
        </p:nvSpPr>
        <p:spPr>
          <a:xfrm>
            <a:off x="8823960" y="4882896"/>
            <a:ext cx="50292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1250" b="1" i="0">
                <a:solidFill>
                  <a:srgbClr val="F47321"/>
                </a:solidFill>
                <a:latin typeface="Arial"/>
              </a:rPr>
              <a:t>68</a:t>
            </a:r>
          </a:p>
        </p:txBody>
      </p:sp>
      <p:sp>
        <p:nvSpPr>
          <p:cNvPr id="126" name="TextBox 125"/>
          <p:cNvSpPr txBox="1"/>
          <p:nvPr/>
        </p:nvSpPr>
        <p:spPr>
          <a:xfrm>
            <a:off x="9418320" y="4910328"/>
            <a:ext cx="192024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850" b="0" i="0">
                <a:solidFill>
                  <a:srgbClr val="CADCFC"/>
                </a:solidFill>
                <a:latin typeface="Arial"/>
              </a:rPr>
              <a:t>L 10-51 at LSU</a:t>
            </a:r>
          </a:p>
        </p:txBody>
      </p:sp>
      <p:sp>
        <p:nvSpPr>
          <p:cNvPr id="127" name="TextBox 126"/>
          <p:cNvSpPr txBox="1"/>
          <p:nvPr/>
        </p:nvSpPr>
        <p:spPr>
          <a:xfrm>
            <a:off x="822960" y="5248655"/>
            <a:ext cx="36576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1300" b="1" i="0">
                <a:solidFill>
                  <a:srgbClr val="F47321"/>
                </a:solidFill>
                <a:latin typeface="Arial"/>
              </a:rPr>
              <a:t>10</a:t>
            </a:r>
          </a:p>
        </p:txBody>
      </p:sp>
      <p:sp>
        <p:nvSpPr>
          <p:cNvPr id="128" name="Oval 127"/>
          <p:cNvSpPr/>
          <p:nvPr/>
        </p:nvSpPr>
        <p:spPr>
          <a:xfrm>
            <a:off x="1234440" y="5239512"/>
            <a:ext cx="274320" cy="274320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29" name="Picture 128" descr="northcarolina.png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1266444" y="5271516"/>
            <a:ext cx="210312" cy="210312"/>
          </a:xfrm>
          <a:prstGeom prst="rect">
            <a:avLst/>
          </a:prstGeom>
        </p:spPr>
      </p:pic>
      <p:sp>
        <p:nvSpPr>
          <p:cNvPr id="130" name="TextBox 129"/>
          <p:cNvSpPr txBox="1"/>
          <p:nvPr/>
        </p:nvSpPr>
        <p:spPr>
          <a:xfrm>
            <a:off x="1600200" y="5248655"/>
            <a:ext cx="256032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200" b="1" i="0">
                <a:solidFill>
                  <a:srgbClr val="FFFFFF"/>
                </a:solidFill>
                <a:latin typeface="Arial"/>
              </a:rPr>
              <a:t>Bill Belichick · North Carolina</a:t>
            </a:r>
          </a:p>
        </p:txBody>
      </p:sp>
      <p:sp>
        <p:nvSpPr>
          <p:cNvPr id="131" name="TextBox 130"/>
          <p:cNvSpPr txBox="1"/>
          <p:nvPr/>
        </p:nvSpPr>
        <p:spPr>
          <a:xfrm>
            <a:off x="4206240" y="5276088"/>
            <a:ext cx="13716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850" b="0" i="0">
                <a:solidFill>
                  <a:srgbClr val="CADCFC"/>
                </a:solidFill>
                <a:latin typeface="Arial"/>
              </a:rPr>
              <a:t>4-8, yr 2</a:t>
            </a:r>
          </a:p>
        </p:txBody>
      </p:sp>
      <p:sp>
        <p:nvSpPr>
          <p:cNvPr id="132" name="TextBox 131"/>
          <p:cNvSpPr txBox="1"/>
          <p:nvPr/>
        </p:nvSpPr>
        <p:spPr>
          <a:xfrm>
            <a:off x="5623560" y="5257800"/>
            <a:ext cx="50292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1100" b="1" i="0">
                <a:solidFill>
                  <a:srgbClr val="FFFFFF"/>
                </a:solidFill>
                <a:latin typeface="Arial"/>
              </a:rPr>
              <a:t>4.1</a:t>
            </a:r>
          </a:p>
        </p:txBody>
      </p:sp>
      <p:sp>
        <p:nvSpPr>
          <p:cNvPr id="133" name="TextBox 132"/>
          <p:cNvSpPr txBox="1"/>
          <p:nvPr/>
        </p:nvSpPr>
        <p:spPr>
          <a:xfrm>
            <a:off x="6172200" y="5257800"/>
            <a:ext cx="50292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1100" b="0" i="0">
                <a:solidFill>
                  <a:srgbClr val="FFFFFF"/>
                </a:solidFill>
                <a:latin typeface="Arial"/>
              </a:rPr>
              <a:t>6 W</a:t>
            </a:r>
          </a:p>
        </p:txBody>
      </p:sp>
      <p:sp>
        <p:nvSpPr>
          <p:cNvPr id="134" name="TextBox 133"/>
          <p:cNvSpPr txBox="1"/>
          <p:nvPr/>
        </p:nvSpPr>
        <p:spPr>
          <a:xfrm>
            <a:off x="6720840" y="5257800"/>
            <a:ext cx="64008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1100" b="1" i="0">
                <a:solidFill>
                  <a:srgbClr val="5CD68A"/>
                </a:solidFill>
                <a:latin typeface="Arial"/>
              </a:rPr>
              <a:t>63%</a:t>
            </a:r>
          </a:p>
        </p:txBody>
      </p:sp>
      <p:sp>
        <p:nvSpPr>
          <p:cNvPr id="135" name="TextBox 134"/>
          <p:cNvSpPr txBox="1"/>
          <p:nvPr/>
        </p:nvSpPr>
        <p:spPr>
          <a:xfrm>
            <a:off x="7406640" y="5257800"/>
            <a:ext cx="86868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1050" b="0" i="0">
                <a:solidFill>
                  <a:srgbClr val="FFFFFF"/>
                </a:solidFill>
                <a:latin typeface="Arial"/>
              </a:rPr>
              <a:t>6.0 (4–8)</a:t>
            </a:r>
          </a:p>
        </p:txBody>
      </p:sp>
      <p:sp>
        <p:nvSpPr>
          <p:cNvPr id="136" name="TextBox 135"/>
          <p:cNvSpPr txBox="1"/>
          <p:nvPr/>
        </p:nvSpPr>
        <p:spPr>
          <a:xfrm>
            <a:off x="8321040" y="5276088"/>
            <a:ext cx="4572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1000" b="1" i="0">
                <a:solidFill>
                  <a:srgbClr val="5CD68A"/>
                </a:solidFill>
                <a:latin typeface="Arial"/>
              </a:rPr>
              <a:t>+1.3</a:t>
            </a:r>
          </a:p>
        </p:txBody>
      </p:sp>
      <p:sp>
        <p:nvSpPr>
          <p:cNvPr id="137" name="TextBox 136"/>
          <p:cNvSpPr txBox="1"/>
          <p:nvPr/>
        </p:nvSpPr>
        <p:spPr>
          <a:xfrm>
            <a:off x="8823960" y="5248655"/>
            <a:ext cx="50292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1250" b="1" i="0">
                <a:solidFill>
                  <a:srgbClr val="F47321"/>
                </a:solidFill>
                <a:latin typeface="Arial"/>
              </a:rPr>
              <a:t>64</a:t>
            </a:r>
          </a:p>
        </p:txBody>
      </p:sp>
      <p:sp>
        <p:nvSpPr>
          <p:cNvPr id="138" name="TextBox 137"/>
          <p:cNvSpPr txBox="1"/>
          <p:nvPr/>
        </p:nvSpPr>
        <p:spPr>
          <a:xfrm>
            <a:off x="9418320" y="5276088"/>
            <a:ext cx="192024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850" b="0" i="0">
                <a:solidFill>
                  <a:srgbClr val="CADCFC"/>
                </a:solidFill>
                <a:latin typeface="Arial"/>
              </a:rPr>
              <a:t>W 15-10 at TCU</a:t>
            </a:r>
          </a:p>
        </p:txBody>
      </p:sp>
      <p:sp>
        <p:nvSpPr>
          <p:cNvPr id="139" name="Rounded Rectangle 138"/>
          <p:cNvSpPr/>
          <p:nvPr/>
        </p:nvSpPr>
        <p:spPr>
          <a:xfrm>
            <a:off x="822960" y="5669280"/>
            <a:ext cx="10515600" cy="566928"/>
          </a:xfrm>
          <a:prstGeom prst="roundRect">
            <a:avLst/>
          </a:prstGeom>
          <a:solidFill>
            <a:srgbClr val="12356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0" name="TextBox 139"/>
          <p:cNvSpPr txBox="1"/>
          <p:nvPr/>
        </p:nvSpPr>
        <p:spPr>
          <a:xfrm>
            <a:off x="1005840" y="5724144"/>
            <a:ext cx="10241280" cy="25603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950" b="1" i="0">
                <a:solidFill>
                  <a:srgbClr val="FFFFFF"/>
                </a:solidFill>
                <a:latin typeface="Arial"/>
              </a:rPr>
              <a:t>Next three: Kalen DeBoer (Alabama, 64) · Dave Doeren (NC State, 64) · Bryant Vincent (UL Monroe, 63)</a:t>
            </a:r>
          </a:p>
        </p:txBody>
      </p:sp>
      <p:sp>
        <p:nvSpPr>
          <p:cNvPr id="141" name="TextBox 140"/>
          <p:cNvSpPr txBox="1"/>
          <p:nvPr/>
        </p:nvSpPr>
        <p:spPr>
          <a:xfrm>
            <a:off x="1005840" y="5961888"/>
            <a:ext cx="10241280" cy="25603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850" b="0" i="0">
                <a:solidFill>
                  <a:srgbClr val="CADCFC"/>
                </a:solidFill>
                <a:latin typeface="Arial"/>
              </a:rPr>
              <a:t>NEEDS = the win total that keeps the job (from the deep-dive write-ups — a judgment call) · P(GETS IT) = the machine's odds of reaching it · MACHINE WINS = projected wins (10th–90th pct), 51 rated games in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2851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822960" y="384048"/>
            <a:ext cx="1051560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400" b="1" i="0">
                <a:solidFill>
                  <a:srgbClr val="F47321"/>
                </a:solidFill>
                <a:latin typeface="Arial"/>
              </a:rPr>
              <a:t>EPISODE 3 · WEEK 2 · OUR HEISMAN BOARD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694944"/>
            <a:ext cx="10515600" cy="7315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4000" b="1" i="0">
                <a:solidFill>
                  <a:srgbClr val="FFFFFF"/>
                </a:solidFill>
                <a:latin typeface="Arial"/>
              </a:rPr>
              <a:t>Our Heisman Favorite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1371600"/>
            <a:ext cx="105156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50" b="0" i="1">
                <a:solidFill>
                  <a:srgbClr val="CADCFC"/>
                </a:solidFill>
                <a:latin typeface="Arial"/>
              </a:rPr>
              <a:t>index = team factor (0.5 + half the odds of 10+ wins) × blended PPA per play (2026 + 150 plays of the 2025 line as prior) · market = DraftKings, Sep 8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600200" y="1673352"/>
            <a:ext cx="2468880" cy="2011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800" b="1" i="0">
                <a:solidFill>
                  <a:srgbClr val="CADCFC"/>
                </a:solidFill>
                <a:latin typeface="Arial"/>
              </a:rPr>
              <a:t>QUARTERBACK · TEAM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114800" y="1673352"/>
            <a:ext cx="1097280" cy="2011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800" b="1" i="0">
                <a:solidFill>
                  <a:srgbClr val="CADCFC"/>
                </a:solidFill>
                <a:latin typeface="Arial"/>
              </a:rPr>
              <a:t>2026 PPA (PLAYS)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257800" y="1673352"/>
            <a:ext cx="731520" cy="2011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800" b="1" i="0">
                <a:solidFill>
                  <a:srgbClr val="CADCFC"/>
                </a:solidFill>
                <a:latin typeface="Arial"/>
              </a:rPr>
              <a:t>2025 PRIOR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035040" y="1673352"/>
            <a:ext cx="640080" cy="2011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800" b="1" i="0">
                <a:solidFill>
                  <a:srgbClr val="CADCFC"/>
                </a:solidFill>
                <a:latin typeface="Arial"/>
              </a:rPr>
              <a:t>BLEND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720840" y="1673352"/>
            <a:ext cx="822960" cy="2011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800" b="1" i="0">
                <a:solidFill>
                  <a:srgbClr val="CADCFC"/>
                </a:solidFill>
                <a:latin typeface="Arial"/>
              </a:rPr>
              <a:t>TEAM P(10+)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589520" y="1673352"/>
            <a:ext cx="640080" cy="2011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800" b="1" i="0">
                <a:solidFill>
                  <a:srgbClr val="CADCFC"/>
                </a:solidFill>
                <a:latin typeface="Arial"/>
              </a:rPr>
              <a:t>INDEX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275320" y="1673352"/>
            <a:ext cx="822960" cy="2011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800" b="1" i="0">
                <a:solidFill>
                  <a:srgbClr val="CADCFC"/>
                </a:solidFill>
                <a:latin typeface="Arial"/>
              </a:rPr>
              <a:t>MARKET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144000" y="1673352"/>
            <a:ext cx="822960" cy="2011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800" b="1" i="0">
                <a:solidFill>
                  <a:srgbClr val="CADCFC"/>
                </a:solidFill>
                <a:latin typeface="Arial"/>
              </a:rPr>
              <a:t>MKT RANK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012680" y="1673352"/>
            <a:ext cx="1325880" cy="2011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800" b="1" i="0">
                <a:solidFill>
                  <a:srgbClr val="CADCFC"/>
                </a:solidFill>
                <a:latin typeface="Arial"/>
              </a:rPr>
              <a:t>MAN VS MACHINE</a:t>
            </a:r>
          </a:p>
        </p:txBody>
      </p:sp>
      <p:sp>
        <p:nvSpPr>
          <p:cNvPr id="14" name="Rectangle 13"/>
          <p:cNvSpPr/>
          <p:nvPr/>
        </p:nvSpPr>
        <p:spPr>
          <a:xfrm>
            <a:off x="822960" y="1901952"/>
            <a:ext cx="10515600" cy="566928"/>
          </a:xfrm>
          <a:prstGeom prst="rect">
            <a:avLst/>
          </a:prstGeom>
          <a:solidFill>
            <a:srgbClr val="12356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22960" y="1938528"/>
            <a:ext cx="36576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1300" b="1" i="0">
                <a:solidFill>
                  <a:srgbClr val="F47321"/>
                </a:solidFill>
                <a:latin typeface="Arial"/>
              </a:rPr>
              <a:t>1</a:t>
            </a:r>
          </a:p>
        </p:txBody>
      </p:sp>
      <p:sp>
        <p:nvSpPr>
          <p:cNvPr id="16" name="Oval 15"/>
          <p:cNvSpPr/>
          <p:nvPr/>
        </p:nvSpPr>
        <p:spPr>
          <a:xfrm>
            <a:off x="1234440" y="1929384"/>
            <a:ext cx="274320" cy="274320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7" name="Picture 16" descr="ohiostat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66444" y="1961388"/>
            <a:ext cx="210312" cy="210312"/>
          </a:xfrm>
          <a:prstGeom prst="rect">
            <a:avLst/>
          </a:prstGeom>
        </p:spPr>
      </p:pic>
      <p:sp>
        <p:nvSpPr>
          <p:cNvPr id="18" name="TextBox 17"/>
          <p:cNvSpPr txBox="1"/>
          <p:nvPr/>
        </p:nvSpPr>
        <p:spPr>
          <a:xfrm>
            <a:off x="1600200" y="2203704"/>
            <a:ext cx="9692640" cy="25603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950" b="0" i="0">
                <a:solidFill>
                  <a:srgbClr val="CADCFC"/>
                </a:solidFill>
                <a:latin typeface="Arial"/>
              </a:rPr>
              <a:t>Best returning efficiency in the sport (0.545 in 2025, No. 1 in success rate) on a title favorite — the market has him 8th at +1400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600200" y="1938528"/>
            <a:ext cx="246888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200" b="1" i="0">
                <a:solidFill>
                  <a:srgbClr val="FFFFFF"/>
                </a:solidFill>
                <a:latin typeface="Arial"/>
              </a:rPr>
              <a:t>Julian Sayin · Ohio State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114800" y="1947672"/>
            <a:ext cx="109728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1050" b="0" i="0">
                <a:solidFill>
                  <a:srgbClr val="FFFFFF"/>
                </a:solidFill>
                <a:latin typeface="Arial"/>
              </a:rPr>
              <a:t>0.934 (28)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257800" y="1947672"/>
            <a:ext cx="73152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1050" b="0" i="0">
                <a:solidFill>
                  <a:srgbClr val="CADCFC"/>
                </a:solidFill>
                <a:latin typeface="Arial"/>
              </a:rPr>
              <a:t>0.545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035040" y="1947672"/>
            <a:ext cx="64008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1050" b="0" i="0">
                <a:solidFill>
                  <a:srgbClr val="FFFFFF"/>
                </a:solidFill>
                <a:latin typeface="Arial"/>
              </a:rPr>
              <a:t>0.606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720840" y="1947672"/>
            <a:ext cx="82296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1050" b="0" i="0">
                <a:solidFill>
                  <a:srgbClr val="FFFFFF"/>
                </a:solidFill>
                <a:latin typeface="Arial"/>
              </a:rPr>
              <a:t>47%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589520" y="1938528"/>
            <a:ext cx="64008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1250" b="1" i="0">
                <a:solidFill>
                  <a:srgbClr val="F47321"/>
                </a:solidFill>
                <a:latin typeface="Arial"/>
              </a:rPr>
              <a:t>44.7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275320" y="1947672"/>
            <a:ext cx="82296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1050" b="0" i="0">
                <a:solidFill>
                  <a:srgbClr val="FFFFFF"/>
                </a:solidFill>
                <a:latin typeface="Arial"/>
              </a:rPr>
              <a:t>+1400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9144000" y="1947672"/>
            <a:ext cx="82296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1050" b="0" i="0">
                <a:solidFill>
                  <a:srgbClr val="CADCFC"/>
                </a:solidFill>
                <a:latin typeface="Arial"/>
              </a:rPr>
              <a:t>#8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0012680" y="1947672"/>
            <a:ext cx="132588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950" b="1" i="0">
                <a:solidFill>
                  <a:srgbClr val="5CD68A"/>
                </a:solidFill>
                <a:latin typeface="Arial"/>
              </a:rPr>
              <a:t>market too low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822960" y="2505456"/>
            <a:ext cx="36576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1300" b="1" i="0">
                <a:solidFill>
                  <a:srgbClr val="F47321"/>
                </a:solidFill>
                <a:latin typeface="Arial"/>
              </a:rPr>
              <a:t>2</a:t>
            </a:r>
          </a:p>
        </p:txBody>
      </p:sp>
      <p:sp>
        <p:nvSpPr>
          <p:cNvPr id="29" name="Oval 28"/>
          <p:cNvSpPr/>
          <p:nvPr/>
        </p:nvSpPr>
        <p:spPr>
          <a:xfrm>
            <a:off x="1234440" y="2496312"/>
            <a:ext cx="274320" cy="274320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0" name="Picture 29" descr="miami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66444" y="2528316"/>
            <a:ext cx="210312" cy="210312"/>
          </a:xfrm>
          <a:prstGeom prst="rect">
            <a:avLst/>
          </a:prstGeom>
        </p:spPr>
      </p:pic>
      <p:sp>
        <p:nvSpPr>
          <p:cNvPr id="31" name="TextBox 30"/>
          <p:cNvSpPr txBox="1"/>
          <p:nvPr/>
        </p:nvSpPr>
        <p:spPr>
          <a:xfrm>
            <a:off x="1600200" y="2770632"/>
            <a:ext cx="9692640" cy="25603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950" b="0" i="0">
                <a:solidFill>
                  <a:srgbClr val="CADCFC"/>
                </a:solidFill>
                <a:latin typeface="Arial"/>
              </a:rPr>
              <a:t>401 yards, 5 TD, 90% at Stanford — but the prior is a Duke season (0.371); Miami's 74% P(10+) is the best team factor on the board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1600200" y="2505456"/>
            <a:ext cx="246888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200" b="1" i="0">
                <a:solidFill>
                  <a:srgbClr val="FFFFFF"/>
                </a:solidFill>
                <a:latin typeface="Arial"/>
              </a:rPr>
              <a:t>Darian Mensah · Miami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4114800" y="2514600"/>
            <a:ext cx="109728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1050" b="0" i="0">
                <a:solidFill>
                  <a:srgbClr val="FFFFFF"/>
                </a:solidFill>
                <a:latin typeface="Arial"/>
              </a:rPr>
              <a:t>1.107 (31)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5257800" y="2514600"/>
            <a:ext cx="73152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1050" b="0" i="0">
                <a:solidFill>
                  <a:srgbClr val="CADCFC"/>
                </a:solidFill>
                <a:latin typeface="Arial"/>
              </a:rPr>
              <a:t>0.371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6035040" y="2514600"/>
            <a:ext cx="64008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1050" b="0" i="0">
                <a:solidFill>
                  <a:srgbClr val="FFFFFF"/>
                </a:solidFill>
                <a:latin typeface="Arial"/>
              </a:rPr>
              <a:t>0.497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6720840" y="2514600"/>
            <a:ext cx="82296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1050" b="0" i="0">
                <a:solidFill>
                  <a:srgbClr val="FFFFFF"/>
                </a:solidFill>
                <a:latin typeface="Arial"/>
              </a:rPr>
              <a:t>74%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7589520" y="2505456"/>
            <a:ext cx="64008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1250" b="1" i="0">
                <a:solidFill>
                  <a:srgbClr val="F47321"/>
                </a:solidFill>
                <a:latin typeface="Arial"/>
              </a:rPr>
              <a:t>43.2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8275320" y="2514600"/>
            <a:ext cx="82296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1050" b="0" i="0">
                <a:solidFill>
                  <a:srgbClr val="FFFFFF"/>
                </a:solidFill>
                <a:latin typeface="Arial"/>
              </a:rPr>
              <a:t>+600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9144000" y="2514600"/>
            <a:ext cx="82296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1050" b="0" i="0">
                <a:solidFill>
                  <a:srgbClr val="CADCFC"/>
                </a:solidFill>
                <a:latin typeface="Arial"/>
              </a:rPr>
              <a:t>#1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10012680" y="2514600"/>
            <a:ext cx="132588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950" b="0" i="0">
                <a:solidFill>
                  <a:srgbClr val="CADCFC"/>
                </a:solidFill>
                <a:latin typeface="Arial"/>
              </a:rPr>
              <a:t>agree</a:t>
            </a:r>
          </a:p>
        </p:txBody>
      </p:sp>
      <p:sp>
        <p:nvSpPr>
          <p:cNvPr id="41" name="Rectangle 40"/>
          <p:cNvSpPr/>
          <p:nvPr/>
        </p:nvSpPr>
        <p:spPr>
          <a:xfrm>
            <a:off x="822960" y="3035808"/>
            <a:ext cx="10515600" cy="566928"/>
          </a:xfrm>
          <a:prstGeom prst="rect">
            <a:avLst/>
          </a:prstGeom>
          <a:solidFill>
            <a:srgbClr val="12356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822960" y="3072384"/>
            <a:ext cx="36576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1300" b="1" i="0">
                <a:solidFill>
                  <a:srgbClr val="F47321"/>
                </a:solidFill>
                <a:latin typeface="Arial"/>
              </a:rPr>
              <a:t>3</a:t>
            </a:r>
          </a:p>
        </p:txBody>
      </p:sp>
      <p:sp>
        <p:nvSpPr>
          <p:cNvPr id="43" name="Oval 42"/>
          <p:cNvSpPr/>
          <p:nvPr/>
        </p:nvSpPr>
        <p:spPr>
          <a:xfrm>
            <a:off x="1234440" y="3063240"/>
            <a:ext cx="274320" cy="274320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4" name="Picture 43" descr="notredam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266444" y="3095244"/>
            <a:ext cx="210312" cy="210312"/>
          </a:xfrm>
          <a:prstGeom prst="rect">
            <a:avLst/>
          </a:prstGeom>
        </p:spPr>
      </p:pic>
      <p:sp>
        <p:nvSpPr>
          <p:cNvPr id="45" name="TextBox 44"/>
          <p:cNvSpPr txBox="1"/>
          <p:nvPr/>
        </p:nvSpPr>
        <p:spPr>
          <a:xfrm>
            <a:off x="1600200" y="3337560"/>
            <a:ext cx="9692640" cy="25603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950" b="0" i="0">
                <a:solidFill>
                  <a:srgbClr val="CADCFC"/>
                </a:solidFill>
                <a:latin typeface="Arial"/>
              </a:rPr>
              <a:t>Carried by the team: Notre Dame's 91% P(10+) is the board's highest; the efficiency line is average so far (0.398 on 31 plays, 0.433 prior)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1600200" y="3072384"/>
            <a:ext cx="246888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200" b="1" i="0">
                <a:solidFill>
                  <a:srgbClr val="FFFFFF"/>
                </a:solidFill>
                <a:latin typeface="Arial"/>
              </a:rPr>
              <a:t>C.J. Carr · Notre Dame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4114800" y="3081528"/>
            <a:ext cx="109728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1050" b="0" i="0">
                <a:solidFill>
                  <a:srgbClr val="FFFFFF"/>
                </a:solidFill>
                <a:latin typeface="Arial"/>
              </a:rPr>
              <a:t>0.398 (31)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5257800" y="3081528"/>
            <a:ext cx="73152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1050" b="0" i="0">
                <a:solidFill>
                  <a:srgbClr val="CADCFC"/>
                </a:solidFill>
                <a:latin typeface="Arial"/>
              </a:rPr>
              <a:t>0.433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6035040" y="3081528"/>
            <a:ext cx="64008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1050" b="0" i="0">
                <a:solidFill>
                  <a:srgbClr val="FFFFFF"/>
                </a:solidFill>
                <a:latin typeface="Arial"/>
              </a:rPr>
              <a:t>0.427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6720840" y="3081528"/>
            <a:ext cx="82296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1050" b="0" i="0">
                <a:solidFill>
                  <a:srgbClr val="FFFFFF"/>
                </a:solidFill>
                <a:latin typeface="Arial"/>
              </a:rPr>
              <a:t>91%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7589520" y="3072384"/>
            <a:ext cx="64008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1250" b="1" i="0">
                <a:solidFill>
                  <a:srgbClr val="F47321"/>
                </a:solidFill>
                <a:latin typeface="Arial"/>
              </a:rPr>
              <a:t>40.9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8275320" y="3081528"/>
            <a:ext cx="82296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1050" b="0" i="0">
                <a:solidFill>
                  <a:srgbClr val="FFFFFF"/>
                </a:solidFill>
                <a:latin typeface="Arial"/>
              </a:rPr>
              <a:t>+1100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9144000" y="3081528"/>
            <a:ext cx="82296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1050" b="0" i="0">
                <a:solidFill>
                  <a:srgbClr val="CADCFC"/>
                </a:solidFill>
                <a:latin typeface="Arial"/>
              </a:rPr>
              <a:t>#4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10012680" y="3081528"/>
            <a:ext cx="132588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950" b="0" i="0">
                <a:solidFill>
                  <a:srgbClr val="CADCFC"/>
                </a:solidFill>
                <a:latin typeface="Arial"/>
              </a:rPr>
              <a:t>agree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822960" y="3639312"/>
            <a:ext cx="36576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1300" b="1" i="0">
                <a:solidFill>
                  <a:srgbClr val="F47321"/>
                </a:solidFill>
                <a:latin typeface="Arial"/>
              </a:rPr>
              <a:t>4</a:t>
            </a:r>
          </a:p>
        </p:txBody>
      </p:sp>
      <p:sp>
        <p:nvSpPr>
          <p:cNvPr id="56" name="Oval 55"/>
          <p:cNvSpPr/>
          <p:nvPr/>
        </p:nvSpPr>
        <p:spPr>
          <a:xfrm>
            <a:off x="1234440" y="3630168"/>
            <a:ext cx="274320" cy="274320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7" name="Picture 56" descr="indiana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266444" y="3662172"/>
            <a:ext cx="210312" cy="210312"/>
          </a:xfrm>
          <a:prstGeom prst="rect">
            <a:avLst/>
          </a:prstGeom>
        </p:spPr>
      </p:pic>
      <p:sp>
        <p:nvSpPr>
          <p:cNvPr id="58" name="TextBox 57"/>
          <p:cNvSpPr txBox="1"/>
          <p:nvPr/>
        </p:nvSpPr>
        <p:spPr>
          <a:xfrm>
            <a:off x="1600200" y="3904487"/>
            <a:ext cx="9692640" cy="25603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950" b="0" i="0">
                <a:solidFill>
                  <a:srgbClr val="CADCFC"/>
                </a:solidFill>
                <a:latin typeface="Arial"/>
              </a:rPr>
              <a:t>1.639 per play on 15 plays — a tiny sample — plus Indiana's 73% P(10+) and the offense that made a Heisman winner of a transfer last year</a:t>
            </a:r>
          </a:p>
        </p:txBody>
      </p:sp>
      <p:sp>
        <p:nvSpPr>
          <p:cNvPr id="59" name="TextBox 58"/>
          <p:cNvSpPr txBox="1"/>
          <p:nvPr/>
        </p:nvSpPr>
        <p:spPr>
          <a:xfrm>
            <a:off x="1600200" y="3639312"/>
            <a:ext cx="246888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200" b="1" i="0">
                <a:solidFill>
                  <a:srgbClr val="FFFFFF"/>
                </a:solidFill>
                <a:latin typeface="Arial"/>
              </a:rPr>
              <a:t>Josh Hoover · Indiana</a:t>
            </a:r>
          </a:p>
        </p:txBody>
      </p:sp>
      <p:sp>
        <p:nvSpPr>
          <p:cNvPr id="60" name="TextBox 59"/>
          <p:cNvSpPr txBox="1"/>
          <p:nvPr/>
        </p:nvSpPr>
        <p:spPr>
          <a:xfrm>
            <a:off x="4114800" y="3648456"/>
            <a:ext cx="109728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1050" b="0" i="0">
                <a:solidFill>
                  <a:srgbClr val="FFFFFF"/>
                </a:solidFill>
                <a:latin typeface="Arial"/>
              </a:rPr>
              <a:t>1.639 (15)</a:t>
            </a:r>
          </a:p>
        </p:txBody>
      </p:sp>
      <p:sp>
        <p:nvSpPr>
          <p:cNvPr id="61" name="TextBox 60"/>
          <p:cNvSpPr txBox="1"/>
          <p:nvPr/>
        </p:nvSpPr>
        <p:spPr>
          <a:xfrm>
            <a:off x="5257800" y="3648456"/>
            <a:ext cx="73152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1050" b="0" i="0">
                <a:solidFill>
                  <a:srgbClr val="CADCFC"/>
                </a:solidFill>
                <a:latin typeface="Arial"/>
              </a:rPr>
              <a:t>0.353</a:t>
            </a:r>
          </a:p>
        </p:txBody>
      </p:sp>
      <p:sp>
        <p:nvSpPr>
          <p:cNvPr id="62" name="TextBox 61"/>
          <p:cNvSpPr txBox="1"/>
          <p:nvPr/>
        </p:nvSpPr>
        <p:spPr>
          <a:xfrm>
            <a:off x="6035040" y="3648456"/>
            <a:ext cx="64008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1050" b="0" i="0">
                <a:solidFill>
                  <a:srgbClr val="FFFFFF"/>
                </a:solidFill>
                <a:latin typeface="Arial"/>
              </a:rPr>
              <a:t>0.470</a:t>
            </a:r>
          </a:p>
        </p:txBody>
      </p:sp>
      <p:sp>
        <p:nvSpPr>
          <p:cNvPr id="63" name="TextBox 62"/>
          <p:cNvSpPr txBox="1"/>
          <p:nvPr/>
        </p:nvSpPr>
        <p:spPr>
          <a:xfrm>
            <a:off x="6720840" y="3648456"/>
            <a:ext cx="82296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1050" b="0" i="0">
                <a:solidFill>
                  <a:srgbClr val="FFFFFF"/>
                </a:solidFill>
                <a:latin typeface="Arial"/>
              </a:rPr>
              <a:t>73%</a:t>
            </a:r>
          </a:p>
        </p:txBody>
      </p:sp>
      <p:sp>
        <p:nvSpPr>
          <p:cNvPr id="64" name="TextBox 63"/>
          <p:cNvSpPr txBox="1"/>
          <p:nvPr/>
        </p:nvSpPr>
        <p:spPr>
          <a:xfrm>
            <a:off x="7589520" y="3639312"/>
            <a:ext cx="64008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1250" b="1" i="0">
                <a:solidFill>
                  <a:srgbClr val="F47321"/>
                </a:solidFill>
                <a:latin typeface="Arial"/>
              </a:rPr>
              <a:t>40.6</a:t>
            </a:r>
          </a:p>
        </p:txBody>
      </p:sp>
      <p:sp>
        <p:nvSpPr>
          <p:cNvPr id="65" name="TextBox 64"/>
          <p:cNvSpPr txBox="1"/>
          <p:nvPr/>
        </p:nvSpPr>
        <p:spPr>
          <a:xfrm>
            <a:off x="8275320" y="3648456"/>
            <a:ext cx="82296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1050" b="0" i="0">
                <a:solidFill>
                  <a:srgbClr val="FFFFFF"/>
                </a:solidFill>
                <a:latin typeface="Arial"/>
              </a:rPr>
              <a:t>+1900</a:t>
            </a:r>
          </a:p>
        </p:txBody>
      </p:sp>
      <p:sp>
        <p:nvSpPr>
          <p:cNvPr id="66" name="TextBox 65"/>
          <p:cNvSpPr txBox="1"/>
          <p:nvPr/>
        </p:nvSpPr>
        <p:spPr>
          <a:xfrm>
            <a:off x="9144000" y="3648456"/>
            <a:ext cx="82296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1050" b="0" i="0">
                <a:solidFill>
                  <a:srgbClr val="CADCFC"/>
                </a:solidFill>
                <a:latin typeface="Arial"/>
              </a:rPr>
              <a:t>#11</a:t>
            </a:r>
          </a:p>
        </p:txBody>
      </p:sp>
      <p:sp>
        <p:nvSpPr>
          <p:cNvPr id="67" name="TextBox 66"/>
          <p:cNvSpPr txBox="1"/>
          <p:nvPr/>
        </p:nvSpPr>
        <p:spPr>
          <a:xfrm>
            <a:off x="10012680" y="3648456"/>
            <a:ext cx="132588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950" b="1" i="0">
                <a:solidFill>
                  <a:srgbClr val="5CD68A"/>
                </a:solidFill>
                <a:latin typeface="Arial"/>
              </a:rPr>
              <a:t>market too low</a:t>
            </a:r>
          </a:p>
        </p:txBody>
      </p:sp>
      <p:sp>
        <p:nvSpPr>
          <p:cNvPr id="68" name="Rectangle 67"/>
          <p:cNvSpPr/>
          <p:nvPr/>
        </p:nvSpPr>
        <p:spPr>
          <a:xfrm>
            <a:off x="822960" y="4169664"/>
            <a:ext cx="10515600" cy="566928"/>
          </a:xfrm>
          <a:prstGeom prst="rect">
            <a:avLst/>
          </a:prstGeom>
          <a:solidFill>
            <a:srgbClr val="12356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9" name="TextBox 68"/>
          <p:cNvSpPr txBox="1"/>
          <p:nvPr/>
        </p:nvSpPr>
        <p:spPr>
          <a:xfrm>
            <a:off x="822960" y="4206240"/>
            <a:ext cx="36576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1300" b="1" i="0">
                <a:solidFill>
                  <a:srgbClr val="F47321"/>
                </a:solidFill>
                <a:latin typeface="Arial"/>
              </a:rPr>
              <a:t>5</a:t>
            </a:r>
          </a:p>
        </p:txBody>
      </p:sp>
      <p:sp>
        <p:nvSpPr>
          <p:cNvPr id="70" name="Oval 69"/>
          <p:cNvSpPr/>
          <p:nvPr/>
        </p:nvSpPr>
        <p:spPr>
          <a:xfrm>
            <a:off x="1234440" y="4197096"/>
            <a:ext cx="274320" cy="274320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71" name="Picture 70" descr="texastech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266444" y="4229100"/>
            <a:ext cx="210312" cy="210312"/>
          </a:xfrm>
          <a:prstGeom prst="rect">
            <a:avLst/>
          </a:prstGeom>
        </p:spPr>
      </p:pic>
      <p:sp>
        <p:nvSpPr>
          <p:cNvPr id="72" name="TextBox 71"/>
          <p:cNvSpPr txBox="1"/>
          <p:nvPr/>
        </p:nvSpPr>
        <p:spPr>
          <a:xfrm>
            <a:off x="1600200" y="4471416"/>
            <a:ext cx="9692640" cy="25603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950" b="0" i="0">
                <a:solidFill>
                  <a:srgbClr val="CADCFC"/>
                </a:solidFill>
                <a:latin typeface="Arial"/>
              </a:rPr>
              <a:t>Situation, not tape: Texas Tech's 80% P(10+) is 2nd on the board while his efficiency is 8th of 9 (0.384) — Houston in Lubbock is the first real test</a:t>
            </a:r>
          </a:p>
        </p:txBody>
      </p:sp>
      <p:sp>
        <p:nvSpPr>
          <p:cNvPr id="73" name="TextBox 72"/>
          <p:cNvSpPr txBox="1"/>
          <p:nvPr/>
        </p:nvSpPr>
        <p:spPr>
          <a:xfrm>
            <a:off x="1600200" y="4206240"/>
            <a:ext cx="246888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200" b="1" i="0">
                <a:solidFill>
                  <a:srgbClr val="FFFFFF"/>
                </a:solidFill>
                <a:latin typeface="Arial"/>
              </a:rPr>
              <a:t>Will Hammond · Texas Tech</a:t>
            </a:r>
          </a:p>
        </p:txBody>
      </p:sp>
      <p:sp>
        <p:nvSpPr>
          <p:cNvPr id="74" name="TextBox 73"/>
          <p:cNvSpPr txBox="1"/>
          <p:nvPr/>
        </p:nvSpPr>
        <p:spPr>
          <a:xfrm>
            <a:off x="4114800" y="4215384"/>
            <a:ext cx="109728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1050" b="0" i="0">
                <a:solidFill>
                  <a:srgbClr val="FFFFFF"/>
                </a:solidFill>
                <a:latin typeface="Arial"/>
              </a:rPr>
              <a:t>0.420 (35)</a:t>
            </a:r>
          </a:p>
        </p:txBody>
      </p:sp>
      <p:sp>
        <p:nvSpPr>
          <p:cNvPr id="75" name="TextBox 74"/>
          <p:cNvSpPr txBox="1"/>
          <p:nvPr/>
        </p:nvSpPr>
        <p:spPr>
          <a:xfrm>
            <a:off x="5257800" y="4215384"/>
            <a:ext cx="73152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1050" b="0" i="0">
                <a:solidFill>
                  <a:srgbClr val="CADCFC"/>
                </a:solidFill>
                <a:latin typeface="Arial"/>
              </a:rPr>
              <a:t>0.376</a:t>
            </a:r>
          </a:p>
        </p:txBody>
      </p:sp>
      <p:sp>
        <p:nvSpPr>
          <p:cNvPr id="76" name="TextBox 75"/>
          <p:cNvSpPr txBox="1"/>
          <p:nvPr/>
        </p:nvSpPr>
        <p:spPr>
          <a:xfrm>
            <a:off x="6035040" y="4215384"/>
            <a:ext cx="64008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1050" b="0" i="0">
                <a:solidFill>
                  <a:srgbClr val="FFFFFF"/>
                </a:solidFill>
                <a:latin typeface="Arial"/>
              </a:rPr>
              <a:t>0.384</a:t>
            </a:r>
          </a:p>
        </p:txBody>
      </p:sp>
      <p:sp>
        <p:nvSpPr>
          <p:cNvPr id="77" name="TextBox 76"/>
          <p:cNvSpPr txBox="1"/>
          <p:nvPr/>
        </p:nvSpPr>
        <p:spPr>
          <a:xfrm>
            <a:off x="6720840" y="4215384"/>
            <a:ext cx="82296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1050" b="0" i="0">
                <a:solidFill>
                  <a:srgbClr val="FFFFFF"/>
                </a:solidFill>
                <a:latin typeface="Arial"/>
              </a:rPr>
              <a:t>80%</a:t>
            </a:r>
          </a:p>
        </p:txBody>
      </p:sp>
      <p:sp>
        <p:nvSpPr>
          <p:cNvPr id="78" name="TextBox 77"/>
          <p:cNvSpPr txBox="1"/>
          <p:nvPr/>
        </p:nvSpPr>
        <p:spPr>
          <a:xfrm>
            <a:off x="7589520" y="4206240"/>
            <a:ext cx="64008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1250" b="1" i="0">
                <a:solidFill>
                  <a:srgbClr val="F47321"/>
                </a:solidFill>
                <a:latin typeface="Arial"/>
              </a:rPr>
              <a:t>34.5</a:t>
            </a:r>
          </a:p>
        </p:txBody>
      </p:sp>
      <p:sp>
        <p:nvSpPr>
          <p:cNvPr id="79" name="TextBox 78"/>
          <p:cNvSpPr txBox="1"/>
          <p:nvPr/>
        </p:nvSpPr>
        <p:spPr>
          <a:xfrm>
            <a:off x="8275320" y="4215384"/>
            <a:ext cx="82296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1050" b="0" i="0">
                <a:solidFill>
                  <a:srgbClr val="CADCFC"/>
                </a:solidFill>
                <a:latin typeface="Arial"/>
              </a:rPr>
              <a:t>off board</a:t>
            </a:r>
          </a:p>
        </p:txBody>
      </p:sp>
      <p:sp>
        <p:nvSpPr>
          <p:cNvPr id="80" name="TextBox 79"/>
          <p:cNvSpPr txBox="1"/>
          <p:nvPr/>
        </p:nvSpPr>
        <p:spPr>
          <a:xfrm>
            <a:off x="9144000" y="4215384"/>
            <a:ext cx="82296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1050" b="0" i="0">
                <a:solidFill>
                  <a:srgbClr val="CADCFC"/>
                </a:solidFill>
                <a:latin typeface="Arial"/>
              </a:rPr>
              <a:t>—</a:t>
            </a:r>
          </a:p>
        </p:txBody>
      </p:sp>
      <p:sp>
        <p:nvSpPr>
          <p:cNvPr id="81" name="TextBox 80"/>
          <p:cNvSpPr txBox="1"/>
          <p:nvPr/>
        </p:nvSpPr>
        <p:spPr>
          <a:xfrm>
            <a:off x="10012680" y="4215384"/>
            <a:ext cx="132588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950" b="1" i="0">
                <a:solidFill>
                  <a:srgbClr val="CADCFC"/>
                </a:solidFill>
                <a:latin typeface="Arial"/>
              </a:rPr>
              <a:t>unpriced</a:t>
            </a:r>
          </a:p>
        </p:txBody>
      </p:sp>
      <p:sp>
        <p:nvSpPr>
          <p:cNvPr id="82" name="TextBox 81"/>
          <p:cNvSpPr txBox="1"/>
          <p:nvPr/>
        </p:nvSpPr>
        <p:spPr>
          <a:xfrm>
            <a:off x="822960" y="4773168"/>
            <a:ext cx="10515600" cy="25603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950" b="0" i="1">
                <a:solidFill>
                  <a:srgbClr val="CADCFC"/>
                </a:solidFill>
                <a:latin typeface="Arial"/>
              </a:rPr>
              <a:t>Next up: Dante Moore 31.3 (market #6) · Jayden Maiava 30.9 (market #10) · Arch Manning 30.6 (market #2) · Sam Leavitt 25.9 (market #9)</a:t>
            </a:r>
          </a:p>
        </p:txBody>
      </p:sp>
      <p:sp>
        <p:nvSpPr>
          <p:cNvPr id="83" name="Rounded Rectangle 82"/>
          <p:cNvSpPr/>
          <p:nvPr/>
        </p:nvSpPr>
        <p:spPr>
          <a:xfrm>
            <a:off x="822960" y="5102352"/>
            <a:ext cx="10515600" cy="658368"/>
          </a:xfrm>
          <a:prstGeom prst="roundRect">
            <a:avLst/>
          </a:prstGeom>
          <a:solidFill>
            <a:srgbClr val="F4732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4" name="TextBox 83"/>
          <p:cNvSpPr txBox="1"/>
          <p:nvPr/>
        </p:nvSpPr>
        <p:spPr>
          <a:xfrm>
            <a:off x="1097280" y="5193792"/>
            <a:ext cx="274320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500" b="1" i="0">
                <a:solidFill>
                  <a:srgbClr val="0A2851"/>
                </a:solidFill>
                <a:latin typeface="Arial"/>
              </a:rPr>
              <a:t>★ OUR FAVORITE</a:t>
            </a:r>
          </a:p>
        </p:txBody>
      </p:sp>
      <p:sp>
        <p:nvSpPr>
          <p:cNvPr id="85" name="TextBox 84"/>
          <p:cNvSpPr txBox="1"/>
          <p:nvPr/>
        </p:nvSpPr>
        <p:spPr>
          <a:xfrm>
            <a:off x="3657600" y="5175504"/>
            <a:ext cx="7498079" cy="5029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700" b="1" i="0">
                <a:solidFill>
                  <a:srgbClr val="FFFFFF"/>
                </a:solidFill>
                <a:latin typeface="Arial"/>
              </a:rPr>
              <a:t>Julian Sayin, Ohio State — index 44.7 · market +1400 (#8 on the board)</a:t>
            </a:r>
          </a:p>
        </p:txBody>
      </p:sp>
      <p:sp>
        <p:nvSpPr>
          <p:cNvPr id="86" name="TextBox 85"/>
          <p:cNvSpPr txBox="1"/>
          <p:nvPr/>
        </p:nvSpPr>
        <p:spPr>
          <a:xfrm>
            <a:off x="822960" y="5879592"/>
            <a:ext cx="105156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950" b="0" i="0">
                <a:solidFill>
                  <a:srgbClr val="CADCFC"/>
                </a:solidFill>
                <a:latin typeface="Arial"/>
              </a:rPr>
              <a:t>Non-QB watch (own scale — PPA per target, not comparable to the QB column): Jeremiah Smith 1.62 (+1000) · Malachi Toney 1.40 (+1250) · Ryan Wingo 1.55 · Trent Mosley 1.30</a:t>
            </a:r>
          </a:p>
        </p:txBody>
      </p:sp>
      <p:sp>
        <p:nvSpPr>
          <p:cNvPr id="87" name="TextBox 86"/>
          <p:cNvSpPr txBox="1"/>
          <p:nvPr/>
        </p:nvSpPr>
        <p:spPr>
          <a:xfrm>
            <a:off x="822960" y="6519672"/>
            <a:ext cx="105156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850" b="0" i="1">
                <a:solidFill>
                  <a:srgbClr val="CADCFC"/>
                </a:solidFill>
                <a:latin typeface="Arial"/>
              </a:rPr>
              <a:t>PPA = CFBD predicted points added per play · a great QB on a 9-win team stays alive (team factor floor 0.5) · the board re-computes every rebuild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2851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822960" y="777240"/>
            <a:ext cx="10515600" cy="4114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400" b="1" i="0">
                <a:solidFill>
                  <a:srgbClr val="F47321"/>
                </a:solidFill>
                <a:latin typeface="Arial"/>
              </a:rPr>
              <a:t>EPISODE 3 · WEEK 2 · SEP 12, 2026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1097280"/>
            <a:ext cx="10515600" cy="10058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4400" b="1" i="0">
                <a:solidFill>
                  <a:srgbClr val="FFFFFF"/>
                </a:solidFill>
                <a:latin typeface="Arial"/>
              </a:rPr>
              <a:t>Five Games, One Card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822960" y="2194560"/>
            <a:ext cx="10515600" cy="731520"/>
          </a:xfrm>
          <a:prstGeom prst="roundRect">
            <a:avLst/>
          </a:prstGeom>
          <a:solidFill>
            <a:srgbClr val="12356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1005840" y="2286000"/>
            <a:ext cx="548640" cy="548640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6" name="Picture 5" descr="oklahoma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60704" y="2340864"/>
            <a:ext cx="438912" cy="438912"/>
          </a:xfrm>
          <a:prstGeom prst="rect">
            <a:avLst/>
          </a:prstGeom>
        </p:spPr>
      </p:pic>
      <p:sp>
        <p:nvSpPr>
          <p:cNvPr id="7" name="Oval 6"/>
          <p:cNvSpPr/>
          <p:nvPr/>
        </p:nvSpPr>
        <p:spPr>
          <a:xfrm>
            <a:off x="1691640" y="2286000"/>
            <a:ext cx="548640" cy="548640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8" name="Picture 7" descr="michigan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746504" y="2340864"/>
            <a:ext cx="438912" cy="438912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2468880" y="2286000"/>
            <a:ext cx="594360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500" b="1" i="0">
                <a:solidFill>
                  <a:srgbClr val="FFFFFF"/>
                </a:solidFill>
                <a:latin typeface="Arial"/>
              </a:rPr>
              <a:t>Oklahoma at Michigan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468880" y="2615184"/>
            <a:ext cx="59436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00" b="0" i="0">
                <a:solidFill>
                  <a:srgbClr val="CADCFC"/>
                </a:solidFill>
                <a:latin typeface="Arial"/>
              </a:rPr>
              <a:t>Ann Arbor · Michigan Stadium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680960" y="2286000"/>
            <a:ext cx="347472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1350" b="1" i="0">
                <a:solidFill>
                  <a:srgbClr val="F47321"/>
                </a:solidFill>
                <a:latin typeface="Arial"/>
              </a:rPr>
              <a:t>Oklahoma –2   ·   +5.5 / +5.5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680960" y="2624328"/>
            <a:ext cx="347472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950" b="0" i="0">
                <a:solidFill>
                  <a:srgbClr val="CADCFC"/>
                </a:solidFill>
                <a:latin typeface="Arial"/>
              </a:rPr>
              <a:t>machine · market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822960" y="2999232"/>
            <a:ext cx="10515600" cy="731520"/>
          </a:xfrm>
          <a:prstGeom prst="roundRect">
            <a:avLst/>
          </a:prstGeom>
          <a:solidFill>
            <a:srgbClr val="12356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1005840" y="3090672"/>
            <a:ext cx="548640" cy="548640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5" name="Picture 14" descr="arizonastat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60704" y="3145536"/>
            <a:ext cx="438912" cy="438912"/>
          </a:xfrm>
          <a:prstGeom prst="rect">
            <a:avLst/>
          </a:prstGeom>
        </p:spPr>
      </p:pic>
      <p:sp>
        <p:nvSpPr>
          <p:cNvPr id="16" name="Oval 15"/>
          <p:cNvSpPr/>
          <p:nvPr/>
        </p:nvSpPr>
        <p:spPr>
          <a:xfrm>
            <a:off x="1691640" y="3090672"/>
            <a:ext cx="548640" cy="548640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7" name="Picture 16" descr="texasam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746504" y="3145536"/>
            <a:ext cx="438912" cy="438912"/>
          </a:xfrm>
          <a:prstGeom prst="rect">
            <a:avLst/>
          </a:prstGeom>
        </p:spPr>
      </p:pic>
      <p:sp>
        <p:nvSpPr>
          <p:cNvPr id="18" name="TextBox 17"/>
          <p:cNvSpPr txBox="1"/>
          <p:nvPr/>
        </p:nvSpPr>
        <p:spPr>
          <a:xfrm>
            <a:off x="2468880" y="3090672"/>
            <a:ext cx="594360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500" b="1" i="0">
                <a:solidFill>
                  <a:srgbClr val="FFFFFF"/>
                </a:solidFill>
                <a:latin typeface="Arial"/>
              </a:rPr>
              <a:t>Arizona State at Texas A&amp;M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2468880" y="3419856"/>
            <a:ext cx="59436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00" b="0" i="0">
                <a:solidFill>
                  <a:srgbClr val="CADCFC"/>
                </a:solidFill>
                <a:latin typeface="Arial"/>
              </a:rPr>
              <a:t>College Station · Kyle Field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680960" y="3090672"/>
            <a:ext cx="347472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1350" b="1" i="0">
                <a:solidFill>
                  <a:srgbClr val="F47321"/>
                </a:solidFill>
                <a:latin typeface="Arial"/>
              </a:rPr>
              <a:t>Texas A&amp;M –16.5   ·   –14.5 / –14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680960" y="3429000"/>
            <a:ext cx="347472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950" b="0" i="0">
                <a:solidFill>
                  <a:srgbClr val="CADCFC"/>
                </a:solidFill>
                <a:latin typeface="Arial"/>
              </a:rPr>
              <a:t>machine · market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822960" y="3803904"/>
            <a:ext cx="10515600" cy="731520"/>
          </a:xfrm>
          <a:prstGeom prst="roundRect">
            <a:avLst/>
          </a:prstGeom>
          <a:solidFill>
            <a:srgbClr val="12356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Oval 22"/>
          <p:cNvSpPr/>
          <p:nvPr/>
        </p:nvSpPr>
        <p:spPr>
          <a:xfrm>
            <a:off x="1005840" y="3895344"/>
            <a:ext cx="548640" cy="548640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4" name="Picture 23" descr="arizona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060704" y="3950207"/>
            <a:ext cx="438912" cy="438912"/>
          </a:xfrm>
          <a:prstGeom prst="rect">
            <a:avLst/>
          </a:prstGeom>
        </p:spPr>
      </p:pic>
      <p:sp>
        <p:nvSpPr>
          <p:cNvPr id="25" name="Oval 24"/>
          <p:cNvSpPr/>
          <p:nvPr/>
        </p:nvSpPr>
        <p:spPr>
          <a:xfrm>
            <a:off x="1691640" y="3895344"/>
            <a:ext cx="548640" cy="548640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6" name="Picture 25" descr="byu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746504" y="3950207"/>
            <a:ext cx="438912" cy="438912"/>
          </a:xfrm>
          <a:prstGeom prst="rect">
            <a:avLst/>
          </a:prstGeom>
        </p:spPr>
      </p:pic>
      <p:sp>
        <p:nvSpPr>
          <p:cNvPr id="27" name="TextBox 26"/>
          <p:cNvSpPr txBox="1"/>
          <p:nvPr/>
        </p:nvSpPr>
        <p:spPr>
          <a:xfrm>
            <a:off x="2468880" y="3895344"/>
            <a:ext cx="594360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500" b="1" i="0">
                <a:solidFill>
                  <a:srgbClr val="FFFFFF"/>
                </a:solidFill>
                <a:latin typeface="Arial"/>
              </a:rPr>
              <a:t>Arizona at BYU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2468880" y="4224528"/>
            <a:ext cx="59436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00" b="0" i="0">
                <a:solidFill>
                  <a:srgbClr val="CADCFC"/>
                </a:solidFill>
                <a:latin typeface="Arial"/>
              </a:rPr>
              <a:t>Provo · LaVell Edwards Stadium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7680960" y="3895344"/>
            <a:ext cx="347472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1350" b="1" i="0">
                <a:solidFill>
                  <a:srgbClr val="F47321"/>
                </a:solidFill>
                <a:latin typeface="Arial"/>
              </a:rPr>
              <a:t>BYU –8.5   ·   –7.5 / –7.5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7680960" y="4233672"/>
            <a:ext cx="347472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950" b="0" i="0">
                <a:solidFill>
                  <a:srgbClr val="CADCFC"/>
                </a:solidFill>
                <a:latin typeface="Arial"/>
              </a:rPr>
              <a:t>machine · market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822960" y="4608576"/>
            <a:ext cx="10515600" cy="731520"/>
          </a:xfrm>
          <a:prstGeom prst="roundRect">
            <a:avLst/>
          </a:prstGeom>
          <a:solidFill>
            <a:srgbClr val="12356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Oval 31"/>
          <p:cNvSpPr/>
          <p:nvPr/>
        </p:nvSpPr>
        <p:spPr>
          <a:xfrm>
            <a:off x="1005840" y="4700016"/>
            <a:ext cx="548640" cy="548640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3" name="Picture 32" descr="alabama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1060704" y="4754879"/>
            <a:ext cx="438912" cy="438912"/>
          </a:xfrm>
          <a:prstGeom prst="rect">
            <a:avLst/>
          </a:prstGeom>
        </p:spPr>
      </p:pic>
      <p:sp>
        <p:nvSpPr>
          <p:cNvPr id="34" name="Oval 33"/>
          <p:cNvSpPr/>
          <p:nvPr/>
        </p:nvSpPr>
        <p:spPr>
          <a:xfrm>
            <a:off x="1691640" y="4700016"/>
            <a:ext cx="548640" cy="548640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5" name="Picture 34" descr="kentucky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1746504" y="4754879"/>
            <a:ext cx="438912" cy="438912"/>
          </a:xfrm>
          <a:prstGeom prst="rect">
            <a:avLst/>
          </a:prstGeom>
        </p:spPr>
      </p:pic>
      <p:sp>
        <p:nvSpPr>
          <p:cNvPr id="36" name="TextBox 35"/>
          <p:cNvSpPr txBox="1"/>
          <p:nvPr/>
        </p:nvSpPr>
        <p:spPr>
          <a:xfrm>
            <a:off x="2468880" y="4700016"/>
            <a:ext cx="594360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500" b="1" i="0">
                <a:solidFill>
                  <a:srgbClr val="FFFFFF"/>
                </a:solidFill>
                <a:latin typeface="Arial"/>
              </a:rPr>
              <a:t>Alabama at Kentucky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2468880" y="5029200"/>
            <a:ext cx="59436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00" b="0" i="0">
                <a:solidFill>
                  <a:srgbClr val="CADCFC"/>
                </a:solidFill>
                <a:latin typeface="Arial"/>
              </a:rPr>
              <a:t>Lexington · Kroger Field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7680960" y="4700016"/>
            <a:ext cx="347472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1350" b="1" i="0">
                <a:solidFill>
                  <a:srgbClr val="F47321"/>
                </a:solidFill>
                <a:latin typeface="Arial"/>
              </a:rPr>
              <a:t>Alabama –13   ·   +10.5 / +10.5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7680960" y="5038344"/>
            <a:ext cx="347472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950" b="0" i="0">
                <a:solidFill>
                  <a:srgbClr val="CADCFC"/>
                </a:solidFill>
                <a:latin typeface="Arial"/>
              </a:rPr>
              <a:t>machine · market</a:t>
            </a:r>
          </a:p>
        </p:txBody>
      </p:sp>
      <p:sp>
        <p:nvSpPr>
          <p:cNvPr id="40" name="Rounded Rectangle 39"/>
          <p:cNvSpPr/>
          <p:nvPr/>
        </p:nvSpPr>
        <p:spPr>
          <a:xfrm>
            <a:off x="822960" y="5413248"/>
            <a:ext cx="10515600" cy="731520"/>
          </a:xfrm>
          <a:prstGeom prst="roundRect">
            <a:avLst/>
          </a:prstGeom>
          <a:solidFill>
            <a:srgbClr val="12356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Oval 40"/>
          <p:cNvSpPr/>
          <p:nvPr/>
        </p:nvSpPr>
        <p:spPr>
          <a:xfrm>
            <a:off x="1005840" y="5504688"/>
            <a:ext cx="548640" cy="548640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2" name="Picture 41" descr="ohiostate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1060704" y="5559551"/>
            <a:ext cx="438912" cy="438912"/>
          </a:xfrm>
          <a:prstGeom prst="rect">
            <a:avLst/>
          </a:prstGeom>
        </p:spPr>
      </p:pic>
      <p:sp>
        <p:nvSpPr>
          <p:cNvPr id="43" name="Oval 42"/>
          <p:cNvSpPr/>
          <p:nvPr/>
        </p:nvSpPr>
        <p:spPr>
          <a:xfrm>
            <a:off x="1691640" y="5504688"/>
            <a:ext cx="548640" cy="548640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4" name="Picture 43" descr="texas.png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1746504" y="5559551"/>
            <a:ext cx="438912" cy="438912"/>
          </a:xfrm>
          <a:prstGeom prst="rect">
            <a:avLst/>
          </a:prstGeom>
        </p:spPr>
      </p:pic>
      <p:sp>
        <p:nvSpPr>
          <p:cNvPr id="45" name="TextBox 44"/>
          <p:cNvSpPr txBox="1"/>
          <p:nvPr/>
        </p:nvSpPr>
        <p:spPr>
          <a:xfrm>
            <a:off x="2468880" y="5504688"/>
            <a:ext cx="594360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500" b="1" i="0">
                <a:solidFill>
                  <a:srgbClr val="FFFFFF"/>
                </a:solidFill>
                <a:latin typeface="Arial"/>
              </a:rPr>
              <a:t>Ohio State at Texas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2468880" y="5833872"/>
            <a:ext cx="59436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00" b="0" i="0">
                <a:solidFill>
                  <a:srgbClr val="CADCFC"/>
                </a:solidFill>
                <a:latin typeface="Arial"/>
              </a:rPr>
              <a:t>Austin · DKR–Texas Memorial Stadium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7680960" y="5504688"/>
            <a:ext cx="347472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1350" b="1" i="0">
                <a:solidFill>
                  <a:srgbClr val="F47321"/>
                </a:solidFill>
                <a:latin typeface="Arial"/>
              </a:rPr>
              <a:t>Texas –3.5   ·   –1.5 / –2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7680960" y="5843016"/>
            <a:ext cx="347472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950" b="0" i="0">
                <a:solidFill>
                  <a:srgbClr val="CADCFC"/>
                </a:solidFill>
                <a:latin typeface="Arial"/>
              </a:rPr>
              <a:t>machine · market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822960" y="6263640"/>
            <a:ext cx="1051560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50" b="0" i="0">
                <a:solidFill>
                  <a:srgbClr val="8FA5C4"/>
                </a:solidFill>
                <a:latin typeface="Arial"/>
              </a:rPr>
              <a:t>Machine = our in-season rating (ESPN preseason FPI prior + 2026 results, λ 3, cap ±28) + 2.5 HFA · empirical margin curve (σ 15.9) · lines as of Sep 9 · model plays graded vs first-seen lines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822960" y="457200"/>
            <a:ext cx="10515600" cy="5029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3000" b="1" i="0">
                <a:solidFill>
                  <a:srgbClr val="0A2851"/>
                </a:solidFill>
                <a:latin typeface="Arial"/>
              </a:rPr>
              <a:t>Week 1 — the receipts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987552"/>
            <a:ext cx="105156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100" b="0" i="1">
                <a:solidFill>
                  <a:srgbClr val="5C6B7E"/>
                </a:solidFill>
                <a:latin typeface="Arial"/>
              </a:rPr>
              <a:t>Our call frozen at the Ep2 recording · closing line = last pre-kick pull (Fri 5 PM ET · Mon 9:25 AM ET) · “off by” = miss vs the final margin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822960" y="1417320"/>
            <a:ext cx="10515600" cy="786384"/>
          </a:xfrm>
          <a:prstGeom prst="roundRect">
            <a:avLst/>
          </a:prstGeom>
          <a:solidFill>
            <a:srgbClr val="EAF0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" name="Picture 4" descr="baylor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05840" y="1536192"/>
            <a:ext cx="548640" cy="548640"/>
          </a:xfrm>
          <a:prstGeom prst="rect">
            <a:avLst/>
          </a:prstGeom>
        </p:spPr>
      </p:pic>
      <p:pic>
        <p:nvPicPr>
          <p:cNvPr id="6" name="Picture 5" descr="auburn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645920" y="1536192"/>
            <a:ext cx="548640" cy="54864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2377440" y="1499616"/>
            <a:ext cx="438912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350" b="1" i="0">
                <a:solidFill>
                  <a:srgbClr val="16273D"/>
                </a:solidFill>
                <a:latin typeface="Arial"/>
              </a:rPr>
              <a:t>Baylor vs Auburn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377440" y="1837944"/>
            <a:ext cx="448056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50" b="0" i="0">
                <a:solidFill>
                  <a:srgbClr val="16273D"/>
                </a:solidFill>
                <a:latin typeface="Arial"/>
              </a:rPr>
              <a:t>we called Auburn 33–27 · FINAL Auburn 17–16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720840" y="1517904"/>
            <a:ext cx="438912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950" b="0" i="0">
                <a:solidFill>
                  <a:srgbClr val="5C6B7E"/>
                </a:solidFill>
                <a:latin typeface="Arial"/>
              </a:rPr>
              <a:t>our line Auburn –5.5 · closing Auburn –7.5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720840" y="1819656"/>
            <a:ext cx="438912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00" b="1" i="0">
                <a:solidFill>
                  <a:srgbClr val="F47321"/>
                </a:solidFill>
                <a:latin typeface="Arial"/>
              </a:rPr>
              <a:t>machine off by 4.5 · market off by 6.5 — machine closer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22960" y="2276856"/>
            <a:ext cx="10515600" cy="786384"/>
          </a:xfrm>
          <a:prstGeom prst="roundRect">
            <a:avLst/>
          </a:prstGeom>
          <a:solidFill>
            <a:srgbClr val="EAF0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2" name="Picture 11" descr="clemson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05840" y="2395728"/>
            <a:ext cx="548640" cy="548640"/>
          </a:xfrm>
          <a:prstGeom prst="rect">
            <a:avLst/>
          </a:prstGeom>
        </p:spPr>
      </p:pic>
      <p:pic>
        <p:nvPicPr>
          <p:cNvPr id="13" name="Picture 12" descr="lsu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645920" y="2395728"/>
            <a:ext cx="548640" cy="548640"/>
          </a:xfrm>
          <a:prstGeom prst="rect">
            <a:avLst/>
          </a:prstGeom>
        </p:spPr>
      </p:pic>
      <p:sp>
        <p:nvSpPr>
          <p:cNvPr id="14" name="TextBox 13"/>
          <p:cNvSpPr txBox="1"/>
          <p:nvPr/>
        </p:nvSpPr>
        <p:spPr>
          <a:xfrm>
            <a:off x="2377440" y="2359152"/>
            <a:ext cx="438912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350" b="1" i="0">
                <a:solidFill>
                  <a:srgbClr val="16273D"/>
                </a:solidFill>
                <a:latin typeface="Arial"/>
              </a:rPr>
              <a:t>Clemson at LSU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2377440" y="2697480"/>
            <a:ext cx="448056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50" b="0" i="0">
                <a:solidFill>
                  <a:srgbClr val="16273D"/>
                </a:solidFill>
                <a:latin typeface="Arial"/>
              </a:rPr>
              <a:t>we called LSU 30–21 · FINAL LSU 51–10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720840" y="2377440"/>
            <a:ext cx="438912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950" b="0" i="0">
                <a:solidFill>
                  <a:srgbClr val="5C6B7E"/>
                </a:solidFill>
                <a:latin typeface="Arial"/>
              </a:rPr>
              <a:t>our line LSU –9 · closing LSU –10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720840" y="2679192"/>
            <a:ext cx="438912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00" b="1" i="0">
                <a:solidFill>
                  <a:srgbClr val="B5121B"/>
                </a:solidFill>
                <a:latin typeface="Arial"/>
              </a:rPr>
              <a:t>machine off by 32 · market off by 31 — market closer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822960" y="3136392"/>
            <a:ext cx="10515600" cy="786384"/>
          </a:xfrm>
          <a:prstGeom prst="roundRect">
            <a:avLst/>
          </a:prstGeom>
          <a:solidFill>
            <a:srgbClr val="EAF0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9" name="Picture 18" descr="louisvill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005840" y="3255264"/>
            <a:ext cx="548640" cy="548640"/>
          </a:xfrm>
          <a:prstGeom prst="rect">
            <a:avLst/>
          </a:prstGeom>
        </p:spPr>
      </p:pic>
      <p:pic>
        <p:nvPicPr>
          <p:cNvPr id="20" name="Picture 19" descr="olemiss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645920" y="3255264"/>
            <a:ext cx="548640" cy="548640"/>
          </a:xfrm>
          <a:prstGeom prst="rect">
            <a:avLst/>
          </a:prstGeom>
        </p:spPr>
      </p:pic>
      <p:sp>
        <p:nvSpPr>
          <p:cNvPr id="21" name="TextBox 20"/>
          <p:cNvSpPr txBox="1"/>
          <p:nvPr/>
        </p:nvSpPr>
        <p:spPr>
          <a:xfrm>
            <a:off x="2377440" y="3218688"/>
            <a:ext cx="438912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350" b="1" i="0">
                <a:solidFill>
                  <a:srgbClr val="16273D"/>
                </a:solidFill>
                <a:latin typeface="Arial"/>
              </a:rPr>
              <a:t>Louisville vs Ole Miss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2377440" y="3557016"/>
            <a:ext cx="448056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50" b="0" i="0">
                <a:solidFill>
                  <a:srgbClr val="16273D"/>
                </a:solidFill>
                <a:latin typeface="Arial"/>
              </a:rPr>
              <a:t>we called Ole Miss 31–25 · FINAL Ole Miss 41–38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720840" y="3236976"/>
            <a:ext cx="438912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950" b="0" i="0">
                <a:solidFill>
                  <a:srgbClr val="5C6B7E"/>
                </a:solidFill>
                <a:latin typeface="Arial"/>
              </a:rPr>
              <a:t>our line Ole Miss –6.5 · closing Ole Miss –6.5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720840" y="3538728"/>
            <a:ext cx="438912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00" b="1" i="0">
                <a:solidFill>
                  <a:srgbClr val="5C6B7E"/>
                </a:solidFill>
                <a:latin typeface="Arial"/>
              </a:rPr>
              <a:t>machine off by 3.5 · market off by 3.5 — dead tie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822960" y="3995928"/>
            <a:ext cx="10515600" cy="786384"/>
          </a:xfrm>
          <a:prstGeom prst="roundRect">
            <a:avLst/>
          </a:prstGeom>
          <a:solidFill>
            <a:srgbClr val="EAF0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6" name="Picture 25" descr="wisconsin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1005840" y="4114800"/>
            <a:ext cx="548640" cy="548640"/>
          </a:xfrm>
          <a:prstGeom prst="rect">
            <a:avLst/>
          </a:prstGeom>
        </p:spPr>
      </p:pic>
      <p:pic>
        <p:nvPicPr>
          <p:cNvPr id="27" name="Picture 26" descr="notredame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1645920" y="4114800"/>
            <a:ext cx="548640" cy="548640"/>
          </a:xfrm>
          <a:prstGeom prst="rect">
            <a:avLst/>
          </a:prstGeom>
        </p:spPr>
      </p:pic>
      <p:sp>
        <p:nvSpPr>
          <p:cNvPr id="28" name="TextBox 27"/>
          <p:cNvSpPr txBox="1"/>
          <p:nvPr/>
        </p:nvSpPr>
        <p:spPr>
          <a:xfrm>
            <a:off x="2377440" y="4078224"/>
            <a:ext cx="438912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350" b="1" i="0">
                <a:solidFill>
                  <a:srgbClr val="16273D"/>
                </a:solidFill>
                <a:latin typeface="Arial"/>
              </a:rPr>
              <a:t>Wisconsin vs Notre Dame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2377440" y="4416552"/>
            <a:ext cx="448056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50" b="0" i="0">
                <a:solidFill>
                  <a:srgbClr val="16273D"/>
                </a:solidFill>
                <a:latin typeface="Arial"/>
              </a:rPr>
              <a:t>we called ND 34–13 · FINAL Notre Dame 41–13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720840" y="4096512"/>
            <a:ext cx="438912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950" b="0" i="0">
                <a:solidFill>
                  <a:srgbClr val="5C6B7E"/>
                </a:solidFill>
                <a:latin typeface="Arial"/>
              </a:rPr>
              <a:t>our line Notre Dame –21 · closing Notre Dame –20.5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720840" y="4398264"/>
            <a:ext cx="438912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00" b="1" i="0">
                <a:solidFill>
                  <a:srgbClr val="F47321"/>
                </a:solidFill>
                <a:latin typeface="Arial"/>
              </a:rPr>
              <a:t>machine off by 7 · market off by 7.5 — machine closer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822960" y="4855464"/>
            <a:ext cx="10515600" cy="786384"/>
          </a:xfrm>
          <a:prstGeom prst="roundRect">
            <a:avLst/>
          </a:prstGeom>
          <a:solidFill>
            <a:srgbClr val="EAF0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3" name="Picture 32" descr="smu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1005840" y="4974336"/>
            <a:ext cx="548640" cy="548640"/>
          </a:xfrm>
          <a:prstGeom prst="rect">
            <a:avLst/>
          </a:prstGeom>
        </p:spPr>
      </p:pic>
      <p:pic>
        <p:nvPicPr>
          <p:cNvPr id="34" name="Picture 33" descr="floridastate.png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1645920" y="4974336"/>
            <a:ext cx="548640" cy="548640"/>
          </a:xfrm>
          <a:prstGeom prst="rect">
            <a:avLst/>
          </a:prstGeom>
        </p:spPr>
      </p:pic>
      <p:sp>
        <p:nvSpPr>
          <p:cNvPr id="35" name="TextBox 34"/>
          <p:cNvSpPr txBox="1"/>
          <p:nvPr/>
        </p:nvSpPr>
        <p:spPr>
          <a:xfrm>
            <a:off x="2377440" y="4937760"/>
            <a:ext cx="438912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350" b="1" i="0">
                <a:solidFill>
                  <a:srgbClr val="16273D"/>
                </a:solidFill>
                <a:latin typeface="Arial"/>
              </a:rPr>
              <a:t>SMU at Florida State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2377440" y="5276088"/>
            <a:ext cx="448056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50" b="0" i="0">
                <a:solidFill>
                  <a:srgbClr val="16273D"/>
                </a:solidFill>
                <a:latin typeface="Arial"/>
              </a:rPr>
              <a:t>we called FSU 27–26 · FINAL SMU 27–24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6720840" y="4956048"/>
            <a:ext cx="438912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950" b="0" i="0">
                <a:solidFill>
                  <a:srgbClr val="5C6B7E"/>
                </a:solidFill>
                <a:latin typeface="Arial"/>
              </a:rPr>
              <a:t>our line Florida State –0.5 · closing SMU –2.5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6720840" y="5257800"/>
            <a:ext cx="438912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00" b="1" i="0">
                <a:solidFill>
                  <a:srgbClr val="B5121B"/>
                </a:solidFill>
                <a:latin typeface="Arial"/>
              </a:rPr>
              <a:t>machine off by 3.5 · market off by 0.5 — market closer</a:t>
            </a:r>
          </a:p>
        </p:txBody>
      </p:sp>
      <p:sp>
        <p:nvSpPr>
          <p:cNvPr id="39" name="Rounded Rectangle 38"/>
          <p:cNvSpPr/>
          <p:nvPr/>
        </p:nvSpPr>
        <p:spPr>
          <a:xfrm>
            <a:off x="822960" y="5760720"/>
            <a:ext cx="10515600" cy="777240"/>
          </a:xfrm>
          <a:prstGeom prst="roundRect">
            <a:avLst/>
          </a:prstGeom>
          <a:solidFill>
            <a:srgbClr val="0A285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1051560" y="5870448"/>
            <a:ext cx="10058400" cy="5943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50" b="0" i="0">
                <a:solidFill>
                  <a:srgbClr val="FFFFFF"/>
                </a:solidFill>
                <a:latin typeface="Arial"/>
              </a:rPr>
              <a:t>Total miss across 5 graded games: machine 50.5 points, closing market 49.0 — machine closer in 2, market in 2, 1 tie. Stated positions 2–0: Baylor +7.5 covered and the MONSTER UNDER on 59.5 cashed (33 total). Two weeks in: machine 120.5 vs market 119.0 across 10 games — still a coin flip with Vegas. Stated leans 3–2 on the season.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oklahoma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22960" y="384048"/>
            <a:ext cx="731520" cy="73152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664208" y="475488"/>
            <a:ext cx="45720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1400" b="0" i="0">
                <a:solidFill>
                  <a:srgbClr val="5C6B7E"/>
                </a:solidFill>
                <a:latin typeface="Arial"/>
              </a:rPr>
              <a:t>at</a:t>
            </a:r>
          </a:p>
        </p:txBody>
      </p:sp>
      <p:pic>
        <p:nvPicPr>
          <p:cNvPr id="4" name="Picture 3" descr="michigan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148840" y="384048"/>
            <a:ext cx="731520" cy="73152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3154680" y="347472"/>
            <a:ext cx="8138160" cy="5029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2700" b="1" i="0">
                <a:solidFill>
                  <a:srgbClr val="0A2851"/>
                </a:solidFill>
                <a:latin typeface="Arial"/>
              </a:rPr>
              <a:t>Oklahoma at Michigan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154680" y="859536"/>
            <a:ext cx="813816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100" b="0" i="1">
                <a:solidFill>
                  <a:srgbClr val="5C6B7E"/>
                </a:solidFill>
                <a:latin typeface="Arial"/>
              </a:rPr>
              <a:t>Sat Sep 12 · 12:00 ET · rematch of OU's 24–13 win in Norman · Whittingham's first Big House test · the card's biggest machine-market gap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22960" y="1600200"/>
            <a:ext cx="658368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300" b="1" i="0">
                <a:solidFill>
                  <a:srgbClr val="0A2851"/>
                </a:solidFill>
                <a:latin typeface="Arial"/>
              </a:rPr>
              <a:t>WHY IT MATTERS</a:t>
            </a:r>
          </a:p>
        </p:txBody>
      </p:sp>
      <p:sp>
        <p:nvSpPr>
          <p:cNvPr id="8" name="Oval 7"/>
          <p:cNvSpPr/>
          <p:nvPr/>
        </p:nvSpPr>
        <p:spPr>
          <a:xfrm>
            <a:off x="868680" y="2176272"/>
            <a:ext cx="128016" cy="128016"/>
          </a:xfrm>
          <a:prstGeom prst="ellipse">
            <a:avLst/>
          </a:prstGeom>
          <a:solidFill>
            <a:srgbClr val="F4732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188720" y="2057400"/>
            <a:ext cx="6217920" cy="7315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600" b="0" i="0">
                <a:solidFill>
                  <a:srgbClr val="16273D"/>
                </a:solidFill>
                <a:latin typeface="Arial"/>
              </a:rPr>
              <a:t>The line swung eight points on one MAC game</a:t>
            </a:r>
          </a:p>
        </p:txBody>
      </p:sp>
      <p:sp>
        <p:nvSpPr>
          <p:cNvPr id="10" name="Oval 9"/>
          <p:cNvSpPr/>
          <p:nvPr/>
        </p:nvSpPr>
        <p:spPr>
          <a:xfrm>
            <a:off x="868680" y="2889504"/>
            <a:ext cx="128016" cy="128016"/>
          </a:xfrm>
          <a:prstGeom prst="ellipse">
            <a:avLst/>
          </a:prstGeom>
          <a:solidFill>
            <a:srgbClr val="F4732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188720" y="2770632"/>
            <a:ext cx="6217920" cy="7315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600" b="0" i="0">
                <a:solidFill>
                  <a:srgbClr val="16273D"/>
                </a:solidFill>
                <a:latin typeface="Arial"/>
              </a:rPr>
              <a:t>Whittingham's Utah system, one game old, vs Venables' year-five defense</a:t>
            </a:r>
          </a:p>
        </p:txBody>
      </p:sp>
      <p:sp>
        <p:nvSpPr>
          <p:cNvPr id="12" name="Oval 11"/>
          <p:cNvSpPr/>
          <p:nvPr/>
        </p:nvSpPr>
        <p:spPr>
          <a:xfrm>
            <a:off x="868680" y="3602736"/>
            <a:ext cx="128016" cy="128016"/>
          </a:xfrm>
          <a:prstGeom prst="ellipse">
            <a:avLst/>
          </a:prstGeom>
          <a:solidFill>
            <a:srgbClr val="F4732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188720" y="3483864"/>
            <a:ext cx="6217920" cy="7315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600" b="0" i="0">
                <a:solidFill>
                  <a:srgbClr val="16273D"/>
                </a:solidFill>
                <a:latin typeface="Arial"/>
              </a:rPr>
              <a:t>Underwood's year two vs Mateer's rebuilt motion</a:t>
            </a:r>
          </a:p>
        </p:txBody>
      </p:sp>
      <p:sp>
        <p:nvSpPr>
          <p:cNvPr id="14" name="Oval 13"/>
          <p:cNvSpPr/>
          <p:nvPr/>
        </p:nvSpPr>
        <p:spPr>
          <a:xfrm>
            <a:off x="868680" y="4315968"/>
            <a:ext cx="128016" cy="128016"/>
          </a:xfrm>
          <a:prstGeom prst="ellipse">
            <a:avLst/>
          </a:prstGeom>
          <a:solidFill>
            <a:srgbClr val="F4732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188720" y="4197096"/>
            <a:ext cx="6217920" cy="7315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600" b="0" i="0">
                <a:solidFill>
                  <a:srgbClr val="16273D"/>
                </a:solidFill>
                <a:latin typeface="Arial"/>
              </a:rPr>
              <a:t>Payback: OU won 24–13 in Norman last year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822960" y="5047488"/>
            <a:ext cx="6583680" cy="960120"/>
          </a:xfrm>
          <a:prstGeom prst="roundRect">
            <a:avLst/>
          </a:prstGeom>
          <a:solidFill>
            <a:srgbClr val="EAF0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1051560" y="5202936"/>
            <a:ext cx="6126480" cy="6858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300" b="0" i="1">
                <a:solidFill>
                  <a:srgbClr val="5C6B7E"/>
                </a:solidFill>
                <a:latin typeface="Arial"/>
              </a:rPr>
              <a:t>The market moved 7, the machine moved 4.3 — lean Michigan +5.5 as research, not a position.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7772400" y="1600200"/>
            <a:ext cx="3566160" cy="4206240"/>
          </a:xfrm>
          <a:prstGeom prst="roundRect">
            <a:avLst/>
          </a:prstGeom>
          <a:solidFill>
            <a:srgbClr val="0A285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046720" y="1810512"/>
            <a:ext cx="301752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200" b="1" i="0">
                <a:solidFill>
                  <a:srgbClr val="F47321"/>
                </a:solidFill>
                <a:latin typeface="Arial"/>
              </a:rPr>
              <a:t>THE NUMBER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046720" y="2103120"/>
            <a:ext cx="3017520" cy="5029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2800" b="1" i="0">
                <a:solidFill>
                  <a:srgbClr val="FFFFFF"/>
                </a:solidFill>
                <a:latin typeface="Arial"/>
              </a:rPr>
              <a:t>Oklahoma –2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046720" y="2596896"/>
            <a:ext cx="301752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200" b="1" i="0">
                <a:solidFill>
                  <a:srgbClr val="FFFFFF"/>
                </a:solidFill>
                <a:latin typeface="Arial"/>
              </a:rPr>
              <a:t>Michigan +118 · Oklahoma –118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046720" y="2852928"/>
            <a:ext cx="3017520" cy="25603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850" b="0" i="0">
                <a:solidFill>
                  <a:srgbClr val="CADCFC"/>
                </a:solidFill>
                <a:latin typeface="Arial"/>
              </a:rPr>
              <a:t>machine line · fair odds, no vig · raw margin Oklahoma +1.9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046720" y="3246120"/>
            <a:ext cx="3017520" cy="4114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2000" b="1" i="0">
                <a:solidFill>
                  <a:srgbClr val="FFFFFF"/>
                </a:solidFill>
                <a:latin typeface="Arial"/>
              </a:rPr>
              <a:t>+5.5 / +5.5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046720" y="3639312"/>
            <a:ext cx="301752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850" b="0" i="0">
                <a:solidFill>
                  <a:srgbClr val="CADCFC"/>
                </a:solidFill>
                <a:latin typeface="Arial"/>
              </a:rPr>
              <a:t>market (DK / Bovada) · DK Michigan +190 / Oklahoma -230 · Bov Michigan +175 / Oklahoma -210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046720" y="4069080"/>
            <a:ext cx="301752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300" b="1" i="0">
                <a:solidFill>
                  <a:srgbClr val="F47321"/>
                </a:solidFill>
                <a:latin typeface="Arial"/>
              </a:rPr>
              <a:t>Oklahoma 23 – Michigan 21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046720" y="4407408"/>
            <a:ext cx="301752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850" b="0" i="0">
                <a:solidFill>
                  <a:srgbClr val="CADCFC"/>
                </a:solidFill>
                <a:latin typeface="Arial"/>
              </a:rPr>
              <a:t>score prediction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8046720" y="4754880"/>
            <a:ext cx="3017520" cy="365760"/>
          </a:xfrm>
          <a:prstGeom prst="roundRect">
            <a:avLst/>
          </a:prstGeom>
          <a:solidFill>
            <a:srgbClr val="84161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ounded Rectangle 27"/>
          <p:cNvSpPr/>
          <p:nvPr/>
        </p:nvSpPr>
        <p:spPr>
          <a:xfrm>
            <a:off x="8046720" y="4754880"/>
            <a:ext cx="1388059" cy="365760"/>
          </a:xfrm>
          <a:prstGeom prst="roundRect">
            <a:avLst/>
          </a:prstGeom>
          <a:solidFill>
            <a:srgbClr val="00274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8119872" y="4837176"/>
            <a:ext cx="219456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50" b="1" i="0">
                <a:solidFill>
                  <a:srgbClr val="FFFFFF"/>
                </a:solidFill>
                <a:latin typeface="Arial"/>
              </a:rPr>
              <a:t>MICH 46%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8796528" y="4837176"/>
            <a:ext cx="219456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1050" b="1" i="0">
                <a:solidFill>
                  <a:srgbClr val="FFFFFF"/>
                </a:solidFill>
                <a:latin typeface="Arial"/>
              </a:rPr>
              <a:t>54% OU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8046720" y="5175504"/>
            <a:ext cx="301752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850" b="0" i="0">
                <a:solidFill>
                  <a:srgbClr val="CADCFC"/>
                </a:solidFill>
                <a:latin typeface="Arial"/>
              </a:rPr>
              <a:t>win probability (machine)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8046720" y="5440680"/>
            <a:ext cx="301752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950" b="1" i="0">
                <a:solidFill>
                  <a:srgbClr val="F47321"/>
                </a:solidFill>
                <a:latin typeface="Arial"/>
              </a:rPr>
              <a:t>LINE MOVE  –2.5 → +5.5 · CLV +8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822960" y="6236208"/>
            <a:ext cx="105156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50" b="0" i="0">
                <a:solidFill>
                  <a:srgbClr val="5C6B7E"/>
                </a:solidFill>
                <a:latin typeface="Arial"/>
              </a:rPr>
              <a:t>Line movement: first-seen –2.5 (Aug 18) → now +5.5 · opened –1.5 · CLV +8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oklahoma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22960" y="502920"/>
            <a:ext cx="1051560" cy="105156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2148840" y="603504"/>
            <a:ext cx="9052560" cy="56692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3200" b="1" i="0">
                <a:solidFill>
                  <a:srgbClr val="0A2851"/>
                </a:solidFill>
                <a:latin typeface="Arial"/>
              </a:rPr>
              <a:t>Oklahoma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148840" y="1225296"/>
            <a:ext cx="905256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300" b="0" i="1">
                <a:solidFill>
                  <a:srgbClr val="5C6B7E"/>
                </a:solidFill>
                <a:latin typeface="Arial"/>
              </a:rPr>
              <a:t>What it takes to win · Oklahoma at Michigan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822960" y="1783080"/>
            <a:ext cx="10515600" cy="960120"/>
          </a:xfrm>
          <a:prstGeom prst="roundRect">
            <a:avLst/>
          </a:prstGeom>
          <a:solidFill>
            <a:srgbClr val="EAF0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51560" y="1901952"/>
            <a:ext cx="324612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950" b="1" i="0">
                <a:solidFill>
                  <a:srgbClr val="F47321"/>
                </a:solidFill>
                <a:latin typeface="Arial"/>
              </a:rPr>
              <a:t>COACH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51560" y="2139696"/>
            <a:ext cx="3246120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50" b="0" i="0">
                <a:solidFill>
                  <a:srgbClr val="16273D"/>
                </a:solidFill>
                <a:latin typeface="Arial"/>
              </a:rPr>
              <a:t>Venables, year 5 — calls the defense himself; OC Arbuckle year two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0" y="1901952"/>
            <a:ext cx="324612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950" b="1" i="0">
                <a:solidFill>
                  <a:srgbClr val="F47321"/>
                </a:solidFill>
                <a:latin typeface="Arial"/>
              </a:rPr>
              <a:t>QB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0" y="2139696"/>
            <a:ext cx="3246120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50" b="0" i="0">
                <a:solidFill>
                  <a:srgbClr val="16273D"/>
                </a:solidFill>
                <a:latin typeface="Arial"/>
              </a:rPr>
              <a:t>RETURNS — John Mateer, senior; new throwing motion after the 2025 thumb injury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092440" y="1901952"/>
            <a:ext cx="324612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950" b="1" i="0">
                <a:solidFill>
                  <a:srgbClr val="F47321"/>
                </a:solidFill>
                <a:latin typeface="Arial"/>
              </a:rPr>
              <a:t>ROSTER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092440" y="2139696"/>
            <a:ext cx="3246120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50" b="0" i="0">
                <a:solidFill>
                  <a:srgbClr val="16273D"/>
                </a:solidFill>
                <a:latin typeface="Arial"/>
              </a:rPr>
              <a:t>63% back · 16 portal adds — five OL transfers, WR room rebuilt around Sategna</a:t>
            </a:r>
          </a:p>
        </p:txBody>
      </p:sp>
      <p:sp>
        <p:nvSpPr>
          <p:cNvPr id="12" name="Oval 11"/>
          <p:cNvSpPr/>
          <p:nvPr/>
        </p:nvSpPr>
        <p:spPr>
          <a:xfrm>
            <a:off x="914400" y="3291840"/>
            <a:ext cx="137160" cy="137160"/>
          </a:xfrm>
          <a:prstGeom prst="ellipse">
            <a:avLst/>
          </a:prstGeom>
          <a:solidFill>
            <a:srgbClr val="F4732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325880" y="3108960"/>
            <a:ext cx="9601200" cy="7315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2400" b="1" i="0">
                <a:solidFill>
                  <a:srgbClr val="16273D"/>
                </a:solidFill>
                <a:latin typeface="Arial"/>
              </a:rPr>
              <a:t>Mateer's legs vs Hill's pressure</a:t>
            </a:r>
          </a:p>
        </p:txBody>
      </p:sp>
      <p:sp>
        <p:nvSpPr>
          <p:cNvPr id="14" name="Oval 13"/>
          <p:cNvSpPr/>
          <p:nvPr/>
        </p:nvSpPr>
        <p:spPr>
          <a:xfrm>
            <a:off x="914400" y="4133088"/>
            <a:ext cx="137160" cy="137160"/>
          </a:xfrm>
          <a:prstGeom prst="ellipse">
            <a:avLst/>
          </a:prstGeom>
          <a:solidFill>
            <a:srgbClr val="F4732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325880" y="3950208"/>
            <a:ext cx="9601200" cy="7315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2400" b="1" i="0">
                <a:solidFill>
                  <a:srgbClr val="16273D"/>
                </a:solidFill>
                <a:latin typeface="Arial"/>
              </a:rPr>
              <a:t>The portal line has to prove it</a:t>
            </a:r>
          </a:p>
        </p:txBody>
      </p:sp>
      <p:sp>
        <p:nvSpPr>
          <p:cNvPr id="16" name="Oval 15"/>
          <p:cNvSpPr/>
          <p:nvPr/>
        </p:nvSpPr>
        <p:spPr>
          <a:xfrm>
            <a:off x="914400" y="4974336"/>
            <a:ext cx="137160" cy="137160"/>
          </a:xfrm>
          <a:prstGeom prst="ellipse">
            <a:avLst/>
          </a:prstGeom>
          <a:solidFill>
            <a:srgbClr val="F4732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1325880" y="4791456"/>
            <a:ext cx="9601200" cy="7315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2400" b="1" i="0">
                <a:solidFill>
                  <a:srgbClr val="16273D"/>
                </a:solidFill>
                <a:latin typeface="Arial"/>
              </a:rPr>
              <a:t>Erase Underwood's bad day</a:t>
            </a:r>
          </a:p>
        </p:txBody>
      </p:sp>
      <p:sp>
        <p:nvSpPr>
          <p:cNvPr id="18" name="Oval 17"/>
          <p:cNvSpPr/>
          <p:nvPr/>
        </p:nvSpPr>
        <p:spPr>
          <a:xfrm>
            <a:off x="914400" y="5815584"/>
            <a:ext cx="137160" cy="137160"/>
          </a:xfrm>
          <a:prstGeom prst="ellipse">
            <a:avLst/>
          </a:prstGeom>
          <a:solidFill>
            <a:srgbClr val="F4732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1325880" y="5632704"/>
            <a:ext cx="9601200" cy="7315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2400" b="1" i="0">
                <a:solidFill>
                  <a:srgbClr val="16273D"/>
                </a:solidFill>
                <a:latin typeface="Arial"/>
              </a:rPr>
              <a:t>Win the hidden yards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22960" y="6519672"/>
            <a:ext cx="105156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900" b="0" i="0">
                <a:solidFill>
                  <a:srgbClr val="5C6B7E"/>
                </a:solidFill>
                <a:latin typeface="Arial"/>
              </a:rPr>
              <a:t>EP 3 · WEEK 2 · Oklahoma at Michigan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michiga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22960" y="502920"/>
            <a:ext cx="1051560" cy="105156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2148840" y="603504"/>
            <a:ext cx="9052560" cy="56692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3200" b="1" i="0">
                <a:solidFill>
                  <a:srgbClr val="0A2851"/>
                </a:solidFill>
                <a:latin typeface="Arial"/>
              </a:rPr>
              <a:t>Michigan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148840" y="1225296"/>
            <a:ext cx="905256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300" b="0" i="1">
                <a:solidFill>
                  <a:srgbClr val="5C6B7E"/>
                </a:solidFill>
                <a:latin typeface="Arial"/>
              </a:rPr>
              <a:t>What it takes to win · Oklahoma at Michigan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822960" y="1783080"/>
            <a:ext cx="10515600" cy="960120"/>
          </a:xfrm>
          <a:prstGeom prst="roundRect">
            <a:avLst/>
          </a:prstGeom>
          <a:solidFill>
            <a:srgbClr val="EAF0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51560" y="1901952"/>
            <a:ext cx="324612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950" b="1" i="0">
                <a:solidFill>
                  <a:srgbClr val="F47321"/>
                </a:solidFill>
                <a:latin typeface="Arial"/>
              </a:rPr>
              <a:t>COACH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51560" y="2139696"/>
            <a:ext cx="3246120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50" b="0" i="0">
                <a:solidFill>
                  <a:srgbClr val="16273D"/>
                </a:solidFill>
                <a:latin typeface="Arial"/>
              </a:rPr>
              <a:t>NEW — Kyle Whittingham (Utah, 177 wins) after Moore's December firing; Beck OC, Hill DC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0" y="1901952"/>
            <a:ext cx="324612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950" b="1" i="0">
                <a:solidFill>
                  <a:srgbClr val="F47321"/>
                </a:solidFill>
                <a:latin typeface="Arial"/>
              </a:rPr>
              <a:t>QB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0" y="2139696"/>
            <a:ext cx="3246120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50" b="0" i="0">
                <a:solidFill>
                  <a:srgbClr val="16273D"/>
                </a:solidFill>
                <a:latin typeface="Arial"/>
              </a:rPr>
              <a:t>RETURNS — Bryce Underwood, year two: the No. 1 recruit's Heisman-track season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092440" y="1901952"/>
            <a:ext cx="324612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950" b="1" i="0">
                <a:solidFill>
                  <a:srgbClr val="F47321"/>
                </a:solidFill>
                <a:latin typeface="Arial"/>
              </a:rPr>
              <a:t>ROSTER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092440" y="2139696"/>
            <a:ext cx="3246120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50" b="0" i="0">
                <a:solidFill>
                  <a:srgbClr val="16273D"/>
                </a:solidFill>
                <a:latin typeface="Arial"/>
              </a:rPr>
              <a:t>69% back · 17 portal adds — the Utah pipeline (Daley, Snowden, Lea'ea, Buchanan)</a:t>
            </a:r>
          </a:p>
        </p:txBody>
      </p:sp>
      <p:sp>
        <p:nvSpPr>
          <p:cNvPr id="12" name="Oval 11"/>
          <p:cNvSpPr/>
          <p:nvPr/>
        </p:nvSpPr>
        <p:spPr>
          <a:xfrm>
            <a:off x="914400" y="3291840"/>
            <a:ext cx="137160" cy="137160"/>
          </a:xfrm>
          <a:prstGeom prst="ellipse">
            <a:avLst/>
          </a:prstGeom>
          <a:solidFill>
            <a:srgbClr val="F4732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325880" y="3108960"/>
            <a:ext cx="9601200" cy="7315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2400" b="1" i="0">
                <a:solidFill>
                  <a:srgbClr val="16273D"/>
                </a:solidFill>
                <a:latin typeface="Arial"/>
              </a:rPr>
              <a:t>Own the ball</a:t>
            </a:r>
          </a:p>
        </p:txBody>
      </p:sp>
      <p:sp>
        <p:nvSpPr>
          <p:cNvPr id="14" name="Oval 13"/>
          <p:cNvSpPr/>
          <p:nvPr/>
        </p:nvSpPr>
        <p:spPr>
          <a:xfrm>
            <a:off x="914400" y="4133088"/>
            <a:ext cx="137160" cy="137160"/>
          </a:xfrm>
          <a:prstGeom prst="ellipse">
            <a:avLst/>
          </a:prstGeom>
          <a:solidFill>
            <a:srgbClr val="F4732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325880" y="3950208"/>
            <a:ext cx="9601200" cy="7315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2400" b="1" i="0">
                <a:solidFill>
                  <a:srgbClr val="16273D"/>
                </a:solidFill>
                <a:latin typeface="Arial"/>
              </a:rPr>
              <a:t>Run Underwood like Dampier</a:t>
            </a:r>
          </a:p>
        </p:txBody>
      </p:sp>
      <p:sp>
        <p:nvSpPr>
          <p:cNvPr id="16" name="Oval 15"/>
          <p:cNvSpPr/>
          <p:nvPr/>
        </p:nvSpPr>
        <p:spPr>
          <a:xfrm>
            <a:off x="914400" y="4974336"/>
            <a:ext cx="137160" cy="137160"/>
          </a:xfrm>
          <a:prstGeom prst="ellipse">
            <a:avLst/>
          </a:prstGeom>
          <a:solidFill>
            <a:srgbClr val="F4732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1325880" y="4791456"/>
            <a:ext cx="9601200" cy="7315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2400" b="1" i="0">
                <a:solidFill>
                  <a:srgbClr val="16273D"/>
                </a:solidFill>
                <a:latin typeface="Arial"/>
              </a:rPr>
              <a:t>Find receiver No. 2</a:t>
            </a:r>
          </a:p>
        </p:txBody>
      </p:sp>
      <p:sp>
        <p:nvSpPr>
          <p:cNvPr id="18" name="Oval 17"/>
          <p:cNvSpPr/>
          <p:nvPr/>
        </p:nvSpPr>
        <p:spPr>
          <a:xfrm>
            <a:off x="914400" y="5815584"/>
            <a:ext cx="137160" cy="137160"/>
          </a:xfrm>
          <a:prstGeom prst="ellipse">
            <a:avLst/>
          </a:prstGeom>
          <a:solidFill>
            <a:srgbClr val="F4732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1325880" y="5632704"/>
            <a:ext cx="9601200" cy="7315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2400" b="1" i="0">
                <a:solidFill>
                  <a:srgbClr val="16273D"/>
                </a:solidFill>
                <a:latin typeface="Arial"/>
              </a:rPr>
              <a:t>Pressure without the busts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22960" y="6519672"/>
            <a:ext cx="105156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900" b="0" i="0">
                <a:solidFill>
                  <a:srgbClr val="5C6B7E"/>
                </a:solidFill>
                <a:latin typeface="Arial"/>
              </a:rPr>
              <a:t>EP 3 · WEEK 2 · Oklahoma at Michigan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arizonastat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22960" y="384048"/>
            <a:ext cx="731520" cy="73152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664208" y="475488"/>
            <a:ext cx="45720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1400" b="0" i="0">
                <a:solidFill>
                  <a:srgbClr val="5C6B7E"/>
                </a:solidFill>
                <a:latin typeface="Arial"/>
              </a:rPr>
              <a:t>at</a:t>
            </a:r>
          </a:p>
        </p:txBody>
      </p:sp>
      <p:pic>
        <p:nvPicPr>
          <p:cNvPr id="4" name="Picture 3" descr="texasam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148840" y="384048"/>
            <a:ext cx="731520" cy="73152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3154680" y="347472"/>
            <a:ext cx="8138160" cy="5029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2700" b="1" i="0">
                <a:solidFill>
                  <a:srgbClr val="0A2851"/>
                </a:solidFill>
                <a:latin typeface="Arial"/>
              </a:rPr>
              <a:t>Arizona State at Texas A&amp;M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154680" y="859536"/>
            <a:ext cx="813816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100" b="0" i="1">
                <a:solidFill>
                  <a:srgbClr val="5C6B7E"/>
                </a:solidFill>
                <a:latin typeface="Arial"/>
              </a:rPr>
              <a:t>Sat Sep 12 · 12:00 ET · Boley's second start vs an SEC secondary · Elko's portal-built trenches get a tempo test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22960" y="1600200"/>
            <a:ext cx="658368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300" b="1" i="0">
                <a:solidFill>
                  <a:srgbClr val="0A2851"/>
                </a:solidFill>
                <a:latin typeface="Arial"/>
              </a:rPr>
              <a:t>WHY IT MATTERS</a:t>
            </a:r>
          </a:p>
        </p:txBody>
      </p:sp>
      <p:sp>
        <p:nvSpPr>
          <p:cNvPr id="8" name="Oval 7"/>
          <p:cNvSpPr/>
          <p:nvPr/>
        </p:nvSpPr>
        <p:spPr>
          <a:xfrm>
            <a:off x="868680" y="2176272"/>
            <a:ext cx="128016" cy="128016"/>
          </a:xfrm>
          <a:prstGeom prst="ellipse">
            <a:avLst/>
          </a:prstGeom>
          <a:solidFill>
            <a:srgbClr val="F4732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188720" y="2057400"/>
            <a:ext cx="6217920" cy="7315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600" b="0" i="0">
                <a:solidFill>
                  <a:srgbClr val="16273D"/>
                </a:solidFill>
                <a:latin typeface="Arial"/>
              </a:rPr>
              <a:t>Dillingham's 16%-back reboot vs an 11-win roster</a:t>
            </a:r>
          </a:p>
        </p:txBody>
      </p:sp>
      <p:sp>
        <p:nvSpPr>
          <p:cNvPr id="10" name="Oval 9"/>
          <p:cNvSpPr/>
          <p:nvPr/>
        </p:nvSpPr>
        <p:spPr>
          <a:xfrm>
            <a:off x="868680" y="2889504"/>
            <a:ext cx="128016" cy="128016"/>
          </a:xfrm>
          <a:prstGeom prst="ellipse">
            <a:avLst/>
          </a:prstGeom>
          <a:solidFill>
            <a:srgbClr val="F4732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188720" y="2770632"/>
            <a:ext cx="6217920" cy="7315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600" b="0" i="0">
                <a:solidFill>
                  <a:srgbClr val="16273D"/>
                </a:solidFill>
                <a:latin typeface="Arial"/>
              </a:rPr>
              <a:t>Boley's six-TD debut came against Morgan State</a:t>
            </a:r>
          </a:p>
        </p:txBody>
      </p:sp>
      <p:sp>
        <p:nvSpPr>
          <p:cNvPr id="12" name="Oval 11"/>
          <p:cNvSpPr/>
          <p:nvPr/>
        </p:nvSpPr>
        <p:spPr>
          <a:xfrm>
            <a:off x="868680" y="3602736"/>
            <a:ext cx="128016" cy="128016"/>
          </a:xfrm>
          <a:prstGeom prst="ellipse">
            <a:avLst/>
          </a:prstGeom>
          <a:solidFill>
            <a:srgbClr val="F4732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188720" y="3483864"/>
            <a:ext cx="6217920" cy="7315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600" b="0" i="0">
                <a:solidFill>
                  <a:srgbClr val="16273D"/>
                </a:solidFill>
                <a:latin typeface="Arial"/>
              </a:rPr>
              <a:t>A&amp;M's story is its portal-built lines</a:t>
            </a:r>
          </a:p>
        </p:txBody>
      </p:sp>
      <p:sp>
        <p:nvSpPr>
          <p:cNvPr id="14" name="Oval 13"/>
          <p:cNvSpPr/>
          <p:nvPr/>
        </p:nvSpPr>
        <p:spPr>
          <a:xfrm>
            <a:off x="868680" y="4315968"/>
            <a:ext cx="128016" cy="128016"/>
          </a:xfrm>
          <a:prstGeom prst="ellipse">
            <a:avLst/>
          </a:prstGeom>
          <a:solidFill>
            <a:srgbClr val="F4732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188720" y="4197096"/>
            <a:ext cx="6217920" cy="7315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600" b="0" i="0">
                <a:solidFill>
                  <a:srgbClr val="16273D"/>
                </a:solidFill>
                <a:latin typeface="Arial"/>
              </a:rPr>
              <a:t>Neither rating has a 2026 snap in it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822960" y="5047488"/>
            <a:ext cx="6583680" cy="960120"/>
          </a:xfrm>
          <a:prstGeom prst="roundRect">
            <a:avLst/>
          </a:prstGeom>
          <a:solidFill>
            <a:srgbClr val="EAF0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1051560" y="5202936"/>
            <a:ext cx="6126480" cy="6858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300" b="0" i="1">
                <a:solidFill>
                  <a:srgbClr val="5C6B7E"/>
                </a:solidFill>
                <a:latin typeface="Arial"/>
              </a:rPr>
              <a:t>Two points apart on a 14-point spread is agreement — no play.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7772400" y="1600200"/>
            <a:ext cx="3566160" cy="4206240"/>
          </a:xfrm>
          <a:prstGeom prst="roundRect">
            <a:avLst/>
          </a:prstGeom>
          <a:solidFill>
            <a:srgbClr val="0A285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046720" y="1810512"/>
            <a:ext cx="301752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200" b="1" i="0">
                <a:solidFill>
                  <a:srgbClr val="F47321"/>
                </a:solidFill>
                <a:latin typeface="Arial"/>
              </a:rPr>
              <a:t>THE NUMBER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046720" y="2103120"/>
            <a:ext cx="3017520" cy="5029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2800" b="1" i="0">
                <a:solidFill>
                  <a:srgbClr val="FFFFFF"/>
                </a:solidFill>
                <a:latin typeface="Arial"/>
              </a:rPr>
              <a:t>Texas A&amp;M –16.5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046720" y="2596896"/>
            <a:ext cx="301752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200" b="1" i="0">
                <a:solidFill>
                  <a:srgbClr val="FFFFFF"/>
                </a:solidFill>
                <a:latin typeface="Arial"/>
              </a:rPr>
              <a:t>Texas A&amp;M –560 · Arizona State +560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046720" y="2852928"/>
            <a:ext cx="3017520" cy="25603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850" b="0" i="0">
                <a:solidFill>
                  <a:srgbClr val="CADCFC"/>
                </a:solidFill>
                <a:latin typeface="Arial"/>
              </a:rPr>
              <a:t>machine line · fair odds, no vig · raw margin Texas A&amp;M +16.7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046720" y="3246120"/>
            <a:ext cx="3017520" cy="4114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2000" b="1" i="0">
                <a:solidFill>
                  <a:srgbClr val="FFFFFF"/>
                </a:solidFill>
                <a:latin typeface="Arial"/>
              </a:rPr>
              <a:t>–14.5 / –14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046720" y="3639312"/>
            <a:ext cx="301752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850" b="0" i="0">
                <a:solidFill>
                  <a:srgbClr val="CADCFC"/>
                </a:solidFill>
                <a:latin typeface="Arial"/>
              </a:rPr>
              <a:t>market (DK / Bovada) · DK Texas A&amp;M -650 / Arizona State +470 · Bov Texas A&amp;M -650 / Arizona State +450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046720" y="4069080"/>
            <a:ext cx="301752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300" b="1" i="0">
                <a:solidFill>
                  <a:srgbClr val="F47321"/>
                </a:solidFill>
                <a:latin typeface="Arial"/>
              </a:rPr>
              <a:t>Texas A&amp;M 34 – Arizona State 17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046720" y="4407408"/>
            <a:ext cx="301752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850" b="0" i="0">
                <a:solidFill>
                  <a:srgbClr val="CADCFC"/>
                </a:solidFill>
                <a:latin typeface="Arial"/>
              </a:rPr>
              <a:t>score prediction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8046720" y="4754880"/>
            <a:ext cx="3017520" cy="365760"/>
          </a:xfrm>
          <a:prstGeom prst="roundRect">
            <a:avLst/>
          </a:prstGeom>
          <a:solidFill>
            <a:srgbClr val="8C1D4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ounded Rectangle 27"/>
          <p:cNvSpPr/>
          <p:nvPr/>
        </p:nvSpPr>
        <p:spPr>
          <a:xfrm>
            <a:off x="8046720" y="4754880"/>
            <a:ext cx="2564892" cy="365760"/>
          </a:xfrm>
          <a:prstGeom prst="roundRect">
            <a:avLst/>
          </a:prstGeom>
          <a:solidFill>
            <a:srgbClr val="50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8119872" y="4837176"/>
            <a:ext cx="219456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50" b="1" i="0">
                <a:solidFill>
                  <a:srgbClr val="FFFFFF"/>
                </a:solidFill>
                <a:latin typeface="Arial"/>
              </a:rPr>
              <a:t>TAMU 85%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8796528" y="4837176"/>
            <a:ext cx="219456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1050" b="1" i="0">
                <a:solidFill>
                  <a:srgbClr val="FFFFFF"/>
                </a:solidFill>
                <a:latin typeface="Arial"/>
              </a:rPr>
              <a:t>15% ASU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8046720" y="5175504"/>
            <a:ext cx="301752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850" b="0" i="0">
                <a:solidFill>
                  <a:srgbClr val="CADCFC"/>
                </a:solidFill>
                <a:latin typeface="Arial"/>
              </a:rPr>
              <a:t>win probability (machine)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8046720" y="5440680"/>
            <a:ext cx="301752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950" b="1" i="0">
                <a:solidFill>
                  <a:srgbClr val="F47321"/>
                </a:solidFill>
                <a:latin typeface="Arial"/>
              </a:rPr>
              <a:t>LINE MOVE  –14.5 → –14.5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822960" y="6236208"/>
            <a:ext cx="105156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50" b="0" i="0">
                <a:solidFill>
                  <a:srgbClr val="5C6B7E"/>
                </a:solidFill>
                <a:latin typeface="Arial"/>
              </a:rPr>
              <a:t>Line movement: first-seen –14.5 (Aug 23) → now –14.5 · CLV +0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arizonastat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22960" y="502920"/>
            <a:ext cx="1051560" cy="105156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2148840" y="603504"/>
            <a:ext cx="9052560" cy="56692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3200" b="1" i="0">
                <a:solidFill>
                  <a:srgbClr val="0A2851"/>
                </a:solidFill>
                <a:latin typeface="Arial"/>
              </a:rPr>
              <a:t>Arizona State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148840" y="1225296"/>
            <a:ext cx="905256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300" b="0" i="1">
                <a:solidFill>
                  <a:srgbClr val="5C6B7E"/>
                </a:solidFill>
                <a:latin typeface="Arial"/>
              </a:rPr>
              <a:t>What it takes to win · Arizona State at Texas A&amp;M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822960" y="1783080"/>
            <a:ext cx="10515600" cy="960120"/>
          </a:xfrm>
          <a:prstGeom prst="roundRect">
            <a:avLst/>
          </a:prstGeom>
          <a:solidFill>
            <a:srgbClr val="EAF0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51560" y="1901952"/>
            <a:ext cx="324612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950" b="1" i="0">
                <a:solidFill>
                  <a:srgbClr val="F47321"/>
                </a:solidFill>
                <a:latin typeface="Arial"/>
              </a:rPr>
              <a:t>COACH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51560" y="2139696"/>
            <a:ext cx="3246120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50" b="0" i="0">
                <a:solidFill>
                  <a:srgbClr val="16273D"/>
                </a:solidFill>
                <a:latin typeface="Arial"/>
              </a:rPr>
              <a:t>Dillingham, year 4 — a full reset after the injury-shredded 2025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0" y="1901952"/>
            <a:ext cx="324612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950" b="1" i="0">
                <a:solidFill>
                  <a:srgbClr val="F47321"/>
                </a:solidFill>
                <a:latin typeface="Arial"/>
              </a:rPr>
              <a:t>QB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0" y="2139696"/>
            <a:ext cx="3246120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50" b="0" i="0">
                <a:solidFill>
                  <a:srgbClr val="16273D"/>
                </a:solidFill>
                <a:latin typeface="Arial"/>
              </a:rPr>
              <a:t>NEW — Cutter Boley (Kentucky), won a four-way derby; 387 yards, 6 TDs in the debut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092440" y="1901952"/>
            <a:ext cx="324612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950" b="1" i="0">
                <a:solidFill>
                  <a:srgbClr val="F47321"/>
                </a:solidFill>
                <a:latin typeface="Arial"/>
              </a:rPr>
              <a:t>ROSTER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092440" y="2139696"/>
            <a:ext cx="3246120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50" b="0" i="0">
                <a:solidFill>
                  <a:srgbClr val="16273D"/>
                </a:solidFill>
                <a:latin typeface="Arial"/>
              </a:rPr>
              <a:t>16% back — least on the card · 24 portal adds · 11 of 34 regulars return</a:t>
            </a:r>
          </a:p>
        </p:txBody>
      </p:sp>
      <p:sp>
        <p:nvSpPr>
          <p:cNvPr id="12" name="Oval 11"/>
          <p:cNvSpPr/>
          <p:nvPr/>
        </p:nvSpPr>
        <p:spPr>
          <a:xfrm>
            <a:off x="914400" y="3291840"/>
            <a:ext cx="137160" cy="137160"/>
          </a:xfrm>
          <a:prstGeom prst="ellipse">
            <a:avLst/>
          </a:prstGeom>
          <a:solidFill>
            <a:srgbClr val="F4732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325880" y="3108960"/>
            <a:ext cx="9601200" cy="7315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2400" b="1" i="0">
                <a:solidFill>
                  <a:srgbClr val="16273D"/>
                </a:solidFill>
                <a:latin typeface="Arial"/>
              </a:rPr>
              <a:t>Tempo the transfer front</a:t>
            </a:r>
          </a:p>
        </p:txBody>
      </p:sp>
      <p:sp>
        <p:nvSpPr>
          <p:cNvPr id="14" name="Oval 13"/>
          <p:cNvSpPr/>
          <p:nvPr/>
        </p:nvSpPr>
        <p:spPr>
          <a:xfrm>
            <a:off x="914400" y="4133088"/>
            <a:ext cx="137160" cy="137160"/>
          </a:xfrm>
          <a:prstGeom prst="ellipse">
            <a:avLst/>
          </a:prstGeom>
          <a:solidFill>
            <a:srgbClr val="F4732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325880" y="3950208"/>
            <a:ext cx="9601200" cy="7315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2400" b="1" i="0">
                <a:solidFill>
                  <a:srgbClr val="16273D"/>
                </a:solidFill>
                <a:latin typeface="Arial"/>
              </a:rPr>
              <a:t>Boley vs real disguise</a:t>
            </a:r>
          </a:p>
        </p:txBody>
      </p:sp>
      <p:sp>
        <p:nvSpPr>
          <p:cNvPr id="16" name="Oval 15"/>
          <p:cNvSpPr/>
          <p:nvPr/>
        </p:nvSpPr>
        <p:spPr>
          <a:xfrm>
            <a:off x="914400" y="4974336"/>
            <a:ext cx="137160" cy="137160"/>
          </a:xfrm>
          <a:prstGeom prst="ellipse">
            <a:avLst/>
          </a:prstGeom>
          <a:solidFill>
            <a:srgbClr val="F4732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1325880" y="4791456"/>
            <a:ext cx="9601200" cy="7315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2400" b="1" i="0">
                <a:solidFill>
                  <a:srgbClr val="16273D"/>
                </a:solidFill>
                <a:latin typeface="Arial"/>
              </a:rPr>
              <a:t>Contain before you gamble</a:t>
            </a:r>
          </a:p>
        </p:txBody>
      </p:sp>
      <p:sp>
        <p:nvSpPr>
          <p:cNvPr id="18" name="Oval 17"/>
          <p:cNvSpPr/>
          <p:nvPr/>
        </p:nvSpPr>
        <p:spPr>
          <a:xfrm>
            <a:off x="914400" y="5815584"/>
            <a:ext cx="137160" cy="137160"/>
          </a:xfrm>
          <a:prstGeom prst="ellipse">
            <a:avLst/>
          </a:prstGeom>
          <a:solidFill>
            <a:srgbClr val="F4732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1325880" y="5632704"/>
            <a:ext cx="9601200" cy="7315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2400" b="1" i="0">
                <a:solidFill>
                  <a:srgbClr val="16273D"/>
                </a:solidFill>
                <a:latin typeface="Arial"/>
              </a:rPr>
              <a:t>Fix special teams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22960" y="6519672"/>
            <a:ext cx="105156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900" b="0" i="0">
                <a:solidFill>
                  <a:srgbClr val="5C6B7E"/>
                </a:solidFill>
                <a:latin typeface="Arial"/>
              </a:rPr>
              <a:t>EP 3 · WEEK 2 · Arizona State at Texas A&amp;M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texasam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22960" y="502920"/>
            <a:ext cx="1051560" cy="105156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2148840" y="603504"/>
            <a:ext cx="9052560" cy="56692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3200" b="1" i="0">
                <a:solidFill>
                  <a:srgbClr val="0A2851"/>
                </a:solidFill>
                <a:latin typeface="Arial"/>
              </a:rPr>
              <a:t>Texas A&amp;M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148840" y="1225296"/>
            <a:ext cx="905256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300" b="0" i="1">
                <a:solidFill>
                  <a:srgbClr val="5C6B7E"/>
                </a:solidFill>
                <a:latin typeface="Arial"/>
              </a:rPr>
              <a:t>What it takes to win · Arizona State at Texas A&amp;M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822960" y="1783080"/>
            <a:ext cx="10515600" cy="960120"/>
          </a:xfrm>
          <a:prstGeom prst="roundRect">
            <a:avLst/>
          </a:prstGeom>
          <a:solidFill>
            <a:srgbClr val="EAF0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51560" y="1901952"/>
            <a:ext cx="324612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950" b="1" i="0">
                <a:solidFill>
                  <a:srgbClr val="F47321"/>
                </a:solidFill>
                <a:latin typeface="Arial"/>
              </a:rPr>
              <a:t>COACH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51560" y="2139696"/>
            <a:ext cx="3246120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50" b="0" i="0">
                <a:solidFill>
                  <a:srgbClr val="16273D"/>
                </a:solidFill>
                <a:latin typeface="Arial"/>
              </a:rPr>
              <a:t>Elko, year 3 — two NEW coordinators (Wiggins OC, Hemphill DC)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0" y="1901952"/>
            <a:ext cx="324612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950" b="1" i="0">
                <a:solidFill>
                  <a:srgbClr val="F47321"/>
                </a:solidFill>
                <a:latin typeface="Arial"/>
              </a:rPr>
              <a:t>QB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0" y="2139696"/>
            <a:ext cx="3246120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50" b="0" i="0">
                <a:solidFill>
                  <a:srgbClr val="16273D"/>
                </a:solidFill>
                <a:latin typeface="Arial"/>
              </a:rPr>
              <a:t>RETURNS — Marcel Reed: 3,000 pass / 550 rush in 2025, and 12 interceptions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092440" y="1901952"/>
            <a:ext cx="324612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950" b="1" i="0">
                <a:solidFill>
                  <a:srgbClr val="F47321"/>
                </a:solidFill>
                <a:latin typeface="Arial"/>
              </a:rPr>
              <a:t>ROSTER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092440" y="2139696"/>
            <a:ext cx="3246120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50" b="0" i="0">
                <a:solidFill>
                  <a:srgbClr val="16273D"/>
                </a:solidFill>
                <a:latin typeface="Arial"/>
              </a:rPr>
              <a:t>73% back · 19 portal adds — skill talent kept, both trenches rebuilt</a:t>
            </a:r>
          </a:p>
        </p:txBody>
      </p:sp>
      <p:sp>
        <p:nvSpPr>
          <p:cNvPr id="12" name="Oval 11"/>
          <p:cNvSpPr/>
          <p:nvPr/>
        </p:nvSpPr>
        <p:spPr>
          <a:xfrm>
            <a:off x="914400" y="3291840"/>
            <a:ext cx="137160" cy="137160"/>
          </a:xfrm>
          <a:prstGeom prst="ellipse">
            <a:avLst/>
          </a:prstGeom>
          <a:solidFill>
            <a:srgbClr val="F4732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325880" y="3108960"/>
            <a:ext cx="9601200" cy="7315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2400" b="1" i="0">
                <a:solidFill>
                  <a:srgbClr val="16273D"/>
                </a:solidFill>
                <a:latin typeface="Arial"/>
              </a:rPr>
              <a:t>Reed's ball security</a:t>
            </a:r>
          </a:p>
        </p:txBody>
      </p:sp>
      <p:sp>
        <p:nvSpPr>
          <p:cNvPr id="14" name="Oval 13"/>
          <p:cNvSpPr/>
          <p:nvPr/>
        </p:nvSpPr>
        <p:spPr>
          <a:xfrm>
            <a:off x="914400" y="4133088"/>
            <a:ext cx="137160" cy="137160"/>
          </a:xfrm>
          <a:prstGeom prst="ellipse">
            <a:avLst/>
          </a:prstGeom>
          <a:solidFill>
            <a:srgbClr val="F4732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325880" y="3950208"/>
            <a:ext cx="9601200" cy="7315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2400" b="1" i="0">
                <a:solidFill>
                  <a:srgbClr val="16273D"/>
                </a:solidFill>
                <a:latin typeface="Arial"/>
              </a:rPr>
              <a:t>Prove the portal line</a:t>
            </a:r>
          </a:p>
        </p:txBody>
      </p:sp>
      <p:sp>
        <p:nvSpPr>
          <p:cNvPr id="16" name="Oval 15"/>
          <p:cNvSpPr/>
          <p:nvPr/>
        </p:nvSpPr>
        <p:spPr>
          <a:xfrm>
            <a:off x="914400" y="4974336"/>
            <a:ext cx="137160" cy="137160"/>
          </a:xfrm>
          <a:prstGeom prst="ellipse">
            <a:avLst/>
          </a:prstGeom>
          <a:solidFill>
            <a:srgbClr val="F4732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1325880" y="4791456"/>
            <a:ext cx="9601200" cy="7315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2400" b="1" i="0">
                <a:solidFill>
                  <a:srgbClr val="16273D"/>
                </a:solidFill>
                <a:latin typeface="Arial"/>
              </a:rPr>
              <a:t>Havoc from the new front</a:t>
            </a:r>
          </a:p>
        </p:txBody>
      </p:sp>
      <p:sp>
        <p:nvSpPr>
          <p:cNvPr id="18" name="Oval 17"/>
          <p:cNvSpPr/>
          <p:nvPr/>
        </p:nvSpPr>
        <p:spPr>
          <a:xfrm>
            <a:off x="914400" y="5815584"/>
            <a:ext cx="137160" cy="137160"/>
          </a:xfrm>
          <a:prstGeom prst="ellipse">
            <a:avLst/>
          </a:prstGeom>
          <a:solidFill>
            <a:srgbClr val="F4732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1325880" y="5632704"/>
            <a:ext cx="9601200" cy="7315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2400" b="1" i="0">
                <a:solidFill>
                  <a:srgbClr val="16273D"/>
                </a:solidFill>
                <a:latin typeface="Arial"/>
              </a:rPr>
              <a:t>Finish drives, cut the flags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22960" y="6519672"/>
            <a:ext cx="105156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900" b="0" i="0">
                <a:solidFill>
                  <a:srgbClr val="5C6B7E"/>
                </a:solidFill>
                <a:latin typeface="Arial"/>
              </a:rPr>
              <a:t>EP 3 · WEEK 2 · Arizona State at Texas A&amp;M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arizona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22960" y="384048"/>
            <a:ext cx="731520" cy="73152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664208" y="475488"/>
            <a:ext cx="45720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1400" b="0" i="0">
                <a:solidFill>
                  <a:srgbClr val="5C6B7E"/>
                </a:solidFill>
                <a:latin typeface="Arial"/>
              </a:rPr>
              <a:t>at</a:t>
            </a:r>
          </a:p>
        </p:txBody>
      </p:sp>
      <p:pic>
        <p:nvPicPr>
          <p:cNvPr id="4" name="Picture 3" descr="byu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148840" y="384048"/>
            <a:ext cx="731520" cy="73152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3154680" y="347472"/>
            <a:ext cx="8138160" cy="5029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2700" b="1" i="0">
                <a:solidFill>
                  <a:srgbClr val="0A2851"/>
                </a:solidFill>
                <a:latin typeface="Arial"/>
              </a:rPr>
              <a:t>Arizona at BYU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154680" y="859536"/>
            <a:ext cx="813816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100" b="0" i="1">
                <a:solidFill>
                  <a:srgbClr val="5C6B7E"/>
                </a:solidFill>
                <a:latin typeface="Arial"/>
              </a:rPr>
              <a:t>Sat Sep 12 · 3:30 ET · Big 12 opener · BYU has won three straight in the series (33–27 in Tucson last year) · Fifita's final tour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22960" y="1600200"/>
            <a:ext cx="658368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300" b="1" i="0">
                <a:solidFill>
                  <a:srgbClr val="0A2851"/>
                </a:solidFill>
                <a:latin typeface="Arial"/>
              </a:rPr>
              <a:t>WHY IT MATTERS</a:t>
            </a:r>
          </a:p>
        </p:txBody>
      </p:sp>
      <p:sp>
        <p:nvSpPr>
          <p:cNvPr id="8" name="Oval 7"/>
          <p:cNvSpPr/>
          <p:nvPr/>
        </p:nvSpPr>
        <p:spPr>
          <a:xfrm>
            <a:off x="868680" y="2176272"/>
            <a:ext cx="128016" cy="128016"/>
          </a:xfrm>
          <a:prstGeom prst="ellipse">
            <a:avLst/>
          </a:prstGeom>
          <a:solidFill>
            <a:srgbClr val="F4732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188720" y="2057400"/>
            <a:ext cx="6217920" cy="7315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600" b="0" i="0">
                <a:solidFill>
                  <a:srgbClr val="16273D"/>
                </a:solidFill>
                <a:latin typeface="Arial"/>
              </a:rPr>
              <a:t>The Big 12's continuity kings: 79% back, 177 starts</a:t>
            </a:r>
          </a:p>
        </p:txBody>
      </p:sp>
      <p:sp>
        <p:nvSpPr>
          <p:cNvPr id="10" name="Oval 9"/>
          <p:cNvSpPr/>
          <p:nvPr/>
        </p:nvSpPr>
        <p:spPr>
          <a:xfrm>
            <a:off x="868680" y="2889504"/>
            <a:ext cx="128016" cy="128016"/>
          </a:xfrm>
          <a:prstGeom prst="ellipse">
            <a:avLst/>
          </a:prstGeom>
          <a:solidFill>
            <a:srgbClr val="F4732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188720" y="2770632"/>
            <a:ext cx="6217920" cy="7315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600" b="0" i="0">
                <a:solidFill>
                  <a:srgbClr val="16273D"/>
                </a:solidFill>
                <a:latin typeface="Arial"/>
              </a:rPr>
              <a:t>Provo's biggest home game until Notre Dame</a:t>
            </a:r>
          </a:p>
        </p:txBody>
      </p:sp>
      <p:sp>
        <p:nvSpPr>
          <p:cNvPr id="12" name="Oval 11"/>
          <p:cNvSpPr/>
          <p:nvPr/>
        </p:nvSpPr>
        <p:spPr>
          <a:xfrm>
            <a:off x="868680" y="3602736"/>
            <a:ext cx="128016" cy="128016"/>
          </a:xfrm>
          <a:prstGeom prst="ellipse">
            <a:avLst/>
          </a:prstGeom>
          <a:solidFill>
            <a:srgbClr val="F4732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188720" y="3483864"/>
            <a:ext cx="6217920" cy="7315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600" b="0" i="0">
                <a:solidFill>
                  <a:srgbClr val="16273D"/>
                </a:solidFill>
                <a:latin typeface="Arial"/>
              </a:rPr>
              <a:t>BYU's coordinator change: Poppinga replaces Hill</a:t>
            </a:r>
          </a:p>
        </p:txBody>
      </p:sp>
      <p:sp>
        <p:nvSpPr>
          <p:cNvPr id="14" name="Oval 13"/>
          <p:cNvSpPr/>
          <p:nvPr/>
        </p:nvSpPr>
        <p:spPr>
          <a:xfrm>
            <a:off x="868680" y="4315968"/>
            <a:ext cx="128016" cy="128016"/>
          </a:xfrm>
          <a:prstGeom prst="ellipse">
            <a:avLst/>
          </a:prstGeom>
          <a:solidFill>
            <a:srgbClr val="F4732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188720" y="4197096"/>
            <a:ext cx="6217920" cy="7315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600" b="0" i="0">
                <a:solidFill>
                  <a:srgbClr val="16273D"/>
                </a:solidFill>
                <a:latin typeface="Arial"/>
              </a:rPr>
              <a:t>Week 1: BYU ran for 308 and took four; Arizona gave three away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822960" y="5047488"/>
            <a:ext cx="6583680" cy="960120"/>
          </a:xfrm>
          <a:prstGeom prst="roundRect">
            <a:avLst/>
          </a:prstGeom>
          <a:solidFill>
            <a:srgbClr val="EAF0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1051560" y="5202936"/>
            <a:ext cx="6126480" cy="6858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300" b="0" i="1">
                <a:solidFill>
                  <a:srgbClr val="5C6B7E"/>
                </a:solidFill>
                <a:latin typeface="Arial"/>
              </a:rPr>
              <a:t>Machine 8.4, market 7.5, both still the July prior — no play.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7772400" y="1600200"/>
            <a:ext cx="3566160" cy="4206240"/>
          </a:xfrm>
          <a:prstGeom prst="roundRect">
            <a:avLst/>
          </a:prstGeom>
          <a:solidFill>
            <a:srgbClr val="0A285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046720" y="1810512"/>
            <a:ext cx="301752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200" b="1" i="0">
                <a:solidFill>
                  <a:srgbClr val="F47321"/>
                </a:solidFill>
                <a:latin typeface="Arial"/>
              </a:rPr>
              <a:t>THE NUMBER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046720" y="2103120"/>
            <a:ext cx="3017520" cy="5029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2800" b="1" i="0">
                <a:solidFill>
                  <a:srgbClr val="FFFFFF"/>
                </a:solidFill>
                <a:latin typeface="Arial"/>
              </a:rPr>
              <a:t>BYU –8.5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046720" y="2596896"/>
            <a:ext cx="301752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200" b="1" i="0">
                <a:solidFill>
                  <a:srgbClr val="FFFFFF"/>
                </a:solidFill>
                <a:latin typeface="Arial"/>
              </a:rPr>
              <a:t>BYU –239 · Arizona +239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046720" y="2852928"/>
            <a:ext cx="3017520" cy="25603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850" b="0" i="0">
                <a:solidFill>
                  <a:srgbClr val="CADCFC"/>
                </a:solidFill>
                <a:latin typeface="Arial"/>
              </a:rPr>
              <a:t>machine line · fair odds, no vig · raw margin BYU +8.4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046720" y="3246120"/>
            <a:ext cx="3017520" cy="4114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2000" b="1" i="0">
                <a:solidFill>
                  <a:srgbClr val="FFFFFF"/>
                </a:solidFill>
                <a:latin typeface="Arial"/>
              </a:rPr>
              <a:t>–7.5 / –7.5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046720" y="3639312"/>
            <a:ext cx="301752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850" b="0" i="0">
                <a:solidFill>
                  <a:srgbClr val="CADCFC"/>
                </a:solidFill>
                <a:latin typeface="Arial"/>
              </a:rPr>
              <a:t>market (DK / Bovada) · DK BYU -290 / Arizona +235 · Bov BYU -310 / Arizona +255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046720" y="4069080"/>
            <a:ext cx="301752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500" b="1" i="0">
                <a:solidFill>
                  <a:srgbClr val="F47321"/>
                </a:solidFill>
                <a:latin typeface="Arial"/>
              </a:rPr>
              <a:t>BYU 28 – Arizona 20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046720" y="4407408"/>
            <a:ext cx="301752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850" b="0" i="0">
                <a:solidFill>
                  <a:srgbClr val="CADCFC"/>
                </a:solidFill>
                <a:latin typeface="Arial"/>
              </a:rPr>
              <a:t>score prediction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8046720" y="4754880"/>
            <a:ext cx="3017520" cy="365760"/>
          </a:xfrm>
          <a:prstGeom prst="roundRect">
            <a:avLst/>
          </a:prstGeom>
          <a:solidFill>
            <a:srgbClr val="0C234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ounded Rectangle 27"/>
          <p:cNvSpPr/>
          <p:nvPr/>
        </p:nvSpPr>
        <p:spPr>
          <a:xfrm>
            <a:off x="8046720" y="4754880"/>
            <a:ext cx="2112264" cy="365760"/>
          </a:xfrm>
          <a:prstGeom prst="roundRect">
            <a:avLst/>
          </a:prstGeom>
          <a:solidFill>
            <a:srgbClr val="0022E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8119872" y="4837176"/>
            <a:ext cx="219456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50" b="1" i="0">
                <a:solidFill>
                  <a:srgbClr val="FFFFFF"/>
                </a:solidFill>
                <a:latin typeface="Arial"/>
              </a:rPr>
              <a:t>BYU 70%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8796528" y="4837176"/>
            <a:ext cx="219456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1050" b="1" i="0">
                <a:solidFill>
                  <a:srgbClr val="FFFFFF"/>
                </a:solidFill>
                <a:latin typeface="Arial"/>
              </a:rPr>
              <a:t>30% ARIZ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8046720" y="5175504"/>
            <a:ext cx="301752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850" b="0" i="0">
                <a:solidFill>
                  <a:srgbClr val="CADCFC"/>
                </a:solidFill>
                <a:latin typeface="Arial"/>
              </a:rPr>
              <a:t>win probability (machine)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8046720" y="5440680"/>
            <a:ext cx="301752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950" b="1" i="0">
                <a:solidFill>
                  <a:srgbClr val="F47321"/>
                </a:solidFill>
                <a:latin typeface="Arial"/>
              </a:rPr>
              <a:t>LINE MOVE  –7 → –7.5 · CLV +0.5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822960" y="6236208"/>
            <a:ext cx="105156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50" b="0" i="0">
                <a:solidFill>
                  <a:srgbClr val="5C6B7E"/>
                </a:solidFill>
                <a:latin typeface="Arial"/>
              </a:rPr>
              <a:t>Line movement: first-seen –7 (Sep 4) → now –7.5 · opened –6.5 · CLV +0.5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arizona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22960" y="502920"/>
            <a:ext cx="1051560" cy="105156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2148840" y="603504"/>
            <a:ext cx="9052560" cy="56692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3200" b="1" i="0">
                <a:solidFill>
                  <a:srgbClr val="0A2851"/>
                </a:solidFill>
                <a:latin typeface="Arial"/>
              </a:rPr>
              <a:t>Arizona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148840" y="1225296"/>
            <a:ext cx="905256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300" b="0" i="1">
                <a:solidFill>
                  <a:srgbClr val="5C6B7E"/>
                </a:solidFill>
                <a:latin typeface="Arial"/>
              </a:rPr>
              <a:t>What it takes to win · Arizona at BYU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822960" y="1783080"/>
            <a:ext cx="10515600" cy="960120"/>
          </a:xfrm>
          <a:prstGeom prst="roundRect">
            <a:avLst/>
          </a:prstGeom>
          <a:solidFill>
            <a:srgbClr val="EAF0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51560" y="1901952"/>
            <a:ext cx="324612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950" b="1" i="0">
                <a:solidFill>
                  <a:srgbClr val="F47321"/>
                </a:solidFill>
                <a:latin typeface="Arial"/>
              </a:rPr>
              <a:t>COACH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51560" y="2139696"/>
            <a:ext cx="3246120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50" b="0" i="0">
                <a:solidFill>
                  <a:srgbClr val="16273D"/>
                </a:solidFill>
                <a:latin typeface="Arial"/>
              </a:rPr>
              <a:t>Brennan, year 3 — DC Danny Gonzales returns eleven 2025 starters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0" y="1901952"/>
            <a:ext cx="324612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950" b="1" i="0">
                <a:solidFill>
                  <a:srgbClr val="F47321"/>
                </a:solidFill>
                <a:latin typeface="Arial"/>
              </a:rPr>
              <a:t>QB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0" y="2139696"/>
            <a:ext cx="3246120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50" b="0" i="0">
                <a:solidFill>
                  <a:srgbClr val="16273D"/>
                </a:solidFill>
                <a:latin typeface="Arial"/>
              </a:rPr>
              <a:t>RETURNS — Noah Fifita, year four as the starter: 9,183 yards, 73 TDs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092440" y="1901952"/>
            <a:ext cx="324612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950" b="1" i="0">
                <a:solidFill>
                  <a:srgbClr val="F47321"/>
                </a:solidFill>
                <a:latin typeface="Arial"/>
              </a:rPr>
              <a:t>ROSTER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092440" y="2139696"/>
            <a:ext cx="3246120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50" b="0" i="0">
                <a:solidFill>
                  <a:srgbClr val="16273D"/>
                </a:solidFill>
                <a:latin typeface="Arial"/>
              </a:rPr>
              <a:t>65% back · 22 portal adds — leading rusher and top two receivers gone</a:t>
            </a:r>
          </a:p>
        </p:txBody>
      </p:sp>
      <p:sp>
        <p:nvSpPr>
          <p:cNvPr id="12" name="Oval 11"/>
          <p:cNvSpPr/>
          <p:nvPr/>
        </p:nvSpPr>
        <p:spPr>
          <a:xfrm>
            <a:off x="914400" y="3291840"/>
            <a:ext cx="137160" cy="137160"/>
          </a:xfrm>
          <a:prstGeom prst="ellipse">
            <a:avLst/>
          </a:prstGeom>
          <a:solidFill>
            <a:srgbClr val="F4732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325880" y="3108960"/>
            <a:ext cx="9601200" cy="7315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2400" b="1" i="0">
                <a:solidFill>
                  <a:srgbClr val="16273D"/>
                </a:solidFill>
                <a:latin typeface="Arial"/>
              </a:rPr>
              <a:t>Attack Poppinga early</a:t>
            </a:r>
          </a:p>
        </p:txBody>
      </p:sp>
      <p:sp>
        <p:nvSpPr>
          <p:cNvPr id="14" name="Oval 13"/>
          <p:cNvSpPr/>
          <p:nvPr/>
        </p:nvSpPr>
        <p:spPr>
          <a:xfrm>
            <a:off x="914400" y="4133088"/>
            <a:ext cx="137160" cy="137160"/>
          </a:xfrm>
          <a:prstGeom prst="ellipse">
            <a:avLst/>
          </a:prstGeom>
          <a:solidFill>
            <a:srgbClr val="F4732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325880" y="3950208"/>
            <a:ext cx="9601200" cy="7315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2400" b="1" i="0">
                <a:solidFill>
                  <a:srgbClr val="16273D"/>
                </a:solidFill>
                <a:latin typeface="Arial"/>
              </a:rPr>
              <a:t>Hold the line vs Martin</a:t>
            </a:r>
          </a:p>
        </p:txBody>
      </p:sp>
      <p:sp>
        <p:nvSpPr>
          <p:cNvPr id="16" name="Oval 15"/>
          <p:cNvSpPr/>
          <p:nvPr/>
        </p:nvSpPr>
        <p:spPr>
          <a:xfrm>
            <a:off x="914400" y="4974336"/>
            <a:ext cx="137160" cy="137160"/>
          </a:xfrm>
          <a:prstGeom prst="ellipse">
            <a:avLst/>
          </a:prstGeom>
          <a:solidFill>
            <a:srgbClr val="F4732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1325880" y="4791456"/>
            <a:ext cx="9601200" cy="7315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2400" b="1" i="0">
                <a:solidFill>
                  <a:srgbClr val="16273D"/>
                </a:solidFill>
                <a:latin typeface="Arial"/>
              </a:rPr>
              <a:t>Ball security</a:t>
            </a:r>
          </a:p>
        </p:txBody>
      </p:sp>
      <p:sp>
        <p:nvSpPr>
          <p:cNvPr id="18" name="Oval 17"/>
          <p:cNvSpPr/>
          <p:nvPr/>
        </p:nvSpPr>
        <p:spPr>
          <a:xfrm>
            <a:off x="914400" y="5815584"/>
            <a:ext cx="137160" cy="137160"/>
          </a:xfrm>
          <a:prstGeom prst="ellipse">
            <a:avLst/>
          </a:prstGeom>
          <a:solidFill>
            <a:srgbClr val="F4732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1325880" y="5632704"/>
            <a:ext cx="9601200" cy="7315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2400" b="1" i="0">
                <a:solidFill>
                  <a:srgbClr val="16273D"/>
                </a:solidFill>
                <a:latin typeface="Arial"/>
              </a:rPr>
              <a:t>Win field position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22960" y="6519672"/>
            <a:ext cx="105156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900" b="0" i="0">
                <a:solidFill>
                  <a:srgbClr val="5C6B7E"/>
                </a:solidFill>
                <a:latin typeface="Arial"/>
              </a:rPr>
              <a:t>EP 3 · WEEK 2 · Arizona at BYU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byu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22960" y="502920"/>
            <a:ext cx="1051560" cy="105156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2148840" y="603504"/>
            <a:ext cx="9052560" cy="56692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3200" b="1" i="0">
                <a:solidFill>
                  <a:srgbClr val="0A2851"/>
                </a:solidFill>
                <a:latin typeface="Arial"/>
              </a:rPr>
              <a:t>BYU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148840" y="1225296"/>
            <a:ext cx="905256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300" b="0" i="1">
                <a:solidFill>
                  <a:srgbClr val="5C6B7E"/>
                </a:solidFill>
                <a:latin typeface="Arial"/>
              </a:rPr>
              <a:t>What it takes to win · Arizona at BYU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822960" y="1783080"/>
            <a:ext cx="10515600" cy="960120"/>
          </a:xfrm>
          <a:prstGeom prst="roundRect">
            <a:avLst/>
          </a:prstGeom>
          <a:solidFill>
            <a:srgbClr val="EAF0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51560" y="1901952"/>
            <a:ext cx="324612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950" b="1" i="0">
                <a:solidFill>
                  <a:srgbClr val="F47321"/>
                </a:solidFill>
                <a:latin typeface="Arial"/>
              </a:rPr>
              <a:t>COACH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51560" y="2139696"/>
            <a:ext cx="3246120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50" b="0" i="0">
                <a:solidFill>
                  <a:srgbClr val="16273D"/>
                </a:solidFill>
                <a:latin typeface="Arial"/>
              </a:rPr>
              <a:t>Sitake, year 11 — NEW DC Kelly Poppinga (Hill left for Michigan)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0" y="1901952"/>
            <a:ext cx="324612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950" b="1" i="0">
                <a:solidFill>
                  <a:srgbClr val="F47321"/>
                </a:solidFill>
                <a:latin typeface="Arial"/>
              </a:rPr>
              <a:t>QB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0" y="2139696"/>
            <a:ext cx="3246120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50" b="0" i="0">
                <a:solidFill>
                  <a:srgbClr val="16273D"/>
                </a:solidFill>
                <a:latin typeface="Arial"/>
              </a:rPr>
              <a:t>RETURNS — Bear Bachmeier, year two: the Big 12's safest QB bet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092440" y="1901952"/>
            <a:ext cx="324612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950" b="1" i="0">
                <a:solidFill>
                  <a:srgbClr val="F47321"/>
                </a:solidFill>
                <a:latin typeface="Arial"/>
              </a:rPr>
              <a:t>ROSTER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092440" y="2139696"/>
            <a:ext cx="3246120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50" b="0" i="0">
                <a:solidFill>
                  <a:srgbClr val="16273D"/>
                </a:solidFill>
                <a:latin typeface="Arial"/>
              </a:rPr>
              <a:t>79% back — most on the card · 9 portal adds · 177 returning starts</a:t>
            </a:r>
          </a:p>
        </p:txBody>
      </p:sp>
      <p:sp>
        <p:nvSpPr>
          <p:cNvPr id="12" name="Oval 11"/>
          <p:cNvSpPr/>
          <p:nvPr/>
        </p:nvSpPr>
        <p:spPr>
          <a:xfrm>
            <a:off x="914400" y="3291840"/>
            <a:ext cx="137160" cy="137160"/>
          </a:xfrm>
          <a:prstGeom prst="ellipse">
            <a:avLst/>
          </a:prstGeom>
          <a:solidFill>
            <a:srgbClr val="F4732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325880" y="3108960"/>
            <a:ext cx="9601200" cy="7315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2400" b="1" i="0">
                <a:solidFill>
                  <a:srgbClr val="16273D"/>
                </a:solidFill>
                <a:latin typeface="Arial"/>
              </a:rPr>
              <a:t>Run first, then punish</a:t>
            </a:r>
          </a:p>
        </p:txBody>
      </p:sp>
      <p:sp>
        <p:nvSpPr>
          <p:cNvPr id="14" name="Oval 13"/>
          <p:cNvSpPr/>
          <p:nvPr/>
        </p:nvSpPr>
        <p:spPr>
          <a:xfrm>
            <a:off x="914400" y="4133088"/>
            <a:ext cx="137160" cy="137160"/>
          </a:xfrm>
          <a:prstGeom prst="ellipse">
            <a:avLst/>
          </a:prstGeom>
          <a:solidFill>
            <a:srgbClr val="F4732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325880" y="3950208"/>
            <a:ext cx="9601200" cy="7315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2400" b="1" i="0">
                <a:solidFill>
                  <a:srgbClr val="16273D"/>
                </a:solidFill>
                <a:latin typeface="Arial"/>
              </a:rPr>
              <a:t>Martin and Eka behind the veterans</a:t>
            </a:r>
          </a:p>
        </p:txBody>
      </p:sp>
      <p:sp>
        <p:nvSpPr>
          <p:cNvPr id="16" name="Oval 15"/>
          <p:cNvSpPr/>
          <p:nvPr/>
        </p:nvSpPr>
        <p:spPr>
          <a:xfrm>
            <a:off x="914400" y="4974336"/>
            <a:ext cx="137160" cy="137160"/>
          </a:xfrm>
          <a:prstGeom prst="ellipse">
            <a:avLst/>
          </a:prstGeom>
          <a:solidFill>
            <a:srgbClr val="F4732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1325880" y="4791456"/>
            <a:ext cx="9601200" cy="7315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2400" b="1" i="0">
                <a:solidFill>
                  <a:srgbClr val="16273D"/>
                </a:solidFill>
                <a:latin typeface="Arial"/>
              </a:rPr>
              <a:t>Prove the new receivers</a:t>
            </a:r>
          </a:p>
        </p:txBody>
      </p:sp>
      <p:sp>
        <p:nvSpPr>
          <p:cNvPr id="18" name="Oval 17"/>
          <p:cNvSpPr/>
          <p:nvPr/>
        </p:nvSpPr>
        <p:spPr>
          <a:xfrm>
            <a:off x="914400" y="5815584"/>
            <a:ext cx="137160" cy="137160"/>
          </a:xfrm>
          <a:prstGeom prst="ellipse">
            <a:avLst/>
          </a:prstGeom>
          <a:solidFill>
            <a:srgbClr val="F4732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1325880" y="5632704"/>
            <a:ext cx="9601200" cy="7315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2400" b="1" i="0">
                <a:solidFill>
                  <a:srgbClr val="16273D"/>
                </a:solidFill>
                <a:latin typeface="Arial"/>
              </a:rPr>
              <a:t>Win the hidden margin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22960" y="6519672"/>
            <a:ext cx="105156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900" b="0" i="0">
                <a:solidFill>
                  <a:srgbClr val="5C6B7E"/>
                </a:solidFill>
                <a:latin typeface="Arial"/>
              </a:rPr>
              <a:t>EP 3 · WEEK 2 · Arizona at BYU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alabama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22960" y="384048"/>
            <a:ext cx="731520" cy="73152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664208" y="475488"/>
            <a:ext cx="45720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1400" b="0" i="0">
                <a:solidFill>
                  <a:srgbClr val="5C6B7E"/>
                </a:solidFill>
                <a:latin typeface="Arial"/>
              </a:rPr>
              <a:t>at</a:t>
            </a:r>
          </a:p>
        </p:txBody>
      </p:sp>
      <p:pic>
        <p:nvPicPr>
          <p:cNvPr id="4" name="Picture 3" descr="kentucky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148840" y="384048"/>
            <a:ext cx="731520" cy="73152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3154680" y="347472"/>
            <a:ext cx="8138160" cy="5029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2700" b="1" i="0">
                <a:solidFill>
                  <a:srgbClr val="0A2851"/>
                </a:solidFill>
                <a:latin typeface="Arial"/>
              </a:rPr>
              <a:t>Alabama at Kentucky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154680" y="859536"/>
            <a:ext cx="813816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100" b="0" i="1">
                <a:solidFill>
                  <a:srgbClr val="5C6B7E"/>
                </a:solidFill>
                <a:latin typeface="Arial"/>
              </a:rPr>
              <a:t>Sat Sep 12 · 3:30 ET · SEC opener · Keelon Russell's first road start · Will Stein's first SEC game · Kentucky hasn't beaten Alabama since 1997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22960" y="1600200"/>
            <a:ext cx="658368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300" b="1" i="0">
                <a:solidFill>
                  <a:srgbClr val="0A2851"/>
                </a:solidFill>
                <a:latin typeface="Arial"/>
              </a:rPr>
              <a:t>WHY IT MATTERS</a:t>
            </a:r>
          </a:p>
        </p:txBody>
      </p:sp>
      <p:sp>
        <p:nvSpPr>
          <p:cNvPr id="8" name="Oval 7"/>
          <p:cNvSpPr/>
          <p:nvPr/>
        </p:nvSpPr>
        <p:spPr>
          <a:xfrm>
            <a:off x="868680" y="2176272"/>
            <a:ext cx="128016" cy="128016"/>
          </a:xfrm>
          <a:prstGeom prst="ellipse">
            <a:avLst/>
          </a:prstGeom>
          <a:solidFill>
            <a:srgbClr val="F4732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188720" y="2057400"/>
            <a:ext cx="6217920" cy="7315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600" b="0" i="0">
                <a:solidFill>
                  <a:srgbClr val="16273D"/>
                </a:solidFill>
                <a:latin typeface="Arial"/>
              </a:rPr>
              <a:t>DeBoer's referendum year opens on the road with a freshman QB</a:t>
            </a:r>
          </a:p>
        </p:txBody>
      </p:sp>
      <p:sp>
        <p:nvSpPr>
          <p:cNvPr id="10" name="Oval 9"/>
          <p:cNvSpPr/>
          <p:nvPr/>
        </p:nvSpPr>
        <p:spPr>
          <a:xfrm>
            <a:off x="868680" y="2889504"/>
            <a:ext cx="128016" cy="128016"/>
          </a:xfrm>
          <a:prstGeom prst="ellipse">
            <a:avLst/>
          </a:prstGeom>
          <a:solidFill>
            <a:srgbClr val="F4732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188720" y="2770632"/>
            <a:ext cx="6217920" cy="7315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600" b="0" i="0">
                <a:solidFill>
                  <a:srgbClr val="16273D"/>
                </a:solidFill>
                <a:latin typeface="Arial"/>
              </a:rPr>
              <a:t>Stein's anti-Stoops: pace, motion, a transfer line</a:t>
            </a:r>
          </a:p>
        </p:txBody>
      </p:sp>
      <p:sp>
        <p:nvSpPr>
          <p:cNvPr id="12" name="Oval 11"/>
          <p:cNvSpPr/>
          <p:nvPr/>
        </p:nvSpPr>
        <p:spPr>
          <a:xfrm>
            <a:off x="868680" y="3602736"/>
            <a:ext cx="128016" cy="128016"/>
          </a:xfrm>
          <a:prstGeom prst="ellipse">
            <a:avLst/>
          </a:prstGeom>
          <a:solidFill>
            <a:srgbClr val="F4732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188720" y="3483864"/>
            <a:ext cx="6217920" cy="7315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600" b="0" i="0">
                <a:solidFill>
                  <a:srgbClr val="16273D"/>
                </a:solidFill>
                <a:latin typeface="Arial"/>
              </a:rPr>
              <a:t>Lowest continuity on the card, both sides</a:t>
            </a:r>
          </a:p>
        </p:txBody>
      </p:sp>
      <p:sp>
        <p:nvSpPr>
          <p:cNvPr id="14" name="Oval 13"/>
          <p:cNvSpPr/>
          <p:nvPr/>
        </p:nvSpPr>
        <p:spPr>
          <a:xfrm>
            <a:off x="868680" y="4315968"/>
            <a:ext cx="128016" cy="128016"/>
          </a:xfrm>
          <a:prstGeom prst="ellipse">
            <a:avLst/>
          </a:prstGeom>
          <a:solidFill>
            <a:srgbClr val="F4732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188720" y="4197096"/>
            <a:ext cx="6217920" cy="7315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600" b="0" i="0">
                <a:solidFill>
                  <a:srgbClr val="16273D"/>
                </a:solidFill>
                <a:latin typeface="Arial"/>
              </a:rPr>
              <a:t>The deep dive called this an early landmine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822960" y="5047488"/>
            <a:ext cx="6583680" cy="960120"/>
          </a:xfrm>
          <a:prstGeom prst="roundRect">
            <a:avLst/>
          </a:prstGeom>
          <a:solidFill>
            <a:srgbClr val="EAF0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1051560" y="5202936"/>
            <a:ext cx="6126480" cy="6858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300" b="0" i="1">
                <a:solidFill>
                  <a:srgbClr val="5C6B7E"/>
                </a:solidFill>
                <a:latin typeface="Arial"/>
              </a:rPr>
              <a:t>2.7 to Alabama sits right at the noise line — quibble, not a position.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7772400" y="1600200"/>
            <a:ext cx="3566160" cy="4206240"/>
          </a:xfrm>
          <a:prstGeom prst="roundRect">
            <a:avLst/>
          </a:prstGeom>
          <a:solidFill>
            <a:srgbClr val="0A285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046720" y="1810512"/>
            <a:ext cx="301752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200" b="1" i="0">
                <a:solidFill>
                  <a:srgbClr val="F47321"/>
                </a:solidFill>
                <a:latin typeface="Arial"/>
              </a:rPr>
              <a:t>THE NUMBER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046720" y="2103120"/>
            <a:ext cx="3017520" cy="5029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2800" b="1" i="0">
                <a:solidFill>
                  <a:srgbClr val="FFFFFF"/>
                </a:solidFill>
                <a:latin typeface="Arial"/>
              </a:rPr>
              <a:t>Alabama –13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046720" y="2596896"/>
            <a:ext cx="301752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200" b="1" i="0">
                <a:solidFill>
                  <a:srgbClr val="FFFFFF"/>
                </a:solidFill>
                <a:latin typeface="Arial"/>
              </a:rPr>
              <a:t>Kentucky +380 · Alabama –380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046720" y="2852928"/>
            <a:ext cx="3017520" cy="25603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850" b="0" i="0">
                <a:solidFill>
                  <a:srgbClr val="CADCFC"/>
                </a:solidFill>
                <a:latin typeface="Arial"/>
              </a:rPr>
              <a:t>machine line · fair odds, no vig · raw margin Alabama +13.2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046720" y="3246120"/>
            <a:ext cx="3017520" cy="4114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2000" b="1" i="0">
                <a:solidFill>
                  <a:srgbClr val="FFFFFF"/>
                </a:solidFill>
                <a:latin typeface="Arial"/>
              </a:rPr>
              <a:t>+10.5 / +10.5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046720" y="3639312"/>
            <a:ext cx="301752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850" b="0" i="0">
                <a:solidFill>
                  <a:srgbClr val="CADCFC"/>
                </a:solidFill>
                <a:latin typeface="Arial"/>
              </a:rPr>
              <a:t>market (DK / Bovada) · DK Kentucky +330 / Alabama -425 · Bov Kentucky +320 / Alabama -430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046720" y="4069080"/>
            <a:ext cx="301752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300" b="1" i="0">
                <a:solidFill>
                  <a:srgbClr val="F47321"/>
                </a:solidFill>
                <a:latin typeface="Arial"/>
              </a:rPr>
              <a:t>Alabama 31 – Kentucky 18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046720" y="4407408"/>
            <a:ext cx="301752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850" b="0" i="0">
                <a:solidFill>
                  <a:srgbClr val="CADCFC"/>
                </a:solidFill>
                <a:latin typeface="Arial"/>
              </a:rPr>
              <a:t>score prediction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8046720" y="4754880"/>
            <a:ext cx="3017520" cy="365760"/>
          </a:xfrm>
          <a:prstGeom prst="roundRect">
            <a:avLst/>
          </a:prstGeom>
          <a:solidFill>
            <a:srgbClr val="9E163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ounded Rectangle 27"/>
          <p:cNvSpPr/>
          <p:nvPr/>
        </p:nvSpPr>
        <p:spPr>
          <a:xfrm>
            <a:off x="8046720" y="4754880"/>
            <a:ext cx="633679" cy="365760"/>
          </a:xfrm>
          <a:prstGeom prst="roundRect">
            <a:avLst/>
          </a:prstGeom>
          <a:solidFill>
            <a:srgbClr val="0033A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8119872" y="4837176"/>
            <a:ext cx="219456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50" b="1" i="0">
                <a:solidFill>
                  <a:srgbClr val="FFFFFF"/>
                </a:solidFill>
                <a:latin typeface="Arial"/>
              </a:rPr>
              <a:t>UK 21%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8796528" y="4837176"/>
            <a:ext cx="219456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1050" b="1" i="0">
                <a:solidFill>
                  <a:srgbClr val="FFFFFF"/>
                </a:solidFill>
                <a:latin typeface="Arial"/>
              </a:rPr>
              <a:t>79% BAMA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8046720" y="5175504"/>
            <a:ext cx="301752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850" b="0" i="0">
                <a:solidFill>
                  <a:srgbClr val="CADCFC"/>
                </a:solidFill>
                <a:latin typeface="Arial"/>
              </a:rPr>
              <a:t>win probability (machine)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8046720" y="5440680"/>
            <a:ext cx="301752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950" b="1" i="0">
                <a:solidFill>
                  <a:srgbClr val="F47321"/>
                </a:solidFill>
                <a:latin typeface="Arial"/>
              </a:rPr>
              <a:t>LINE MOVE  +10.5 → +10.5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822960" y="6236208"/>
            <a:ext cx="105156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50" b="0" i="0">
                <a:solidFill>
                  <a:srgbClr val="5C6B7E"/>
                </a:solidFill>
                <a:latin typeface="Arial"/>
              </a:rPr>
              <a:t>Line movement: first-seen +10.5 (Sep 4) → now +10.5 · CLV +0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alabama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22960" y="502920"/>
            <a:ext cx="1051560" cy="105156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2148840" y="603504"/>
            <a:ext cx="9052560" cy="56692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3200" b="1" i="0">
                <a:solidFill>
                  <a:srgbClr val="0A2851"/>
                </a:solidFill>
                <a:latin typeface="Arial"/>
              </a:rPr>
              <a:t>Alabama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148840" y="1225296"/>
            <a:ext cx="905256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300" b="0" i="1">
                <a:solidFill>
                  <a:srgbClr val="5C6B7E"/>
                </a:solidFill>
                <a:latin typeface="Arial"/>
              </a:rPr>
              <a:t>What it takes to win · Alabama at Kentucky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822960" y="1783080"/>
            <a:ext cx="10515600" cy="960120"/>
          </a:xfrm>
          <a:prstGeom prst="roundRect">
            <a:avLst/>
          </a:prstGeom>
          <a:solidFill>
            <a:srgbClr val="EAF0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51560" y="1901952"/>
            <a:ext cx="324612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950" b="1" i="0">
                <a:solidFill>
                  <a:srgbClr val="F47321"/>
                </a:solidFill>
                <a:latin typeface="Arial"/>
              </a:rPr>
              <a:t>COACH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51560" y="2139696"/>
            <a:ext cx="3246120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50" b="0" i="0">
                <a:solidFill>
                  <a:srgbClr val="16273D"/>
                </a:solidFill>
                <a:latin typeface="Arial"/>
              </a:rPr>
              <a:t>DeBoer, year 3 — the referendum season; Wommack year 3 on defense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0" y="1901952"/>
            <a:ext cx="324612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950" b="1" i="0">
                <a:solidFill>
                  <a:srgbClr val="F47321"/>
                </a:solidFill>
                <a:latin typeface="Arial"/>
              </a:rPr>
              <a:t>QB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0" y="2139696"/>
            <a:ext cx="3246120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50" b="0" i="0">
                <a:solidFill>
                  <a:srgbClr val="16273D"/>
                </a:solidFill>
                <a:latin typeface="Arial"/>
              </a:rPr>
              <a:t>NEW — Keelon Russell, RS freshman, the No. 2 recruit in the 2025 class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092440" y="1901952"/>
            <a:ext cx="324612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950" b="1" i="0">
                <a:solidFill>
                  <a:srgbClr val="F47321"/>
                </a:solidFill>
                <a:latin typeface="Arial"/>
              </a:rPr>
              <a:t>ROSTER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092440" y="2139696"/>
            <a:ext cx="3246120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50" b="0" i="0">
                <a:solidFill>
                  <a:srgbClr val="16273D"/>
                </a:solidFill>
                <a:latin typeface="Arial"/>
              </a:rPr>
              <a:t>26% back · 17 portal adds — six of the top seven OL gone, QB gone</a:t>
            </a:r>
          </a:p>
        </p:txBody>
      </p:sp>
      <p:sp>
        <p:nvSpPr>
          <p:cNvPr id="12" name="Oval 11"/>
          <p:cNvSpPr/>
          <p:nvPr/>
        </p:nvSpPr>
        <p:spPr>
          <a:xfrm>
            <a:off x="914400" y="3291840"/>
            <a:ext cx="137160" cy="137160"/>
          </a:xfrm>
          <a:prstGeom prst="ellipse">
            <a:avLst/>
          </a:prstGeom>
          <a:solidFill>
            <a:srgbClr val="F4732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325880" y="3108960"/>
            <a:ext cx="9601200" cy="7315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2400" b="1" i="0">
                <a:solidFill>
                  <a:srgbClr val="16273D"/>
                </a:solidFill>
                <a:latin typeface="Arial"/>
              </a:rPr>
              <a:t>Russell's first road start</a:t>
            </a:r>
          </a:p>
        </p:txBody>
      </p:sp>
      <p:sp>
        <p:nvSpPr>
          <p:cNvPr id="14" name="Oval 13"/>
          <p:cNvSpPr/>
          <p:nvPr/>
        </p:nvSpPr>
        <p:spPr>
          <a:xfrm>
            <a:off x="914400" y="4133088"/>
            <a:ext cx="137160" cy="137160"/>
          </a:xfrm>
          <a:prstGeom prst="ellipse">
            <a:avLst/>
          </a:prstGeom>
          <a:solidFill>
            <a:srgbClr val="F4732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325880" y="3950208"/>
            <a:ext cx="9601200" cy="7315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2400" b="1" i="0">
                <a:solidFill>
                  <a:srgbClr val="16273D"/>
                </a:solidFill>
                <a:latin typeface="Arial"/>
              </a:rPr>
              <a:t>Run it 49 times again</a:t>
            </a:r>
          </a:p>
        </p:txBody>
      </p:sp>
      <p:sp>
        <p:nvSpPr>
          <p:cNvPr id="16" name="Oval 15"/>
          <p:cNvSpPr/>
          <p:nvPr/>
        </p:nvSpPr>
        <p:spPr>
          <a:xfrm>
            <a:off x="914400" y="4974336"/>
            <a:ext cx="137160" cy="137160"/>
          </a:xfrm>
          <a:prstGeom prst="ellipse">
            <a:avLst/>
          </a:prstGeom>
          <a:solidFill>
            <a:srgbClr val="F4732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1325880" y="4791456"/>
            <a:ext cx="9601200" cy="7315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2400" b="1" i="0">
                <a:solidFill>
                  <a:srgbClr val="16273D"/>
                </a:solidFill>
                <a:latin typeface="Arial"/>
              </a:rPr>
              <a:t>Wommack's secondary vs the void</a:t>
            </a:r>
          </a:p>
        </p:txBody>
      </p:sp>
      <p:sp>
        <p:nvSpPr>
          <p:cNvPr id="18" name="Oval 17"/>
          <p:cNvSpPr/>
          <p:nvPr/>
        </p:nvSpPr>
        <p:spPr>
          <a:xfrm>
            <a:off x="914400" y="5815584"/>
            <a:ext cx="137160" cy="137160"/>
          </a:xfrm>
          <a:prstGeom prst="ellipse">
            <a:avLst/>
          </a:prstGeom>
          <a:solidFill>
            <a:srgbClr val="F4732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1325880" y="5632704"/>
            <a:ext cx="9601200" cy="7315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2400" b="1" i="0">
                <a:solidFill>
                  <a:srgbClr val="16273D"/>
                </a:solidFill>
                <a:latin typeface="Arial"/>
              </a:rPr>
              <a:t>Special teams can't leak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22960" y="6519672"/>
            <a:ext cx="105156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900" b="0" i="0">
                <a:solidFill>
                  <a:srgbClr val="5C6B7E"/>
                </a:solidFill>
                <a:latin typeface="Arial"/>
              </a:rPr>
              <a:t>EP 3 · WEEK 2 · Alabama at Kentucky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kentucky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22960" y="502920"/>
            <a:ext cx="1051560" cy="105156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2148840" y="603504"/>
            <a:ext cx="9052560" cy="56692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3200" b="1" i="0">
                <a:solidFill>
                  <a:srgbClr val="0A2851"/>
                </a:solidFill>
                <a:latin typeface="Arial"/>
              </a:rPr>
              <a:t>Kentucky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148840" y="1225296"/>
            <a:ext cx="905256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300" b="0" i="1">
                <a:solidFill>
                  <a:srgbClr val="5C6B7E"/>
                </a:solidFill>
                <a:latin typeface="Arial"/>
              </a:rPr>
              <a:t>What it takes to win · Alabama at Kentucky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822960" y="1783080"/>
            <a:ext cx="10515600" cy="960120"/>
          </a:xfrm>
          <a:prstGeom prst="roundRect">
            <a:avLst/>
          </a:prstGeom>
          <a:solidFill>
            <a:srgbClr val="EAF0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51560" y="1901952"/>
            <a:ext cx="324612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950" b="1" i="0">
                <a:solidFill>
                  <a:srgbClr val="F47321"/>
                </a:solidFill>
                <a:latin typeface="Arial"/>
              </a:rPr>
              <a:t>COACH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51560" y="2139696"/>
            <a:ext cx="3246120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50" b="0" i="0">
                <a:solidFill>
                  <a:srgbClr val="16273D"/>
                </a:solidFill>
                <a:latin typeface="Arial"/>
              </a:rPr>
              <a:t>NEW — Will Stein (Oregon OC) after the Stoops era ended at 5–7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0" y="1901952"/>
            <a:ext cx="324612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950" b="1" i="0">
                <a:solidFill>
                  <a:srgbClr val="F47321"/>
                </a:solidFill>
                <a:latin typeface="Arial"/>
              </a:rPr>
              <a:t>QB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0" y="2139696"/>
            <a:ext cx="3246120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50" b="0" i="0">
                <a:solidFill>
                  <a:srgbClr val="16273D"/>
                </a:solidFill>
                <a:latin typeface="Arial"/>
              </a:rPr>
              <a:t>NEW — Kenny Minchey (Notre Dame): accurate, mobile, one start of proof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092440" y="1901952"/>
            <a:ext cx="324612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950" b="1" i="0">
                <a:solidFill>
                  <a:srgbClr val="F47321"/>
                </a:solidFill>
                <a:latin typeface="Arial"/>
              </a:rPr>
              <a:t>ROSTER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092440" y="2139696"/>
            <a:ext cx="3246120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50" b="0" i="0">
                <a:solidFill>
                  <a:srgbClr val="16273D"/>
                </a:solidFill>
                <a:latin typeface="Arial"/>
              </a:rPr>
              <a:t>19% back · 31 portal adds — most on the card; six transfer OL, ten defensive starters back</a:t>
            </a:r>
          </a:p>
        </p:txBody>
      </p:sp>
      <p:sp>
        <p:nvSpPr>
          <p:cNvPr id="12" name="Oval 11"/>
          <p:cNvSpPr/>
          <p:nvPr/>
        </p:nvSpPr>
        <p:spPr>
          <a:xfrm>
            <a:off x="914400" y="3291840"/>
            <a:ext cx="137160" cy="137160"/>
          </a:xfrm>
          <a:prstGeom prst="ellipse">
            <a:avLst/>
          </a:prstGeom>
          <a:solidFill>
            <a:srgbClr val="F4732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325880" y="3108960"/>
            <a:ext cx="9601200" cy="7315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2400" b="1" i="0">
                <a:solidFill>
                  <a:srgbClr val="16273D"/>
                </a:solidFill>
                <a:latin typeface="Arial"/>
              </a:rPr>
              <a:t>The mauling line</a:t>
            </a:r>
          </a:p>
        </p:txBody>
      </p:sp>
      <p:sp>
        <p:nvSpPr>
          <p:cNvPr id="14" name="Oval 13"/>
          <p:cNvSpPr/>
          <p:nvPr/>
        </p:nvSpPr>
        <p:spPr>
          <a:xfrm>
            <a:off x="914400" y="4133088"/>
            <a:ext cx="137160" cy="137160"/>
          </a:xfrm>
          <a:prstGeom prst="ellipse">
            <a:avLst/>
          </a:prstGeom>
          <a:solidFill>
            <a:srgbClr val="F4732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325880" y="3950208"/>
            <a:ext cx="9601200" cy="7315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2400" b="1" i="0">
                <a:solidFill>
                  <a:srgbClr val="16273D"/>
                </a:solidFill>
                <a:latin typeface="Arial"/>
              </a:rPr>
              <a:t>Minchey keeps it clean</a:t>
            </a:r>
          </a:p>
        </p:txBody>
      </p:sp>
      <p:sp>
        <p:nvSpPr>
          <p:cNvPr id="16" name="Oval 15"/>
          <p:cNvSpPr/>
          <p:nvPr/>
        </p:nvSpPr>
        <p:spPr>
          <a:xfrm>
            <a:off x="914400" y="4974336"/>
            <a:ext cx="137160" cy="137160"/>
          </a:xfrm>
          <a:prstGeom prst="ellipse">
            <a:avLst/>
          </a:prstGeom>
          <a:solidFill>
            <a:srgbClr val="F4732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1325880" y="4791456"/>
            <a:ext cx="9601200" cy="7315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2400" b="1" i="0">
                <a:solidFill>
                  <a:srgbClr val="16273D"/>
                </a:solidFill>
                <a:latin typeface="Arial"/>
              </a:rPr>
              <a:t>The defense is the strength</a:t>
            </a:r>
          </a:p>
        </p:txBody>
      </p:sp>
      <p:sp>
        <p:nvSpPr>
          <p:cNvPr id="18" name="Oval 17"/>
          <p:cNvSpPr/>
          <p:nvPr/>
        </p:nvSpPr>
        <p:spPr>
          <a:xfrm>
            <a:off x="914400" y="5815584"/>
            <a:ext cx="137160" cy="137160"/>
          </a:xfrm>
          <a:prstGeom prst="ellipse">
            <a:avLst/>
          </a:prstGeom>
          <a:solidFill>
            <a:srgbClr val="F4732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1325880" y="5632704"/>
            <a:ext cx="9601200" cy="7315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2400" b="1" i="0">
                <a:solidFill>
                  <a:srgbClr val="16273D"/>
                </a:solidFill>
                <a:latin typeface="Arial"/>
              </a:rPr>
              <a:t>Fix third down and the flags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22960" y="6519672"/>
            <a:ext cx="105156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900" b="0" i="0">
                <a:solidFill>
                  <a:srgbClr val="5C6B7E"/>
                </a:solidFill>
                <a:latin typeface="Arial"/>
              </a:rPr>
              <a:t>EP 3 · WEEK 2 · Alabama at Kentucky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ohiostat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22960" y="384048"/>
            <a:ext cx="731520" cy="73152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664208" y="475488"/>
            <a:ext cx="45720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1400" b="0" i="0">
                <a:solidFill>
                  <a:srgbClr val="5C6B7E"/>
                </a:solidFill>
                <a:latin typeface="Arial"/>
              </a:rPr>
              <a:t>at</a:t>
            </a:r>
          </a:p>
        </p:txBody>
      </p:sp>
      <p:pic>
        <p:nvPicPr>
          <p:cNvPr id="4" name="Picture 3" descr="texas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148840" y="384048"/>
            <a:ext cx="731520" cy="73152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3154680" y="347472"/>
            <a:ext cx="8138160" cy="5029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2700" b="1" i="0">
                <a:solidFill>
                  <a:srgbClr val="0A2851"/>
                </a:solidFill>
                <a:latin typeface="Arial"/>
              </a:rPr>
              <a:t>Ohio State at Texas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154680" y="859536"/>
            <a:ext cx="813816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100" b="0" i="1">
                <a:solidFill>
                  <a:srgbClr val="5C6B7E"/>
                </a:solidFill>
                <a:latin typeface="Arial"/>
              </a:rPr>
              <a:t>Sat Sep 12 · 7:30 ET · No. 1 at No. 4 · the 2025 opener rematch (OSU 14–7) · Arch's last tour vs Sayin-to-Smith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22960" y="1600200"/>
            <a:ext cx="658368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300" b="1" i="0">
                <a:solidFill>
                  <a:srgbClr val="0A2851"/>
                </a:solidFill>
                <a:latin typeface="Arial"/>
              </a:rPr>
              <a:t>WHY IT MATTERS</a:t>
            </a:r>
          </a:p>
        </p:txBody>
      </p:sp>
      <p:sp>
        <p:nvSpPr>
          <p:cNvPr id="8" name="Oval 7"/>
          <p:cNvSpPr/>
          <p:nvPr/>
        </p:nvSpPr>
        <p:spPr>
          <a:xfrm>
            <a:off x="868680" y="2176272"/>
            <a:ext cx="128016" cy="128016"/>
          </a:xfrm>
          <a:prstGeom prst="ellipse">
            <a:avLst/>
          </a:prstGeom>
          <a:solidFill>
            <a:srgbClr val="F4732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188720" y="2057400"/>
            <a:ext cx="6217920" cy="7315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600" b="0" i="0">
                <a:solidFill>
                  <a:srgbClr val="16273D"/>
                </a:solidFill>
                <a:latin typeface="Arial"/>
              </a:rPr>
              <a:t>The rematch: OSU won 14–7 last year and the 2024 semifinal</a:t>
            </a:r>
          </a:p>
        </p:txBody>
      </p:sp>
      <p:sp>
        <p:nvSpPr>
          <p:cNvPr id="10" name="Oval 9"/>
          <p:cNvSpPr/>
          <p:nvPr/>
        </p:nvSpPr>
        <p:spPr>
          <a:xfrm>
            <a:off x="868680" y="2889504"/>
            <a:ext cx="128016" cy="128016"/>
          </a:xfrm>
          <a:prstGeom prst="ellipse">
            <a:avLst/>
          </a:prstGeom>
          <a:solidFill>
            <a:srgbClr val="F4732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188720" y="2770632"/>
            <a:ext cx="6217920" cy="7315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600" b="0" i="0">
                <a:solidFill>
                  <a:srgbClr val="16273D"/>
                </a:solidFill>
                <a:latin typeface="Arial"/>
              </a:rPr>
              <a:t>Two title rosters, one coordinator gamble each</a:t>
            </a:r>
          </a:p>
        </p:txBody>
      </p:sp>
      <p:sp>
        <p:nvSpPr>
          <p:cNvPr id="12" name="Oval 11"/>
          <p:cNvSpPr/>
          <p:nvPr/>
        </p:nvSpPr>
        <p:spPr>
          <a:xfrm>
            <a:off x="868680" y="3602736"/>
            <a:ext cx="128016" cy="128016"/>
          </a:xfrm>
          <a:prstGeom prst="ellipse">
            <a:avLst/>
          </a:prstGeom>
          <a:solidFill>
            <a:srgbClr val="F4732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188720" y="3483864"/>
            <a:ext cx="6217920" cy="7315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600" b="0" i="0">
                <a:solidFill>
                  <a:srgbClr val="16273D"/>
                </a:solidFill>
                <a:latin typeface="Arial"/>
              </a:rPr>
              <a:t>Texas has the continuity edge — 72% back plus the portal class</a:t>
            </a:r>
          </a:p>
        </p:txBody>
      </p:sp>
      <p:sp>
        <p:nvSpPr>
          <p:cNvPr id="14" name="Oval 13"/>
          <p:cNvSpPr/>
          <p:nvPr/>
        </p:nvSpPr>
        <p:spPr>
          <a:xfrm>
            <a:off x="868680" y="4315968"/>
            <a:ext cx="128016" cy="128016"/>
          </a:xfrm>
          <a:prstGeom prst="ellipse">
            <a:avLst/>
          </a:prstGeom>
          <a:solidFill>
            <a:srgbClr val="F4732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188720" y="4197096"/>
            <a:ext cx="6217920" cy="7315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600" b="0" i="0">
                <a:solidFill>
                  <a:srgbClr val="16273D"/>
                </a:solidFill>
                <a:latin typeface="Arial"/>
              </a:rPr>
              <a:t>Week 1: 56–3 and 59–7, with nine flags and 349 allowed underneath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822960" y="5047488"/>
            <a:ext cx="6583680" cy="960120"/>
          </a:xfrm>
          <a:prstGeom prst="roundRect">
            <a:avLst/>
          </a:prstGeom>
          <a:solidFill>
            <a:srgbClr val="EAF0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1051560" y="5202936"/>
            <a:ext cx="6126480" cy="6858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300" b="0" i="1">
                <a:solidFill>
                  <a:srgbClr val="5C6B7E"/>
                </a:solidFill>
                <a:latin typeface="Arial"/>
              </a:rPr>
              <a:t>Machine 3.7, market 1.5, ESPN 0.7 — three points of ours is the cap artifact. No position.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7772400" y="1600200"/>
            <a:ext cx="3566160" cy="4206240"/>
          </a:xfrm>
          <a:prstGeom prst="roundRect">
            <a:avLst/>
          </a:prstGeom>
          <a:solidFill>
            <a:srgbClr val="0A285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046720" y="1810512"/>
            <a:ext cx="301752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200" b="1" i="0">
                <a:solidFill>
                  <a:srgbClr val="F47321"/>
                </a:solidFill>
                <a:latin typeface="Arial"/>
              </a:rPr>
              <a:t>THE NUMBER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046720" y="2103120"/>
            <a:ext cx="3017520" cy="5029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2800" b="1" i="0">
                <a:solidFill>
                  <a:srgbClr val="FFFFFF"/>
                </a:solidFill>
                <a:latin typeface="Arial"/>
              </a:rPr>
              <a:t>Texas –3.5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046720" y="2596896"/>
            <a:ext cx="301752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200" b="1" i="0">
                <a:solidFill>
                  <a:srgbClr val="FFFFFF"/>
                </a:solidFill>
                <a:latin typeface="Arial"/>
              </a:rPr>
              <a:t>Texas –150 · Ohio State +150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046720" y="2852928"/>
            <a:ext cx="3017520" cy="25603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850" b="0" i="0">
                <a:solidFill>
                  <a:srgbClr val="CADCFC"/>
                </a:solidFill>
                <a:latin typeface="Arial"/>
              </a:rPr>
              <a:t>machine line · fair odds, no vig · raw margin Texas +3.7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046720" y="3246120"/>
            <a:ext cx="3017520" cy="4114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2000" b="1" i="0">
                <a:solidFill>
                  <a:srgbClr val="FFFFFF"/>
                </a:solidFill>
                <a:latin typeface="Arial"/>
              </a:rPr>
              <a:t>–1.5 / –2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046720" y="3639312"/>
            <a:ext cx="301752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850" b="0" i="0">
                <a:solidFill>
                  <a:srgbClr val="CADCFC"/>
                </a:solidFill>
                <a:latin typeface="Arial"/>
              </a:rPr>
              <a:t>market (DK / Bovada) · DK Texas -122 / Ohio State +102 · Bov Texas -110 / Ohio State -110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046720" y="4069080"/>
            <a:ext cx="301752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300" b="1" i="0">
                <a:solidFill>
                  <a:srgbClr val="F47321"/>
                </a:solidFill>
                <a:latin typeface="Arial"/>
              </a:rPr>
              <a:t>Texas 27 – Ohio State 23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046720" y="4407408"/>
            <a:ext cx="301752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850" b="0" i="0">
                <a:solidFill>
                  <a:srgbClr val="CADCFC"/>
                </a:solidFill>
                <a:latin typeface="Arial"/>
              </a:rPr>
              <a:t>score prediction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8046720" y="4754880"/>
            <a:ext cx="3017520" cy="365760"/>
          </a:xfrm>
          <a:prstGeom prst="roundRect">
            <a:avLst/>
          </a:prstGeom>
          <a:solidFill>
            <a:srgbClr val="BB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ounded Rectangle 27"/>
          <p:cNvSpPr/>
          <p:nvPr/>
        </p:nvSpPr>
        <p:spPr>
          <a:xfrm>
            <a:off x="8046720" y="4754880"/>
            <a:ext cx="1810512" cy="365760"/>
          </a:xfrm>
          <a:prstGeom prst="roundRect">
            <a:avLst/>
          </a:prstGeom>
          <a:solidFill>
            <a:srgbClr val="BF57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8119872" y="4837176"/>
            <a:ext cx="219456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50" b="1" i="0">
                <a:solidFill>
                  <a:srgbClr val="FFFFFF"/>
                </a:solidFill>
                <a:latin typeface="Arial"/>
              </a:rPr>
              <a:t>TEX 60%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8796528" y="4837176"/>
            <a:ext cx="219456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1050" b="1" i="0">
                <a:solidFill>
                  <a:srgbClr val="FFFFFF"/>
                </a:solidFill>
                <a:latin typeface="Arial"/>
              </a:rPr>
              <a:t>40% OSU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8046720" y="5175504"/>
            <a:ext cx="301752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850" b="0" i="0">
                <a:solidFill>
                  <a:srgbClr val="CADCFC"/>
                </a:solidFill>
                <a:latin typeface="Arial"/>
              </a:rPr>
              <a:t>win probability (machine)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8046720" y="5440680"/>
            <a:ext cx="301752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950" b="1" i="0">
                <a:solidFill>
                  <a:srgbClr val="F47321"/>
                </a:solidFill>
                <a:latin typeface="Arial"/>
              </a:rPr>
              <a:t>LINE MOVE  –1.5 → –1.5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822960" y="6236208"/>
            <a:ext cx="105156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50" b="0" i="0">
                <a:solidFill>
                  <a:srgbClr val="5C6B7E"/>
                </a:solidFill>
                <a:latin typeface="Arial"/>
              </a:rPr>
              <a:t>Line movement: first-seen –1.5 (Aug 18) → now –1.5 · opened –2.5 · CLV +0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ohiostat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22960" y="502920"/>
            <a:ext cx="1051560" cy="105156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2148840" y="603504"/>
            <a:ext cx="9052560" cy="56692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3200" b="1" i="0">
                <a:solidFill>
                  <a:srgbClr val="0A2851"/>
                </a:solidFill>
                <a:latin typeface="Arial"/>
              </a:rPr>
              <a:t>Ohio State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148840" y="1225296"/>
            <a:ext cx="905256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300" b="0" i="1">
                <a:solidFill>
                  <a:srgbClr val="5C6B7E"/>
                </a:solidFill>
                <a:latin typeface="Arial"/>
              </a:rPr>
              <a:t>What it takes to win · Ohio State at Texas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822960" y="1783080"/>
            <a:ext cx="10515600" cy="960120"/>
          </a:xfrm>
          <a:prstGeom prst="roundRect">
            <a:avLst/>
          </a:prstGeom>
          <a:solidFill>
            <a:srgbClr val="EAF0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51560" y="1901952"/>
            <a:ext cx="324612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950" b="1" i="0">
                <a:solidFill>
                  <a:srgbClr val="F47321"/>
                </a:solidFill>
                <a:latin typeface="Arial"/>
              </a:rPr>
              <a:t>COACH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51560" y="2139696"/>
            <a:ext cx="3246120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50" b="0" i="0">
                <a:solidFill>
                  <a:srgbClr val="16273D"/>
                </a:solidFill>
                <a:latin typeface="Arial"/>
              </a:rPr>
              <a:t>Day, year 8 — NEW OC Arthur Smith (ex-Falcons HC); Patricia year two on defense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0" y="1901952"/>
            <a:ext cx="324612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950" b="1" i="0">
                <a:solidFill>
                  <a:srgbClr val="F47321"/>
                </a:solidFill>
                <a:latin typeface="Arial"/>
              </a:rPr>
              <a:t>QB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0" y="2139696"/>
            <a:ext cx="3246120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50" b="0" i="0">
                <a:solidFill>
                  <a:srgbClr val="16273D"/>
                </a:solidFill>
                <a:latin typeface="Arial"/>
              </a:rPr>
              <a:t>RETURNS — Julian Sayin, year two: No. 1 in success rate as a freshman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092440" y="1901952"/>
            <a:ext cx="324612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950" b="1" i="0">
                <a:solidFill>
                  <a:srgbClr val="F47321"/>
                </a:solidFill>
                <a:latin typeface="Arial"/>
              </a:rPr>
              <a:t>ROSTER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092440" y="2139696"/>
            <a:ext cx="3246120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50" b="0" i="0">
                <a:solidFill>
                  <a:srgbClr val="16273D"/>
                </a:solidFill>
                <a:latin typeface="Arial"/>
              </a:rPr>
              <a:t>68% of offensive production back · 17 portal adds — but 2 of 9 defensive starters return</a:t>
            </a:r>
          </a:p>
        </p:txBody>
      </p:sp>
      <p:sp>
        <p:nvSpPr>
          <p:cNvPr id="12" name="Oval 11"/>
          <p:cNvSpPr/>
          <p:nvPr/>
        </p:nvSpPr>
        <p:spPr>
          <a:xfrm>
            <a:off x="914400" y="3291840"/>
            <a:ext cx="137160" cy="137160"/>
          </a:xfrm>
          <a:prstGeom prst="ellipse">
            <a:avLst/>
          </a:prstGeom>
          <a:solidFill>
            <a:srgbClr val="F4732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325880" y="3108960"/>
            <a:ext cx="9601200" cy="7315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2400" b="1" i="0">
                <a:solidFill>
                  <a:srgbClr val="16273D"/>
                </a:solidFill>
                <a:latin typeface="Arial"/>
              </a:rPr>
              <a:t>Make the run game real</a:t>
            </a:r>
          </a:p>
        </p:txBody>
      </p:sp>
      <p:sp>
        <p:nvSpPr>
          <p:cNvPr id="14" name="Oval 13"/>
          <p:cNvSpPr/>
          <p:nvPr/>
        </p:nvSpPr>
        <p:spPr>
          <a:xfrm>
            <a:off x="914400" y="4133088"/>
            <a:ext cx="137160" cy="137160"/>
          </a:xfrm>
          <a:prstGeom prst="ellipse">
            <a:avLst/>
          </a:prstGeom>
          <a:solidFill>
            <a:srgbClr val="F4732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325880" y="3950208"/>
            <a:ext cx="9601200" cy="7315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2400" b="1" i="0">
                <a:solidFill>
                  <a:srgbClr val="16273D"/>
                </a:solidFill>
                <a:latin typeface="Arial"/>
              </a:rPr>
              <a:t>Sayin-to-Smith vs the back end</a:t>
            </a:r>
          </a:p>
        </p:txBody>
      </p:sp>
      <p:sp>
        <p:nvSpPr>
          <p:cNvPr id="16" name="Oval 15"/>
          <p:cNvSpPr/>
          <p:nvPr/>
        </p:nvSpPr>
        <p:spPr>
          <a:xfrm>
            <a:off x="914400" y="4974336"/>
            <a:ext cx="137160" cy="137160"/>
          </a:xfrm>
          <a:prstGeom prst="ellipse">
            <a:avLst/>
          </a:prstGeom>
          <a:solidFill>
            <a:srgbClr val="F4732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1325880" y="4791456"/>
            <a:ext cx="9601200" cy="7315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2400" b="1" i="0">
                <a:solidFill>
                  <a:srgbClr val="16273D"/>
                </a:solidFill>
                <a:latin typeface="Arial"/>
              </a:rPr>
              <a:t>Prove the eight-transfer defense</a:t>
            </a:r>
          </a:p>
        </p:txBody>
      </p:sp>
      <p:sp>
        <p:nvSpPr>
          <p:cNvPr id="18" name="Oval 17"/>
          <p:cNvSpPr/>
          <p:nvPr/>
        </p:nvSpPr>
        <p:spPr>
          <a:xfrm>
            <a:off x="914400" y="5815584"/>
            <a:ext cx="137160" cy="137160"/>
          </a:xfrm>
          <a:prstGeom prst="ellipse">
            <a:avLst/>
          </a:prstGeom>
          <a:solidFill>
            <a:srgbClr val="F4732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1325880" y="5632704"/>
            <a:ext cx="9601200" cy="7315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2400" b="1" i="0">
                <a:solidFill>
                  <a:srgbClr val="16273D"/>
                </a:solidFill>
                <a:latin typeface="Arial"/>
              </a:rPr>
              <a:t>Play with pace, cut the flags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22960" y="6519672"/>
            <a:ext cx="105156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900" b="0" i="0">
                <a:solidFill>
                  <a:srgbClr val="5C6B7E"/>
                </a:solidFill>
                <a:latin typeface="Arial"/>
              </a:rPr>
              <a:t>EP 3 · WEEK 2 · Ohio State at Texas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texa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22960" y="502920"/>
            <a:ext cx="1051560" cy="105156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2148840" y="603504"/>
            <a:ext cx="9052560" cy="56692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3200" b="1" i="0">
                <a:solidFill>
                  <a:srgbClr val="0A2851"/>
                </a:solidFill>
                <a:latin typeface="Arial"/>
              </a:rPr>
              <a:t>Texas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148840" y="1225296"/>
            <a:ext cx="905256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300" b="0" i="1">
                <a:solidFill>
                  <a:srgbClr val="5C6B7E"/>
                </a:solidFill>
                <a:latin typeface="Arial"/>
              </a:rPr>
              <a:t>What it takes to win · Ohio State at Texas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822960" y="1783080"/>
            <a:ext cx="10515600" cy="960120"/>
          </a:xfrm>
          <a:prstGeom prst="roundRect">
            <a:avLst/>
          </a:prstGeom>
          <a:solidFill>
            <a:srgbClr val="EAF0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51560" y="1901952"/>
            <a:ext cx="324612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950" b="1" i="0">
                <a:solidFill>
                  <a:srgbClr val="F47321"/>
                </a:solidFill>
                <a:latin typeface="Arial"/>
              </a:rPr>
              <a:t>COACH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51560" y="2139696"/>
            <a:ext cx="3246120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50" b="0" i="0">
                <a:solidFill>
                  <a:srgbClr val="16273D"/>
                </a:solidFill>
                <a:latin typeface="Arial"/>
              </a:rPr>
              <a:t>Sarkisian, year 6 — NEW DC Will Muschamp (the league's riskiest coordinator swap)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0" y="1901952"/>
            <a:ext cx="324612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950" b="1" i="0">
                <a:solidFill>
                  <a:srgbClr val="F47321"/>
                </a:solidFill>
                <a:latin typeface="Arial"/>
              </a:rPr>
              <a:t>QB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0" y="2139696"/>
            <a:ext cx="3246120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50" b="0" i="0">
                <a:solidFill>
                  <a:srgbClr val="16273D"/>
                </a:solidFill>
                <a:latin typeface="Arial"/>
              </a:rPr>
              <a:t>RETURNS — Arch Manning, year two as the starter; final season, Heisman favorite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092440" y="1901952"/>
            <a:ext cx="324612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950" b="1" i="0">
                <a:solidFill>
                  <a:srgbClr val="F47321"/>
                </a:solidFill>
                <a:latin typeface="Arial"/>
              </a:rPr>
              <a:t>ROSTER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092440" y="2139696"/>
            <a:ext cx="3246120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50" b="0" i="0">
                <a:solidFill>
                  <a:srgbClr val="16273D"/>
                </a:solidFill>
                <a:latin typeface="Arial"/>
              </a:rPr>
              <a:t>72% back · 22 portal adds — the headline portal class (Coleman, Smothers, Biles, Siani)</a:t>
            </a:r>
          </a:p>
        </p:txBody>
      </p:sp>
      <p:sp>
        <p:nvSpPr>
          <p:cNvPr id="12" name="Oval 11"/>
          <p:cNvSpPr/>
          <p:nvPr/>
        </p:nvSpPr>
        <p:spPr>
          <a:xfrm>
            <a:off x="914400" y="3291840"/>
            <a:ext cx="137160" cy="137160"/>
          </a:xfrm>
          <a:prstGeom prst="ellipse">
            <a:avLst/>
          </a:prstGeom>
          <a:solidFill>
            <a:srgbClr val="F4732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325880" y="3108960"/>
            <a:ext cx="9601200" cy="7315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2400" b="1" i="0">
                <a:solidFill>
                  <a:srgbClr val="16273D"/>
                </a:solidFill>
                <a:latin typeface="Arial"/>
              </a:rPr>
              <a:t>Arch on the move</a:t>
            </a:r>
          </a:p>
        </p:txBody>
      </p:sp>
      <p:sp>
        <p:nvSpPr>
          <p:cNvPr id="14" name="Oval 13"/>
          <p:cNvSpPr/>
          <p:nvPr/>
        </p:nvSpPr>
        <p:spPr>
          <a:xfrm>
            <a:off x="914400" y="4133088"/>
            <a:ext cx="137160" cy="137160"/>
          </a:xfrm>
          <a:prstGeom prst="ellipse">
            <a:avLst/>
          </a:prstGeom>
          <a:solidFill>
            <a:srgbClr val="F4732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325880" y="3950208"/>
            <a:ext cx="9601200" cy="7315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2400" b="1" i="0">
                <a:solidFill>
                  <a:srgbClr val="16273D"/>
                </a:solidFill>
                <a:latin typeface="Arial"/>
              </a:rPr>
              <a:t>Protect the interior</a:t>
            </a:r>
          </a:p>
        </p:txBody>
      </p:sp>
      <p:sp>
        <p:nvSpPr>
          <p:cNvPr id="16" name="Oval 15"/>
          <p:cNvSpPr/>
          <p:nvPr/>
        </p:nvSpPr>
        <p:spPr>
          <a:xfrm>
            <a:off x="914400" y="4974336"/>
            <a:ext cx="137160" cy="137160"/>
          </a:xfrm>
          <a:prstGeom prst="ellipse">
            <a:avLst/>
          </a:prstGeom>
          <a:solidFill>
            <a:srgbClr val="F4732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1325880" y="4791456"/>
            <a:ext cx="9601200" cy="7315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2400" b="1" i="0">
                <a:solidFill>
                  <a:srgbClr val="16273D"/>
                </a:solidFill>
                <a:latin typeface="Arial"/>
              </a:rPr>
              <a:t>Explosives over efficiency</a:t>
            </a:r>
          </a:p>
        </p:txBody>
      </p:sp>
      <p:sp>
        <p:nvSpPr>
          <p:cNvPr id="18" name="Oval 17"/>
          <p:cNvSpPr/>
          <p:nvPr/>
        </p:nvSpPr>
        <p:spPr>
          <a:xfrm>
            <a:off x="914400" y="5815584"/>
            <a:ext cx="137160" cy="137160"/>
          </a:xfrm>
          <a:prstGeom prst="ellipse">
            <a:avLst/>
          </a:prstGeom>
          <a:solidFill>
            <a:srgbClr val="F4732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1325880" y="5632704"/>
            <a:ext cx="9601200" cy="7315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2400" b="1" i="0">
                <a:solidFill>
                  <a:srgbClr val="16273D"/>
                </a:solidFill>
                <a:latin typeface="Arial"/>
              </a:rPr>
              <a:t>Muschamp's first real test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22960" y="6519672"/>
            <a:ext cx="105156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900" b="0" i="0">
                <a:solidFill>
                  <a:srgbClr val="5C6B7E"/>
                </a:solidFill>
                <a:latin typeface="Arial"/>
              </a:rPr>
              <a:t>EP 3 · WEEK 2 · Ohio State at Texas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2851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822960" y="502920"/>
            <a:ext cx="10515600" cy="4114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400" b="1" i="0">
                <a:solidFill>
                  <a:srgbClr val="F47321"/>
                </a:solidFill>
                <a:latin typeface="Arial"/>
              </a:rPr>
              <a:t>EPISODE 3 · THE CARD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868680"/>
            <a:ext cx="10515600" cy="7315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3600" b="1" i="0">
                <a:solidFill>
                  <a:srgbClr val="FFFFFF"/>
                </a:solidFill>
                <a:latin typeface="Arial"/>
              </a:rPr>
              <a:t>Our predictions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822960" y="1783080"/>
            <a:ext cx="10515600" cy="658368"/>
          </a:xfrm>
          <a:prstGeom prst="roundRect">
            <a:avLst/>
          </a:prstGeom>
          <a:solidFill>
            <a:srgbClr val="12356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1005840" y="1874519"/>
            <a:ext cx="475488" cy="475488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6" name="Picture 5" descr="oklahoma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53388" y="1922068"/>
            <a:ext cx="380390" cy="380390"/>
          </a:xfrm>
          <a:prstGeom prst="rect">
            <a:avLst/>
          </a:prstGeom>
        </p:spPr>
      </p:pic>
      <p:sp>
        <p:nvSpPr>
          <p:cNvPr id="7" name="Oval 6"/>
          <p:cNvSpPr/>
          <p:nvPr/>
        </p:nvSpPr>
        <p:spPr>
          <a:xfrm>
            <a:off x="1600200" y="1874519"/>
            <a:ext cx="475488" cy="475488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8" name="Picture 7" descr="michigan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647748" y="1922068"/>
            <a:ext cx="380390" cy="380390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2286000" y="1956816"/>
            <a:ext cx="493776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400" b="1" i="0">
                <a:solidFill>
                  <a:srgbClr val="FFFFFF"/>
                </a:solidFill>
                <a:latin typeface="Arial"/>
              </a:rPr>
              <a:t>Oklahoma at Michigan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00800" y="1865376"/>
            <a:ext cx="4754880" cy="38404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1550" b="1" i="0">
                <a:solidFill>
                  <a:srgbClr val="F47321"/>
                </a:solidFill>
                <a:latin typeface="Arial"/>
              </a:rPr>
              <a:t>Oklahoma 23 – Michigan 21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00800" y="2212848"/>
            <a:ext cx="475488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850" b="0" i="0">
                <a:solidFill>
                  <a:srgbClr val="8FA5C4"/>
                </a:solidFill>
                <a:latin typeface="Arial"/>
              </a:rPr>
              <a:t>market +5.5 / +5.5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822960" y="2514600"/>
            <a:ext cx="10515600" cy="658368"/>
          </a:xfrm>
          <a:prstGeom prst="roundRect">
            <a:avLst/>
          </a:prstGeom>
          <a:solidFill>
            <a:srgbClr val="12356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1005840" y="2606040"/>
            <a:ext cx="475488" cy="475488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4" name="Picture 13" descr="arizonastat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53388" y="2653588"/>
            <a:ext cx="380390" cy="380390"/>
          </a:xfrm>
          <a:prstGeom prst="rect">
            <a:avLst/>
          </a:prstGeom>
        </p:spPr>
      </p:pic>
      <p:sp>
        <p:nvSpPr>
          <p:cNvPr id="15" name="Oval 14"/>
          <p:cNvSpPr/>
          <p:nvPr/>
        </p:nvSpPr>
        <p:spPr>
          <a:xfrm>
            <a:off x="1600200" y="2606040"/>
            <a:ext cx="475488" cy="475488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6" name="Picture 15" descr="texasam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647748" y="2653588"/>
            <a:ext cx="380390" cy="380390"/>
          </a:xfrm>
          <a:prstGeom prst="rect">
            <a:avLst/>
          </a:prstGeom>
        </p:spPr>
      </p:pic>
      <p:sp>
        <p:nvSpPr>
          <p:cNvPr id="17" name="TextBox 16"/>
          <p:cNvSpPr txBox="1"/>
          <p:nvPr/>
        </p:nvSpPr>
        <p:spPr>
          <a:xfrm>
            <a:off x="2286000" y="2688336"/>
            <a:ext cx="493776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400" b="1" i="0">
                <a:solidFill>
                  <a:srgbClr val="FFFFFF"/>
                </a:solidFill>
                <a:latin typeface="Arial"/>
              </a:rPr>
              <a:t>Arizona State at Texas A&amp;M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400800" y="2596896"/>
            <a:ext cx="4754880" cy="38404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1550" b="1" i="0">
                <a:solidFill>
                  <a:srgbClr val="F47321"/>
                </a:solidFill>
                <a:latin typeface="Arial"/>
              </a:rPr>
              <a:t>Texas A&amp;M 34 – Arizona State 17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400800" y="2944368"/>
            <a:ext cx="475488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850" b="0" i="0">
                <a:solidFill>
                  <a:srgbClr val="8FA5C4"/>
                </a:solidFill>
                <a:latin typeface="Arial"/>
              </a:rPr>
              <a:t>market –14.5 / –14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822960" y="3246120"/>
            <a:ext cx="10515600" cy="658368"/>
          </a:xfrm>
          <a:prstGeom prst="roundRect">
            <a:avLst/>
          </a:prstGeom>
          <a:solidFill>
            <a:srgbClr val="12356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1005840" y="3337560"/>
            <a:ext cx="475488" cy="475488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2" name="Picture 21" descr="arizona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053388" y="3385108"/>
            <a:ext cx="380390" cy="380390"/>
          </a:xfrm>
          <a:prstGeom prst="rect">
            <a:avLst/>
          </a:prstGeom>
        </p:spPr>
      </p:pic>
      <p:sp>
        <p:nvSpPr>
          <p:cNvPr id="23" name="Oval 22"/>
          <p:cNvSpPr/>
          <p:nvPr/>
        </p:nvSpPr>
        <p:spPr>
          <a:xfrm>
            <a:off x="1600200" y="3337560"/>
            <a:ext cx="475488" cy="475488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4" name="Picture 23" descr="byu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647748" y="3385108"/>
            <a:ext cx="380390" cy="380390"/>
          </a:xfrm>
          <a:prstGeom prst="rect">
            <a:avLst/>
          </a:prstGeom>
        </p:spPr>
      </p:pic>
      <p:sp>
        <p:nvSpPr>
          <p:cNvPr id="25" name="TextBox 24"/>
          <p:cNvSpPr txBox="1"/>
          <p:nvPr/>
        </p:nvSpPr>
        <p:spPr>
          <a:xfrm>
            <a:off x="2286000" y="3419856"/>
            <a:ext cx="493776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400" b="1" i="0">
                <a:solidFill>
                  <a:srgbClr val="FFFFFF"/>
                </a:solidFill>
                <a:latin typeface="Arial"/>
              </a:rPr>
              <a:t>Arizona at BYU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400800" y="3328415"/>
            <a:ext cx="4754880" cy="38404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1550" b="1" i="0">
                <a:solidFill>
                  <a:srgbClr val="F47321"/>
                </a:solidFill>
                <a:latin typeface="Arial"/>
              </a:rPr>
              <a:t>BYU 28 – Arizona 20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400800" y="3675887"/>
            <a:ext cx="475488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850" b="0" i="0">
                <a:solidFill>
                  <a:srgbClr val="8FA5C4"/>
                </a:solidFill>
                <a:latin typeface="Arial"/>
              </a:rPr>
              <a:t>market –7.5 / –7.5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822960" y="3977639"/>
            <a:ext cx="10515600" cy="658368"/>
          </a:xfrm>
          <a:prstGeom prst="roundRect">
            <a:avLst/>
          </a:prstGeom>
          <a:solidFill>
            <a:srgbClr val="12356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Oval 28"/>
          <p:cNvSpPr/>
          <p:nvPr/>
        </p:nvSpPr>
        <p:spPr>
          <a:xfrm>
            <a:off x="1005840" y="4069079"/>
            <a:ext cx="475488" cy="475488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0" name="Picture 29" descr="alabama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1053388" y="4116628"/>
            <a:ext cx="380390" cy="380390"/>
          </a:xfrm>
          <a:prstGeom prst="rect">
            <a:avLst/>
          </a:prstGeom>
        </p:spPr>
      </p:pic>
      <p:sp>
        <p:nvSpPr>
          <p:cNvPr id="31" name="Oval 30"/>
          <p:cNvSpPr/>
          <p:nvPr/>
        </p:nvSpPr>
        <p:spPr>
          <a:xfrm>
            <a:off x="1600200" y="4069079"/>
            <a:ext cx="475488" cy="475488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2" name="Picture 31" descr="kentucky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1647748" y="4116628"/>
            <a:ext cx="380390" cy="380390"/>
          </a:xfrm>
          <a:prstGeom prst="rect">
            <a:avLst/>
          </a:prstGeom>
        </p:spPr>
      </p:pic>
      <p:sp>
        <p:nvSpPr>
          <p:cNvPr id="33" name="TextBox 32"/>
          <p:cNvSpPr txBox="1"/>
          <p:nvPr/>
        </p:nvSpPr>
        <p:spPr>
          <a:xfrm>
            <a:off x="2286000" y="4151376"/>
            <a:ext cx="493776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400" b="1" i="0">
                <a:solidFill>
                  <a:srgbClr val="FFFFFF"/>
                </a:solidFill>
                <a:latin typeface="Arial"/>
              </a:rPr>
              <a:t>Alabama at Kentucky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6400800" y="4059935"/>
            <a:ext cx="4754880" cy="38404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1550" b="1" i="0">
                <a:solidFill>
                  <a:srgbClr val="F47321"/>
                </a:solidFill>
                <a:latin typeface="Arial"/>
              </a:rPr>
              <a:t>Alabama 31 – Kentucky 18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6400800" y="4407407"/>
            <a:ext cx="475488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850" b="0" i="0">
                <a:solidFill>
                  <a:srgbClr val="8FA5C4"/>
                </a:solidFill>
                <a:latin typeface="Arial"/>
              </a:rPr>
              <a:t>market +10.5 / +10.5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822960" y="4709159"/>
            <a:ext cx="10515600" cy="658368"/>
          </a:xfrm>
          <a:prstGeom prst="roundRect">
            <a:avLst/>
          </a:prstGeom>
          <a:solidFill>
            <a:srgbClr val="12356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Oval 36"/>
          <p:cNvSpPr/>
          <p:nvPr/>
        </p:nvSpPr>
        <p:spPr>
          <a:xfrm>
            <a:off x="1005840" y="4800599"/>
            <a:ext cx="475488" cy="475488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8" name="Picture 37" descr="ohiostate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1053388" y="4848148"/>
            <a:ext cx="380390" cy="380390"/>
          </a:xfrm>
          <a:prstGeom prst="rect">
            <a:avLst/>
          </a:prstGeom>
        </p:spPr>
      </p:pic>
      <p:sp>
        <p:nvSpPr>
          <p:cNvPr id="39" name="Oval 38"/>
          <p:cNvSpPr/>
          <p:nvPr/>
        </p:nvSpPr>
        <p:spPr>
          <a:xfrm>
            <a:off x="1600200" y="4800599"/>
            <a:ext cx="475488" cy="475488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0" name="Picture 39" descr="texas.png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1647748" y="4848148"/>
            <a:ext cx="380390" cy="380390"/>
          </a:xfrm>
          <a:prstGeom prst="rect">
            <a:avLst/>
          </a:prstGeom>
        </p:spPr>
      </p:pic>
      <p:sp>
        <p:nvSpPr>
          <p:cNvPr id="41" name="TextBox 40"/>
          <p:cNvSpPr txBox="1"/>
          <p:nvPr/>
        </p:nvSpPr>
        <p:spPr>
          <a:xfrm>
            <a:off x="2286000" y="4882896"/>
            <a:ext cx="493776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400" b="1" i="0">
                <a:solidFill>
                  <a:srgbClr val="FFFFFF"/>
                </a:solidFill>
                <a:latin typeface="Arial"/>
              </a:rPr>
              <a:t>Ohio State at Texas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6400800" y="4791455"/>
            <a:ext cx="4754880" cy="38404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1550" b="1" i="0">
                <a:solidFill>
                  <a:srgbClr val="F47321"/>
                </a:solidFill>
                <a:latin typeface="Arial"/>
              </a:rPr>
              <a:t>Texas 27 – Ohio State 23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6400800" y="5138927"/>
            <a:ext cx="475488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850" b="0" i="0">
                <a:solidFill>
                  <a:srgbClr val="8FA5C4"/>
                </a:solidFill>
                <a:latin typeface="Arial"/>
              </a:rPr>
              <a:t>market –1.5 / –2</a:t>
            </a:r>
          </a:p>
        </p:txBody>
      </p:sp>
      <p:sp>
        <p:nvSpPr>
          <p:cNvPr id="44" name="Rounded Rectangle 43"/>
          <p:cNvSpPr/>
          <p:nvPr/>
        </p:nvSpPr>
        <p:spPr>
          <a:xfrm>
            <a:off x="822960" y="5513831"/>
            <a:ext cx="10515600" cy="932688"/>
          </a:xfrm>
          <a:prstGeom prst="roundRect">
            <a:avLst/>
          </a:prstGeom>
          <a:solidFill>
            <a:srgbClr val="F4732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1097280" y="5596127"/>
            <a:ext cx="274320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300" b="1" i="0">
                <a:solidFill>
                  <a:srgbClr val="0A2851"/>
                </a:solidFill>
                <a:latin typeface="Arial"/>
              </a:rPr>
              <a:t>★ SUPERDOG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3291840" y="5596127"/>
            <a:ext cx="786384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350" b="1" i="0">
                <a:solidFill>
                  <a:srgbClr val="FFFFFF"/>
                </a:solidFill>
                <a:latin typeface="Arial"/>
              </a:rPr>
              <a:t>Buffalo +10.5 at Florida International · ML +340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1097280" y="5998464"/>
            <a:ext cx="274320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300" b="1" i="0">
                <a:solidFill>
                  <a:srgbClr val="0A2851"/>
                </a:solidFill>
                <a:latin typeface="Arial"/>
              </a:rPr>
              <a:t>★ GIANT KILLER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3291840" y="5998464"/>
            <a:ext cx="786384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350" b="1" i="0">
                <a:solidFill>
                  <a:srgbClr val="FFFFFF"/>
                </a:solidFill>
                <a:latin typeface="Arial"/>
              </a:rPr>
              <a:t>Arkansas +12.5 at #20 Utah · ML +390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822960" y="6565392"/>
            <a:ext cx="105156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900" b="0" i="1">
                <a:solidFill>
                  <a:srgbClr val="8FA5C4"/>
                </a:solidFill>
                <a:latin typeface="Arial"/>
              </a:rPr>
              <a:t>projected scores = machine margin on the market total · superdogs = dog to win outright, points = the spread · graded vs first-seen lines · research, not picks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