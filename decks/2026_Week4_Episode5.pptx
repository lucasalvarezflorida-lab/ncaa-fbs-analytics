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20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3.png"/><Relationship Id="rId8" Type="http://schemas.openxmlformats.org/officeDocument/2006/relationships/image" Target="../media/image13.png"/><Relationship Id="rId9" Type="http://schemas.openxmlformats.org/officeDocument/2006/relationships/image" Target="../media/image19.png"/><Relationship Id="rId10" Type="http://schemas.openxmlformats.org/officeDocument/2006/relationships/image" Target="../media/image9.png"/><Relationship Id="rId11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17.png"/><Relationship Id="rId4" Type="http://schemas.openxmlformats.org/officeDocument/2006/relationships/image" Target="../media/image36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11.png"/><Relationship Id="rId9" Type="http://schemas.openxmlformats.org/officeDocument/2006/relationships/image" Target="../media/image24.png"/><Relationship Id="rId10" Type="http://schemas.openxmlformats.org/officeDocument/2006/relationships/image" Target="../media/image8.png"/><Relationship Id="rId11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3.png"/><Relationship Id="rId8" Type="http://schemas.openxmlformats.org/officeDocument/2006/relationships/image" Target="../media/image13.png"/><Relationship Id="rId9" Type="http://schemas.openxmlformats.org/officeDocument/2006/relationships/image" Target="../media/image19.png"/><Relationship Id="rId10" Type="http://schemas.openxmlformats.org/officeDocument/2006/relationships/image" Target="../media/image9.png"/><Relationship Id="rId1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5 · WEEK 4 · THE MACHINE'S TOP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Our Top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Arial"/>
              </a:rPr>
              <a:t>Machine rating · Δ vs preseason · AP week 4 poll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59105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59105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Δ PRE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59105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VOTERS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159105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59105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Δ PRE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159105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VOTERS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810512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4251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4708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hio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1874519"/>
            <a:ext cx="201168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37360" y="18425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Ohio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84251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29.1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85623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856231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1717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217627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ex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2203703"/>
            <a:ext cx="201168" cy="201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37360" y="21717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Texas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1717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28.6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18541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185415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2468880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250088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1371600" y="250545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eorg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032" y="2532888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737360" y="25008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Georgia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25008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27.8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25146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+3.0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25146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283006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4</a:t>
            </a:r>
          </a:p>
        </p:txBody>
      </p:sp>
      <p:sp>
        <p:nvSpPr>
          <p:cNvPr id="35" name="Oval 34"/>
          <p:cNvSpPr/>
          <p:nvPr/>
        </p:nvSpPr>
        <p:spPr>
          <a:xfrm>
            <a:off x="1371600" y="283464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notred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032" y="2862072"/>
            <a:ext cx="201168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37360" y="28300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Notre Dame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28300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27.7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28437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284378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3127248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315925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1371600" y="31638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alaba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9032" y="3191256"/>
            <a:ext cx="201168" cy="20116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737360" y="31592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Alabama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1592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24.9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31729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+4.8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317296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34884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1371600" y="349300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ndia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9032" y="3520439"/>
            <a:ext cx="201168" cy="20116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737360" y="34884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Indiana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34884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24.2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80" y="350215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3502151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3785616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" y="38176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7</a:t>
            </a:r>
          </a:p>
        </p:txBody>
      </p:sp>
      <p:sp>
        <p:nvSpPr>
          <p:cNvPr id="58" name="Oval 57"/>
          <p:cNvSpPr/>
          <p:nvPr/>
        </p:nvSpPr>
        <p:spPr>
          <a:xfrm>
            <a:off x="1371600" y="382219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miam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9032" y="3849624"/>
            <a:ext cx="201168" cy="20116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737360" y="38176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Miami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38176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23.7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26280" y="38313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2080" y="3831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" y="41468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8</a:t>
            </a:r>
          </a:p>
        </p:txBody>
      </p:sp>
      <p:sp>
        <p:nvSpPr>
          <p:cNvPr id="65" name="Oval 64"/>
          <p:cNvSpPr/>
          <p:nvPr/>
        </p:nvSpPr>
        <p:spPr>
          <a:xfrm>
            <a:off x="1371600" y="415137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ls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9032" y="4178808"/>
            <a:ext cx="201168" cy="20116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737360" y="41468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LSU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0480" y="41468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22.4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26280" y="4160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+2.4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12080" y="4160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" y="4443983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8" y="44759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9</a:t>
            </a:r>
          </a:p>
        </p:txBody>
      </p:sp>
      <p:sp>
        <p:nvSpPr>
          <p:cNvPr id="73" name="Oval 72"/>
          <p:cNvSpPr/>
          <p:nvPr/>
        </p:nvSpPr>
        <p:spPr>
          <a:xfrm>
            <a:off x="1371600" y="448055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texasa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9032" y="4507992"/>
            <a:ext cx="201168" cy="20116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737360" y="44759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Texas A&amp;M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0480" y="44759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19.3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26280" y="4489703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-0.7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12080" y="4489703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" y="480517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10</a:t>
            </a:r>
          </a:p>
        </p:txBody>
      </p:sp>
      <p:sp>
        <p:nvSpPr>
          <p:cNvPr id="80" name="Oval 79"/>
          <p:cNvSpPr/>
          <p:nvPr/>
        </p:nvSpPr>
        <p:spPr>
          <a:xfrm>
            <a:off x="1371600" y="480974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pennsta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9032" y="4837176"/>
            <a:ext cx="201168" cy="20116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737360" y="48051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Penn State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40480" y="48051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18.5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26280" y="48188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+4.8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12080" y="48188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" y="5102352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1248" y="51343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11</a:t>
            </a:r>
          </a:p>
        </p:txBody>
      </p:sp>
      <p:sp>
        <p:nvSpPr>
          <p:cNvPr id="88" name="Oval 87"/>
          <p:cNvSpPr/>
          <p:nvPr/>
        </p:nvSpPr>
        <p:spPr>
          <a:xfrm>
            <a:off x="1371600" y="513892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florid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9032" y="5166360"/>
            <a:ext cx="201168" cy="2011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737360" y="51343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Florida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40480" y="513435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18.5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26280" y="51480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+4.9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12080" y="514807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1248" y="54635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12</a:t>
            </a:r>
          </a:p>
        </p:txBody>
      </p:sp>
      <p:sp>
        <p:nvSpPr>
          <p:cNvPr id="95" name="Oval 94"/>
          <p:cNvSpPr/>
          <p:nvPr/>
        </p:nvSpPr>
        <p:spPr>
          <a:xfrm>
            <a:off x="1371600" y="546811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olemis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9032" y="5495544"/>
            <a:ext cx="201168" cy="2011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737360" y="54635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Ole Miss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40480" y="54635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17.9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26280" y="547725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12080" y="5477255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2960" y="5760720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1248" y="57927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13</a:t>
            </a:r>
          </a:p>
        </p:txBody>
      </p:sp>
      <p:sp>
        <p:nvSpPr>
          <p:cNvPr id="103" name="Oval 102"/>
          <p:cNvSpPr/>
          <p:nvPr/>
        </p:nvSpPr>
        <p:spPr>
          <a:xfrm>
            <a:off x="1371600" y="579729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oreg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99032" y="5824728"/>
            <a:ext cx="201168" cy="2011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737360" y="57927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Oregon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40480" y="579272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17.3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26280" y="58064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-8.0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12080" y="58064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355080" y="1810512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73368" y="184251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14</a:t>
            </a:r>
          </a:p>
        </p:txBody>
      </p:sp>
      <p:sp>
        <p:nvSpPr>
          <p:cNvPr id="111" name="Oval 110"/>
          <p:cNvSpPr/>
          <p:nvPr/>
        </p:nvSpPr>
        <p:spPr>
          <a:xfrm>
            <a:off x="6903720" y="184708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tennesse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1152" y="1874519"/>
            <a:ext cx="201168" cy="20116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269480" y="18425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Tennessee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72600" y="184251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17.3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58400" y="185623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+2.2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44200" y="1856231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73368" y="21717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15</a:t>
            </a:r>
          </a:p>
        </p:txBody>
      </p:sp>
      <p:sp>
        <p:nvSpPr>
          <p:cNvPr id="118" name="Oval 117"/>
          <p:cNvSpPr/>
          <p:nvPr/>
        </p:nvSpPr>
        <p:spPr>
          <a:xfrm>
            <a:off x="6903720" y="217627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oklahoma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1152" y="2203703"/>
            <a:ext cx="201168" cy="20116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7269480" y="21717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Oklahoma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372600" y="21717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16.5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0" y="218541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-1.3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744200" y="2185415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355080" y="2468880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373368" y="250088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16</a:t>
            </a:r>
          </a:p>
        </p:txBody>
      </p:sp>
      <p:sp>
        <p:nvSpPr>
          <p:cNvPr id="126" name="Oval 125"/>
          <p:cNvSpPr/>
          <p:nvPr/>
        </p:nvSpPr>
        <p:spPr>
          <a:xfrm>
            <a:off x="6903720" y="250545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utah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1152" y="2532888"/>
            <a:ext cx="201168" cy="20116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7269480" y="25008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Utah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372600" y="25008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16.0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058400" y="25146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+7.5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744200" y="25146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373368" y="283006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17</a:t>
            </a:r>
          </a:p>
        </p:txBody>
      </p:sp>
      <p:sp>
        <p:nvSpPr>
          <p:cNvPr id="133" name="Oval 132"/>
          <p:cNvSpPr/>
          <p:nvPr/>
        </p:nvSpPr>
        <p:spPr>
          <a:xfrm>
            <a:off x="6903720" y="283464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texastech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31152" y="2862072"/>
            <a:ext cx="201168" cy="201168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7269480" y="28300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Texas Tech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372600" y="28300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15.3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058400" y="28437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-4.7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744200" y="284378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55080" y="3127248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73368" y="315925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18</a:t>
            </a:r>
          </a:p>
        </p:txBody>
      </p:sp>
      <p:sp>
        <p:nvSpPr>
          <p:cNvPr id="141" name="Oval 140"/>
          <p:cNvSpPr/>
          <p:nvPr/>
        </p:nvSpPr>
        <p:spPr>
          <a:xfrm>
            <a:off x="6903720" y="31638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mississippistat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31152" y="3191256"/>
            <a:ext cx="201168" cy="20116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7269480" y="31592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Mississippi State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372600" y="31592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14.8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058400" y="31729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+10.7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744200" y="317296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373368" y="34884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19</a:t>
            </a:r>
          </a:p>
        </p:txBody>
      </p:sp>
      <p:sp>
        <p:nvSpPr>
          <p:cNvPr id="148" name="Oval 147"/>
          <p:cNvSpPr/>
          <p:nvPr/>
        </p:nvSpPr>
        <p:spPr>
          <a:xfrm>
            <a:off x="6903720" y="349300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us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31152" y="3520439"/>
            <a:ext cx="201168" cy="201168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269480" y="34884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USC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372600" y="34884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14.5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058400" y="350215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-2.5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744200" y="3502151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12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355080" y="3785616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373368" y="38176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20</a:t>
            </a:r>
          </a:p>
        </p:txBody>
      </p:sp>
      <p:sp>
        <p:nvSpPr>
          <p:cNvPr id="156" name="Oval 155"/>
          <p:cNvSpPr/>
          <p:nvPr/>
        </p:nvSpPr>
        <p:spPr>
          <a:xfrm>
            <a:off x="6903720" y="382219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southcarolina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31152" y="3849624"/>
            <a:ext cx="201168" cy="201168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7269480" y="38176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South Carolina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372600" y="38176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14.2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058400" y="38313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+2.5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744200" y="3831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373368" y="41468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21</a:t>
            </a:r>
          </a:p>
        </p:txBody>
      </p:sp>
      <p:sp>
        <p:nvSpPr>
          <p:cNvPr id="163" name="Oval 162"/>
          <p:cNvSpPr/>
          <p:nvPr/>
        </p:nvSpPr>
        <p:spPr>
          <a:xfrm>
            <a:off x="6903720" y="415137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nebraska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31152" y="4178808"/>
            <a:ext cx="201168" cy="201168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7269480" y="41468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Nebraska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72600" y="41468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13.3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058400" y="4160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+4.5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744200" y="4160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355080" y="4443983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373368" y="44759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22</a:t>
            </a:r>
          </a:p>
        </p:txBody>
      </p:sp>
      <p:sp>
        <p:nvSpPr>
          <p:cNvPr id="171" name="Oval 170"/>
          <p:cNvSpPr/>
          <p:nvPr/>
        </p:nvSpPr>
        <p:spPr>
          <a:xfrm>
            <a:off x="6903720" y="448055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michigan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31152" y="4507992"/>
            <a:ext cx="201168" cy="201168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7269480" y="44759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Michigan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372600" y="44759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13.2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058400" y="4489703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-2.7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489703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373368" y="480517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23</a:t>
            </a:r>
          </a:p>
        </p:txBody>
      </p:sp>
      <p:sp>
        <p:nvSpPr>
          <p:cNvPr id="178" name="Oval 177"/>
          <p:cNvSpPr/>
          <p:nvPr/>
        </p:nvSpPr>
        <p:spPr>
          <a:xfrm>
            <a:off x="6903720" y="480974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9" name="Picture 178" descr="byu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31152" y="4837176"/>
            <a:ext cx="201168" cy="201168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7269480" y="48051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BYU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372600" y="48051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13.2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058400" y="48188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+0.1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8188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9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355080" y="5102352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73368" y="51343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24</a:t>
            </a:r>
          </a:p>
        </p:txBody>
      </p:sp>
      <p:sp>
        <p:nvSpPr>
          <p:cNvPr id="186" name="Oval 185"/>
          <p:cNvSpPr/>
          <p:nvPr/>
        </p:nvSpPr>
        <p:spPr>
          <a:xfrm>
            <a:off x="6903720" y="513892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" name="Picture 186" descr="auburn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31152" y="5166360"/>
            <a:ext cx="201168" cy="201168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7269480" y="51343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Auburn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372600" y="513435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12.4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058400" y="51480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+0.4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744200" y="514807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373368" y="54635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25</a:t>
            </a:r>
          </a:p>
        </p:txBody>
      </p:sp>
      <p:sp>
        <p:nvSpPr>
          <p:cNvPr id="193" name="Oval 192"/>
          <p:cNvSpPr/>
          <p:nvPr/>
        </p:nvSpPr>
        <p:spPr>
          <a:xfrm>
            <a:off x="6903720" y="546811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4" name="Picture 193" descr="louisvill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31152" y="5495544"/>
            <a:ext cx="201168" cy="201168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7269480" y="54635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Louisville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372600" y="54635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12.2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058400" y="547725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+2.7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744200" y="5477255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16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822960" y="6163056"/>
            <a:ext cx="10561320" cy="56692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005840" y="6208776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Biggest splits: Texas A&amp;M #9 vs AP #23 · BYU #23 vs AP #9 · Florida #11 vs AP #21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05840" y="6455664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Arial"/>
              </a:rPr>
              <a:t>Ours, not theirs: Oklahoma, South Carolina, Nebraska, Auburn   ·   Theirs, not ours: Iowa, Missouri, SMU, Houston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5 · WEEK 4 · THE SEAT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Hot Seat Top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Arial"/>
              </a:rPr>
              <a:t>60% CBS rating + 40% machine odds of missing the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67335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COACH ·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67335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TENURE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6733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CBS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733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733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P(GETS 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6733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MACHINE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6733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6733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67335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LAST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90195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5681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19476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lorida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44" y="1979676"/>
            <a:ext cx="210312" cy="210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195681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Mike Norvell · Florida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984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38-34, yr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9659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9659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8 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965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22%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9659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6.3 (4–8)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9842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9568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19842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36-50 at Alabama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1234440" y="231343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maryl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2345436"/>
            <a:ext cx="210312" cy="2103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00200" y="23225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Mike Locksley · Maryland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23500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37-49, yr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23317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4.9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3317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3317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3317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5.6 (4–8)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3500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CD68A"/>
                </a:solidFill>
                <a:latin typeface="Arial"/>
              </a:rPr>
              <a:t>+2.7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32257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3500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26-35 vs Virginia Tech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263347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26883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3</a:t>
            </a:r>
          </a:p>
        </p:txBody>
      </p:sp>
      <p:sp>
        <p:nvSpPr>
          <p:cNvPr id="41" name="Oval 40"/>
          <p:cNvSpPr/>
          <p:nvPr/>
        </p:nvSpPr>
        <p:spPr>
          <a:xfrm>
            <a:off x="1234440" y="2679191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clem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" y="2711196"/>
            <a:ext cx="210312" cy="2103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00200" y="26883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Dabo Swinney · Clemson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27157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186-53, yr 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2697479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2697479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9 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269747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2697479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6.6 (5–8)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27157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-6.3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268833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27157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28-20 vs North Carolina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30540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4</a:t>
            </a:r>
          </a:p>
        </p:txBody>
      </p:sp>
      <p:sp>
        <p:nvSpPr>
          <p:cNvPr id="53" name="Oval 52"/>
          <p:cNvSpPr/>
          <p:nvPr/>
        </p:nvSpPr>
        <p:spPr>
          <a:xfrm>
            <a:off x="1234440" y="304495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ay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444" y="3076956"/>
            <a:ext cx="210312" cy="21031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600200" y="30540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Dave Aranda · Baylor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0" y="3081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36-37, yr 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3560" y="3063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3063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7 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3063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63%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30632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7.0 (5–9)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081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CD68A"/>
                </a:solidFill>
                <a:latin typeface="Arial"/>
              </a:rPr>
              <a:t>+0.9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30540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30815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36-19 vs Louisiana Tech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" y="336499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34198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5</a:t>
            </a:r>
          </a:p>
        </p:txBody>
      </p:sp>
      <p:sp>
        <p:nvSpPr>
          <p:cNvPr id="66" name="Oval 65"/>
          <p:cNvSpPr/>
          <p:nvPr/>
        </p:nvSpPr>
        <p:spPr>
          <a:xfrm>
            <a:off x="1234440" y="341071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rutg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444" y="3442716"/>
            <a:ext cx="210312" cy="21031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600200" y="341985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Greg Schiano · Rutgers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06240" y="34472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31-41 2nd stint, yr 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23560" y="34290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3.0*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34290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0840" y="34290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7%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06640" y="34290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3.8 (2–5)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34472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-4.2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23960" y="341985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18320" y="34472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35-42 vs USC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" y="378561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6</a:t>
            </a:r>
          </a:p>
        </p:txBody>
      </p:sp>
      <p:sp>
        <p:nvSpPr>
          <p:cNvPr id="78" name="Oval 77"/>
          <p:cNvSpPr/>
          <p:nvPr/>
        </p:nvSpPr>
        <p:spPr>
          <a:xfrm>
            <a:off x="1234440" y="37764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bostoncolle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6444" y="3808476"/>
            <a:ext cx="210312" cy="21031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600200" y="378561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Bill O'Brien · Boston College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06240" y="38130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9-16, yr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23560" y="3794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72200" y="3794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5 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20840" y="37947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28%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06640" y="37947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3.8 (2–5)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21040" y="3813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-1.5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23960" y="3785615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18320" y="38130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22-16 vs Maine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2960" y="409651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" y="41513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7</a:t>
            </a:r>
          </a:p>
        </p:txBody>
      </p:sp>
      <p:sp>
        <p:nvSpPr>
          <p:cNvPr id="91" name="Oval 90"/>
          <p:cNvSpPr/>
          <p:nvPr/>
        </p:nvSpPr>
        <p:spPr>
          <a:xfrm>
            <a:off x="1234440" y="414223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ulmonro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6444" y="4174236"/>
            <a:ext cx="210312" cy="210312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600200" y="41513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Bryant Vincent · UL Monroe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06240" y="41788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8-16, yr 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23560" y="4160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3.0*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72200" y="4160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5 W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20840" y="4160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17%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06640" y="41605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3.4 (2–5)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21040" y="4178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-2.3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23960" y="415137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69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18320" y="41788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35-38 vs SE Louisiana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" y="45171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8</a:t>
            </a:r>
          </a:p>
        </p:txBody>
      </p:sp>
      <p:sp>
        <p:nvSpPr>
          <p:cNvPr id="103" name="Oval 102"/>
          <p:cNvSpPr/>
          <p:nvPr/>
        </p:nvSpPr>
        <p:spPr>
          <a:xfrm>
            <a:off x="1234440" y="450799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southcarolin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6444" y="4539996"/>
            <a:ext cx="210312" cy="210312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600200" y="45171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Shane Beamer · South Carolina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06240" y="45445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33-30, yr 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23560" y="4526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4.3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72200" y="4526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7 W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720840" y="45262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58%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06640" y="45262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6.8 (5–9)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21040" y="45445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CD68A"/>
                </a:solidFill>
                <a:latin typeface="Arial"/>
              </a:rPr>
              <a:t>+2.5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23960" y="451713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69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18320" y="45445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34-41 vs Mississippi State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482803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22960" y="48828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9</a:t>
            </a:r>
          </a:p>
        </p:txBody>
      </p:sp>
      <p:sp>
        <p:nvSpPr>
          <p:cNvPr id="116" name="Oval 115"/>
          <p:cNvSpPr/>
          <p:nvPr/>
        </p:nvSpPr>
        <p:spPr>
          <a:xfrm>
            <a:off x="1234440" y="487375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116" descr="wiscons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6444" y="4905756"/>
            <a:ext cx="210312" cy="210312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1600200" y="48828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Luke Fickell · Wisconsin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06240" y="49103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17-21, yr 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23560" y="4892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5.0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72200" y="4892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720840" y="48920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80%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06640" y="48920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6.8 (5–9)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21040" y="49103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CD68A"/>
                </a:solidFill>
                <a:latin typeface="Arial"/>
              </a:rPr>
              <a:t>+2.4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823960" y="48828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68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418320" y="49103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54-10 vs Eastern Michigan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22960" y="524865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10</a:t>
            </a:r>
          </a:p>
        </p:txBody>
      </p:sp>
      <p:sp>
        <p:nvSpPr>
          <p:cNvPr id="128" name="Oval 127"/>
          <p:cNvSpPr/>
          <p:nvPr/>
        </p:nvSpPr>
        <p:spPr>
          <a:xfrm>
            <a:off x="1234440" y="523951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Picture 128" descr="easternmichig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6444" y="5271516"/>
            <a:ext cx="210312" cy="210312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600200" y="524865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Chris Creighton · Eastern Michigan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206240" y="5276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27-24 thru 2024, yr 13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23560" y="5257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2.8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72200" y="5257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720840" y="5257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15%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406640" y="52578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4.3 (3–6)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321040" y="5276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-3.3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823960" y="5248655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68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418320" y="52760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10-54 at Wisconsin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22960" y="5669280"/>
            <a:ext cx="10515600" cy="56692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05840" y="5724144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Next three: Bill Belichick 66 · Deion Sanders 65 · Lincoln Riley 65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05840" y="5961888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Arial"/>
              </a:rPr>
              <a:t>NEEDS = wins that keep the job · P(GETS IT) = the machine's odds · MACHINE WINS = projected (10th–90th)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5 · WEEK 4 · OUR HEISMAN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Our Heisman Favorite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Arial"/>
              </a:rPr>
              <a:t>Team factor × QB efficiency (PPA per play) · market = DraftKings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673352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QUARTERBACK ·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733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2026 PPA (PLAYS)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733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2025 PRIOR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733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BLEND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733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TEAM P(10+)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6733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6733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6733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MKT 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67335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MAN VS MACHINE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901952"/>
            <a:ext cx="10515600" cy="566928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385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192938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ia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44" y="1961388"/>
            <a:ext cx="210312" cy="210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218541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41-of-45, 653 yards, 8 TD, 0 INT through two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9385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Darian Mensah · Miami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947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0.844 (83)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19476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0.371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947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0.539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74%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938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46.8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+550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194767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agree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5054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</a:t>
            </a:r>
          </a:p>
        </p:txBody>
      </p:sp>
      <p:sp>
        <p:nvSpPr>
          <p:cNvPr id="29" name="Oval 28"/>
          <p:cNvSpPr/>
          <p:nvPr/>
        </p:nvSpPr>
        <p:spPr>
          <a:xfrm>
            <a:off x="1234440" y="249631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ndi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2528316"/>
            <a:ext cx="210312" cy="2103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00200" y="2752344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19-of-27, 376 yards, 8 TD, 0 INT through two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5054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Josh Hoover · Indiana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2514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1.024 (55)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2514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0.353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25146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0.533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514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75%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5054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46.5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514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+1700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514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#8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5146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5CD68A"/>
                </a:solidFill>
                <a:latin typeface="Arial"/>
              </a:rPr>
              <a:t>market too 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3035808"/>
            <a:ext cx="10515600" cy="566928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0723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3</a:t>
            </a:r>
          </a:p>
        </p:txBody>
      </p:sp>
      <p:sp>
        <p:nvSpPr>
          <p:cNvPr id="43" name="Oval 42"/>
          <p:cNvSpPr/>
          <p:nvPr/>
        </p:nvSpPr>
        <p:spPr>
          <a:xfrm>
            <a:off x="1234440" y="306324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notred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" y="3095244"/>
            <a:ext cx="210312" cy="2103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600200" y="33192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35-of-49, 492 yards, 6 TD, 0 INT · 253 and 4 TD vs Rice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307238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C.J. Carr · Notre Dame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3081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0.574 (78)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3081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0.433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081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0.481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3081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92%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307238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46.2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081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+1050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3081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#4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30815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agree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3639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4</a:t>
            </a:r>
          </a:p>
        </p:txBody>
      </p:sp>
      <p:sp>
        <p:nvSpPr>
          <p:cNvPr id="56" name="Oval 55"/>
          <p:cNvSpPr/>
          <p:nvPr/>
        </p:nvSpPr>
        <p:spPr>
          <a:xfrm>
            <a:off x="1234440" y="36301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ohiost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444" y="3662172"/>
            <a:ext cx="210312" cy="21031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600200" y="388620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38-of-57, 598 yards, 4 TD, 1 INT · 278 in the loss at Texas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0200" y="3639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Julian Sayin · Ohio State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36484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0.549 (88)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36484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0.545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36484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0.546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20840" y="36484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36393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45.4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75320" y="36484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+1500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0" y="36484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#7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12680" y="364845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5CD68A"/>
                </a:solidFill>
                <a:latin typeface="Arial"/>
              </a:rPr>
              <a:t>market too low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" y="4169664"/>
            <a:ext cx="10515600" cy="566928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" y="4206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5</a:t>
            </a:r>
          </a:p>
        </p:txBody>
      </p:sp>
      <p:sp>
        <p:nvSpPr>
          <p:cNvPr id="70" name="Oval 69"/>
          <p:cNvSpPr/>
          <p:nvPr/>
        </p:nvSpPr>
        <p:spPr>
          <a:xfrm>
            <a:off x="1234440" y="41970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uta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444" y="4229100"/>
            <a:ext cx="210312" cy="21031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600200" y="445312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31-of-42, 437 yards, 5 TD · 81 rushing, 2 TD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00200" y="4206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Devon Dampier · Utah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0" y="42153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0.481 (99)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57800" y="42153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0.413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35040" y="421538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0.440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0840" y="42153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52%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89520" y="4206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33.4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75320" y="42153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off board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0" y="42153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12680" y="421538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CADCFC"/>
                </a:solidFill>
                <a:latin typeface="Arial"/>
              </a:rPr>
              <a:t>unpriced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" y="477316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CADCFC"/>
                </a:solidFill>
                <a:latin typeface="Arial"/>
              </a:rPr>
              <a:t>Next up: Jayden Maiava 29.9 (market #9) · Will Hammond 29.2 · Lincoln Kienholz 27.7 · Keelon Russell 27.5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5102352"/>
            <a:ext cx="10515600" cy="658368"/>
          </a:xfrm>
          <a:prstGeom prst="round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97280" y="51937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2851"/>
                </a:solidFill>
                <a:latin typeface="Arial"/>
              </a:rPr>
              <a:t>★ OUR FAVORITE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57600" y="5175504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Darian Mensah, Miami · index 46.8 · market +550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" y="5879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Arial"/>
              </a:rPr>
              <a:t>Non-QB watch: Jeremiah Smith (+650) · Malachi Toney (+1300) · Ryan Wingo · Trent Mosley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Arial"/>
              </a:rPr>
              <a:t>PPA = predicted points added per play · re-computes every rebuild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5 · WEEK 4 · SEP 26,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Five Games, One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286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x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340864"/>
            <a:ext cx="438912" cy="43891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91640" y="2286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nness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340864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68880" y="2286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Texas at Tennessee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1518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Knoxville · Neyland Stadium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86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Texas –9   ·   +3.5 / +3.5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243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99232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0906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olemi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145536"/>
            <a:ext cx="438912" cy="43891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691640" y="30906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lori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504" y="3145536"/>
            <a:ext cx="43891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309067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Ole Miss at Florida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1985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Gainesville · Ben Hill Griffin Stadium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0906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Florida –3   ·   –3 / –3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429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03904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38953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oklaho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3950207"/>
            <a:ext cx="438912" cy="438912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691640" y="38953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georg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504" y="3950207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68880" y="389534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Oklahoma at Georgia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22452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Athens · Sanford Stadium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89534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Georgia –14   ·   –14 / –14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2336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608576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" y="470001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oreg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" y="4754879"/>
            <a:ext cx="438912" cy="438912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1691640" y="470001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us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6504" y="4754879"/>
            <a:ext cx="438912" cy="4389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468880" y="4700016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Oregon at USC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0292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Los Angeles · Memorial Coliseum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70001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Oregon –0.5   ·   +3 / +3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503834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413248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" y="5504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texasa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704" y="5559551"/>
            <a:ext cx="438912" cy="438912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691640" y="5504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lsu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46504" y="5559551"/>
            <a:ext cx="438912" cy="4389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468880" y="550468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Texas A&amp;M at LSU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583387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Baton Rouge · Tiger Stadium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50468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LSU –5.5   ·   –9.5 / –10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8430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Machine = our in-season rating + 2.5 home field · lines as of Sep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A2851"/>
                </a:solidFill>
                <a:latin typeface="Arial"/>
              </a:rPr>
              <a:t>Week 3 — the receipts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C6B7E"/>
                </a:solidFill>
                <a:latin typeface="Arial"/>
              </a:rPr>
              <a:t>Calls frozen at recording · off by = miss vs the final margin · deserved = the efficiency margin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us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36192"/>
            <a:ext cx="548640" cy="548640"/>
          </a:xfrm>
          <a:prstGeom prst="rect">
            <a:avLst/>
          </a:prstGeom>
        </p:spPr>
      </p:pic>
      <p:pic>
        <p:nvPicPr>
          <p:cNvPr id="6" name="Picture 5" descr="texas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53619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7440" y="1499616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Houston at Texas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83794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Machine TTU 33–20 · Man TTU 35–24 · FINAL TTU 28–26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51790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Texas Tech –13 · deserved HOU +4.9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1965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4D"/>
                </a:solidFill>
                <a:latin typeface="Arial"/>
              </a:rPr>
              <a:t>off by · machine 11 · man 9 — man closer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76856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m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395728"/>
            <a:ext cx="548640" cy="548640"/>
          </a:xfrm>
          <a:prstGeom prst="rect">
            <a:avLst/>
          </a:prstGeom>
        </p:spPr>
      </p:pic>
      <p:pic>
        <p:nvPicPr>
          <p:cNvPr id="13" name="Picture 12" descr="louisvil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23957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77440" y="235915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SMU at Louisville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974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Machine LOU 30–29 · Man LOU 35–34 · FINAL LOU 41–31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774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Louisville –1 · deserved LOU +24.3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679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C6B7E"/>
                </a:solidFill>
                <a:latin typeface="Arial"/>
              </a:rPr>
              <a:t>off by · machine 9 · man 9 — dead tie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136392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ississippist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255264"/>
            <a:ext cx="548640" cy="548640"/>
          </a:xfrm>
          <a:prstGeom prst="rect">
            <a:avLst/>
          </a:prstGeom>
        </p:spPr>
      </p:pic>
      <p:pic>
        <p:nvPicPr>
          <p:cNvPr id="20" name="Picture 19" descr="southcaroli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0" y="3255264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77440" y="321868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Mississippi State at South Carolina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55701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Machine SCAR 32–27 · Man SCAR 31–27 · FINAL MSST 41–34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3697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South Carolina –5 · deserved MSST +6.4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53872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4D"/>
                </a:solidFill>
                <a:latin typeface="Arial"/>
              </a:rPr>
              <a:t>off by · machine 12 · man 11 — man closer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995928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ri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4114800"/>
            <a:ext cx="548640" cy="548640"/>
          </a:xfrm>
          <a:prstGeom prst="rect">
            <a:avLst/>
          </a:prstGeom>
        </p:spPr>
      </p:pic>
      <p:pic>
        <p:nvPicPr>
          <p:cNvPr id="27" name="Picture 26" descr="aub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5920" y="4114800"/>
            <a:ext cx="548640" cy="5486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377440" y="407822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Florida at Auburn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41655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Machine AUB 27–26 · Man AUB 28–27 · FINAL FLA 44–39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0965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Auburn –0.5 · deserved FLA +9.3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39826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7321"/>
                </a:solidFill>
                <a:latin typeface="Arial"/>
              </a:rPr>
              <a:t>off by · machine 5.5 · man 6 — machine closer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855464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s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4974336"/>
            <a:ext cx="548640" cy="548640"/>
          </a:xfrm>
          <a:prstGeom prst="rect">
            <a:avLst/>
          </a:prstGeom>
        </p:spPr>
      </p:pic>
      <p:pic>
        <p:nvPicPr>
          <p:cNvPr id="34" name="Picture 33" descr="olemis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5920" y="4974336"/>
            <a:ext cx="548640" cy="5486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377440" y="493776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LSU at Ole Miss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2760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Machine LSU 32–27 · Man LSU 34–28 · FINAL MISS 32–24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9560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LSU –5 · deserved MISS +6.3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2578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7321"/>
                </a:solidFill>
                <a:latin typeface="Arial"/>
              </a:rPr>
              <a:t>off by · machine 13 · man 14 — machine closer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60720"/>
            <a:ext cx="10515600" cy="777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58338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Margin miss: man 49.0 · machine 50.5 — closer: man 2, machine 2, 1 tie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6172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Arial"/>
              </a:rPr>
              <a:t>Points off the final score: man 77 · machine 83   |   Machine's season: 211.5 off across 20 games · vs the deserved margins this week: 73.7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tenness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Texas at Tennessee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Sat Sep 26 · 12:00 ET · Knoxville · No. 1 at No.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311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No. 1 leaves Austin for the first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98348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3.5 to Texas — quibble, not a 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Texas –9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Tennessee +239 · Texas –239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Texas +8.8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+3.5 / +3.5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Tennessee +154 / Texas -185 · Bov Tennessee +155 / Texas -180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321"/>
                </a:solidFill>
                <a:latin typeface="Arial"/>
              </a:rPr>
              <a:t>Texas 33 – Tennessee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4754880"/>
            <a:ext cx="875080" cy="365760"/>
          </a:xfrm>
          <a:prstGeom prst="round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273D"/>
                </a:solidFill>
                <a:latin typeface="Arial"/>
              </a:rPr>
              <a:t>TENN 29%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71% TEX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Texas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Texas at Tennessee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Sarkisian, year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Arch, final season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72%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Arch has to hit downfield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Stay out of third-and-long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Stop the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5 · WEEK 4 · Texas at Tennessee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nness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Tennessee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Texas at Tennessee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Heupel, year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Faizon Brandon, true freshman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35%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Run it at Texas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Brandon's first ranked opponent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Knowles' rush on passing downs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5 · WEEK 4 · Texas at Tennessee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lem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flori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Ole Miss at Florida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Sat Sep 26 · 3:30 ET · Gainesville · No. 4 at No.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311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Two first-year coaches, both 3–0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98348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Machine = market — no play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Florida –3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Florida –141 · Ole Miss +141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Florida +3.1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–3 / –3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Florida -162 / Ole Miss +136 · Bov Florida -165 / Ole Miss +140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321"/>
                </a:solidFill>
                <a:latin typeface="Arial"/>
              </a:rPr>
              <a:t>Florida 32 – Ole Miss 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4754880"/>
            <a:ext cx="1780336" cy="365760"/>
          </a:xfrm>
          <a:prstGeom prst="roundRect">
            <a:avLst/>
          </a:prstGeom>
          <a:solidFill>
            <a:srgbClr val="002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FLA 59%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41% MISS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lem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Ole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Ole Miss at Florida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Golding, promoted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Chambliss 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50%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Chambliss vs the Florida rush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Stop the explosives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Get Lacy going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5 · WEEK 4 · Ole Miss at Florida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or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Florida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Ole Miss at Florida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Sumrall (Tulane)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Aaron Philo, RS freshman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69%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Feed Baugh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Philo deep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Get Chambliss off 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5 · WEEK 4 · Ole Miss at Florida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klaho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georg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Oklahoma at Georgia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Sat Sep 26 · 3:30 ET · Athens · unranked at No.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311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24 points in Oklahoma's last two games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98348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Machine = market — no play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Georgia –14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Georgia –413 · Oklahoma +413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Georgia +13.8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–14 / –14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Georgia -625 / Oklahoma +455 · Bov Georgia -650 / Oklahoma +450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321"/>
                </a:solidFill>
                <a:latin typeface="Arial"/>
              </a:rPr>
              <a:t>Georgia 29 – Oklahoma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8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4754880"/>
            <a:ext cx="2444191" cy="365760"/>
          </a:xfrm>
          <a:prstGeom prst="roundRect">
            <a:avLst/>
          </a:prstGeom>
          <a:solidFill>
            <a:srgbClr val="BA0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UGA 81%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19% 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klaho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Oklahoma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Oklahoma at Georgia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Venables, year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Mateer returns, senior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63%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The pass rush is the path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Mateer has to be the run game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Reach the red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5 · WEEK 4 · Oklahoma at Georgia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Oklahoma at Georgia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Smart, year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Stockton 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69%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Frazier downhill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Get the ball out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Make Mateer one-dimensional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5 · WEEK 4 · Oklahoma at Georgia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eg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u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Oregon at USC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Sat Sep 26 · 7:30 ET · Los Angeles · No. 20 at No.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311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Oregon's season on the line in Week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98348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Pick'em — no 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Oregon –0.5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USC +100 · Oregon –100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Oregon +0.3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+3 / +3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USC +120 / Oregon -142 · Bov USC +125 / Oregon -140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7321"/>
                </a:solidFill>
                <a:latin typeface="Arial"/>
              </a:rPr>
              <a:t>Oregon 32 – USC 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154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4754880"/>
            <a:ext cx="1508760" cy="365760"/>
          </a:xfrm>
          <a:prstGeom prst="round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USC 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50% 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eg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Oregon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Oregon at USC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Lanning, year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Dante Moore 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75%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Protect Moore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Stay out of third-and-long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Attack Patterson's secondary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5 · WEEK 4 · Oregon at USC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USC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Oregon at USC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Riley, year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Maiava 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59%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Keep Maiava clean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Own third down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Finish in the red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5 · WEEK 4 · Oregon at USC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as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l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Texas A&amp;M at LSU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Sat Sep 26 · 7:30 ET · Baton Rouge · No. 23 at No.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311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The loser has two losses in September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98348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3 to A&amp;M — the market ran past us · no 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LSU –5.5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LSU –181 · Texas A&amp;M +181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LSU +5.6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–9.5 / –10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LSU -380 / Texas A&amp;M +300 · Bov LSU -380 / Texas A&amp;M +290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7321"/>
                </a:solidFill>
                <a:latin typeface="Arial"/>
              </a:rPr>
              <a:t>LSU 29 – Texas A&amp;M 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4754880"/>
            <a:ext cx="1931212" cy="365760"/>
          </a:xfrm>
          <a:prstGeom prst="roundRect">
            <a:avLst/>
          </a:prstGeom>
          <a:solidFill>
            <a:srgbClr val="461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LSU 64%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36% TAMU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as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Texas A&amp;M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Texas A&amp;M at LSU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Elko, year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Reed 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73%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Find an explosive play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Block Umanmielen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Fix the back 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5 · WEEK 4 · Texas A&amp;M at LSU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LSU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Texas A&amp;M at LSU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Kiffin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Sam Leavitt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21%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Leavitt's ball security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Throw deep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Umanmielen on passing downs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5 · WEEK 4 · Texas A&amp;M at LSU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5 · THE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Our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7451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x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" y="1922068"/>
            <a:ext cx="380390" cy="38039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00200" y="187451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nness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748" y="1922068"/>
            <a:ext cx="380390" cy="3803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0" y="19385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Texas at Tennessee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37943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F47321"/>
                </a:solidFill>
                <a:latin typeface="Arial"/>
              </a:rPr>
              <a:t>Texas 33 – Tennessee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12848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market +3.5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14600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260604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lemi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8" y="2653588"/>
            <a:ext cx="380390" cy="38039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600200" y="260604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lori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748" y="2653588"/>
            <a:ext cx="380390" cy="38039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0" y="267004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Ole Miss at Florida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9464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F47321"/>
                </a:solidFill>
                <a:latin typeface="Arial"/>
              </a:rPr>
              <a:t>Florida 32 – Ole Miss 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44368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market –3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246120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333756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klaho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88" y="3385108"/>
            <a:ext cx="380390" cy="38039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1600200" y="333756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eorg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7748" y="3385108"/>
            <a:ext cx="380390" cy="38039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86000" y="34015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Oklahoma at Georgia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00984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F47321"/>
                </a:solidFill>
                <a:latin typeface="Arial"/>
              </a:rPr>
              <a:t>Georgia 29 – Oklahoma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75887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market –14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977639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406907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oreg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88" y="4116628"/>
            <a:ext cx="380390" cy="380390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1600200" y="406907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us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7748" y="4116628"/>
            <a:ext cx="380390" cy="38039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286000" y="413308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Oregon at USC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32503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F47321"/>
                </a:solidFill>
                <a:latin typeface="Arial"/>
              </a:rPr>
              <a:t>Oregon 32 – USC 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407407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market +3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709159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480059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texasa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388" y="4848148"/>
            <a:ext cx="380390" cy="380390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1600200" y="480059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lsu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7748" y="4848148"/>
            <a:ext cx="380390" cy="38039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286000" y="486460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Texas A&amp;M at LSU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764023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F47321"/>
                </a:solidFill>
                <a:latin typeface="Arial"/>
              </a:rPr>
              <a:t>LSU 29 – Texas A&amp;M 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138927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market –9.5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5513831"/>
            <a:ext cx="10515600" cy="932688"/>
          </a:xfrm>
          <a:prstGeom prst="round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57784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851"/>
                </a:solidFill>
                <a:latin typeface="Arial"/>
              </a:rPr>
              <a:t>★ SUPERDOG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577840"/>
            <a:ext cx="7863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Charlotte +10 vs Louisiana · ML +350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98017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851"/>
                </a:solidFill>
                <a:latin typeface="Arial"/>
              </a:rPr>
              <a:t>★ GIANT KILLER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980176"/>
            <a:ext cx="7863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Georgia Southern +17.5 vs #25 Houston · ML +625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5379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Arial"/>
              </a:rPr>
              <a:t>Superdogs: 5 for a cover · 5 + the spread for a win · 1 for a push · research, not picks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