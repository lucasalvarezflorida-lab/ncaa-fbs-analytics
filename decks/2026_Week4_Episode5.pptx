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openxmlformats.org/officeDocument/2006/relationships/image" Target="../media/image20.png"/><Relationship Id="rId10" Type="http://schemas.openxmlformats.org/officeDocument/2006/relationships/image" Target="../media/image33.png"/><Relationship Id="rId11" Type="http://schemas.openxmlformats.org/officeDocument/2006/relationships/image" Target="../media/image3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1.png"/><Relationship Id="rId6" Type="http://schemas.openxmlformats.org/officeDocument/2006/relationships/image" Target="../media/image1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Relationship Id="rId4" Type="http://schemas.openxmlformats.org/officeDocument/2006/relationships/image" Target="../media/image12.png"/><Relationship Id="rId5" Type="http://schemas.openxmlformats.org/officeDocument/2006/relationships/image" Target="../media/image11.png"/><Relationship Id="rId6" Type="http://schemas.openxmlformats.org/officeDocument/2006/relationships/image" Target="../media/image15.png"/><Relationship Id="rId7" Type="http://schemas.openxmlformats.org/officeDocument/2006/relationships/image" Target="../media/image3.png"/><Relationship Id="rId8" Type="http://schemas.openxmlformats.org/officeDocument/2006/relationships/image" Target="../media/image13.png"/><Relationship Id="rId9" Type="http://schemas.openxmlformats.org/officeDocument/2006/relationships/image" Target="../media/image19.png"/><Relationship Id="rId10" Type="http://schemas.openxmlformats.org/officeDocument/2006/relationships/image" Target="../media/image9.png"/><Relationship Id="rId11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7.png"/><Relationship Id="rId4" Type="http://schemas.openxmlformats.org/officeDocument/2006/relationships/image" Target="../media/image36.png"/><Relationship Id="rId5" Type="http://schemas.openxmlformats.org/officeDocument/2006/relationships/image" Target="../media/image25.png"/><Relationship Id="rId6" Type="http://schemas.openxmlformats.org/officeDocument/2006/relationships/image" Target="../media/image18.png"/><Relationship Id="rId7" Type="http://schemas.openxmlformats.org/officeDocument/2006/relationships/image" Target="../media/image20.png"/><Relationship Id="rId8" Type="http://schemas.openxmlformats.org/officeDocument/2006/relationships/image" Target="../media/image11.png"/><Relationship Id="rId9" Type="http://schemas.openxmlformats.org/officeDocument/2006/relationships/image" Target="../media/image24.png"/><Relationship Id="rId10" Type="http://schemas.openxmlformats.org/officeDocument/2006/relationships/image" Target="../media/image8.png"/><Relationship Id="rId11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Relationship Id="rId4" Type="http://schemas.openxmlformats.org/officeDocument/2006/relationships/image" Target="../media/image12.png"/><Relationship Id="rId5" Type="http://schemas.openxmlformats.org/officeDocument/2006/relationships/image" Target="../media/image11.png"/><Relationship Id="rId6" Type="http://schemas.openxmlformats.org/officeDocument/2006/relationships/image" Target="../media/image15.png"/><Relationship Id="rId7" Type="http://schemas.openxmlformats.org/officeDocument/2006/relationships/image" Target="../media/image3.png"/><Relationship Id="rId8" Type="http://schemas.openxmlformats.org/officeDocument/2006/relationships/image" Target="../media/image13.png"/><Relationship Id="rId9" Type="http://schemas.openxmlformats.org/officeDocument/2006/relationships/image" Target="../media/image19.png"/><Relationship Id="rId10" Type="http://schemas.openxmlformats.org/officeDocument/2006/relationships/image" Target="../media/image9.png"/><Relationship Id="rId11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WEEK 4 · THE MACHINE'S TOP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Top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Machine rating · Δ this week · AP week 4 poll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609344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609344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WEEK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60934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1609344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609344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WEEK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60934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2880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860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1865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1892807"/>
            <a:ext cx="201168" cy="201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37360" y="1860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Ohio 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1860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29.1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187451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187451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1808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371600" y="218541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032" y="2212848"/>
            <a:ext cx="201168" cy="201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737360" y="21808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1808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28.6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19456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219456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246888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28" name="Oval 27"/>
          <p:cNvSpPr/>
          <p:nvPr/>
        </p:nvSpPr>
        <p:spPr>
          <a:xfrm>
            <a:off x="137160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georg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9032" y="2532888"/>
            <a:ext cx="201168" cy="20116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Georgia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28209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35" name="Oval 34"/>
          <p:cNvSpPr/>
          <p:nvPr/>
        </p:nvSpPr>
        <p:spPr>
          <a:xfrm>
            <a:off x="1371600" y="28254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notreda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9032" y="2852927"/>
            <a:ext cx="201168" cy="20116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737360" y="28209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Notre Dame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28209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283463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283463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10896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314096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1371600" y="314553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alaba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9032" y="3172968"/>
            <a:ext cx="201168" cy="20116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737360" y="31409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Alabama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314096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26280" y="315467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80" y="315467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34610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50" name="Oval 49"/>
          <p:cNvSpPr/>
          <p:nvPr/>
        </p:nvSpPr>
        <p:spPr>
          <a:xfrm>
            <a:off x="1371600" y="34655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india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9032" y="3493008"/>
            <a:ext cx="201168" cy="20116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737360" y="34610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Indiana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40480" y="34610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6280" y="34747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2080" y="34747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" y="3749039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" y="37810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58" name="Oval 57"/>
          <p:cNvSpPr/>
          <p:nvPr/>
        </p:nvSpPr>
        <p:spPr>
          <a:xfrm>
            <a:off x="1371600" y="378561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miam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9032" y="3813048"/>
            <a:ext cx="201168" cy="20116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37360" y="37810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Miami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40480" y="37810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26280" y="379475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12080" y="379475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" y="4101083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65" name="Oval 64"/>
          <p:cNvSpPr/>
          <p:nvPr/>
        </p:nvSpPr>
        <p:spPr>
          <a:xfrm>
            <a:off x="1371600" y="410565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ls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9032" y="4133087"/>
            <a:ext cx="201168" cy="20116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737360" y="4101083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LSU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840480" y="410108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22.4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26280" y="411479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12080" y="411479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2960" y="438912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1248" y="44211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73" name="Oval 72"/>
          <p:cNvSpPr/>
          <p:nvPr/>
        </p:nvSpPr>
        <p:spPr>
          <a:xfrm>
            <a:off x="1371600" y="44256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99032" y="4453128"/>
            <a:ext cx="201168" cy="20116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737360" y="44211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A&amp;M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40480" y="44211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19.3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26280" y="44348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-5.3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12080" y="44348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474116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80" name="Oval 79"/>
          <p:cNvSpPr/>
          <p:nvPr/>
        </p:nvSpPr>
        <p:spPr>
          <a:xfrm>
            <a:off x="1371600" y="474573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pennsta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99032" y="4773168"/>
            <a:ext cx="201168" cy="20116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737360" y="47411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Penn State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40480" y="474116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18.5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26280" y="475488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12080" y="475488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22960" y="502920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1248" y="50612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11</a:t>
            </a:r>
          </a:p>
        </p:txBody>
      </p:sp>
      <p:sp>
        <p:nvSpPr>
          <p:cNvPr id="88" name="Oval 87"/>
          <p:cNvSpPr/>
          <p:nvPr/>
        </p:nvSpPr>
        <p:spPr>
          <a:xfrm>
            <a:off x="1371600" y="50657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florid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99032" y="5093208"/>
            <a:ext cx="201168" cy="20116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737360" y="50612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Florida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840480" y="50612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18.5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26280" y="50749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12080" y="50749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1248" y="53812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12</a:t>
            </a:r>
          </a:p>
        </p:txBody>
      </p:sp>
      <p:sp>
        <p:nvSpPr>
          <p:cNvPr id="95" name="Oval 94"/>
          <p:cNvSpPr/>
          <p:nvPr/>
        </p:nvSpPr>
        <p:spPr>
          <a:xfrm>
            <a:off x="1371600" y="538581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olemis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99032" y="5413248"/>
            <a:ext cx="201168" cy="20116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737360" y="53812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Ole Miss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40480" y="53812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26280" y="539495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212080" y="539495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4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22960" y="5669279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41248" y="5701283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13</a:t>
            </a:r>
          </a:p>
        </p:txBody>
      </p:sp>
      <p:sp>
        <p:nvSpPr>
          <p:cNvPr id="103" name="Oval 102"/>
          <p:cNvSpPr/>
          <p:nvPr/>
        </p:nvSpPr>
        <p:spPr>
          <a:xfrm>
            <a:off x="1371600" y="570585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oregon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99032" y="5733288"/>
            <a:ext cx="201168" cy="20116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737360" y="5701283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Oregon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40480" y="570128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26280" y="571499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212080" y="571499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20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355080" y="182880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73368" y="1860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14</a:t>
            </a:r>
          </a:p>
        </p:txBody>
      </p:sp>
      <p:sp>
        <p:nvSpPr>
          <p:cNvPr id="111" name="Oval 110"/>
          <p:cNvSpPr/>
          <p:nvPr/>
        </p:nvSpPr>
        <p:spPr>
          <a:xfrm>
            <a:off x="6903720" y="1865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tennesse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31152" y="1892807"/>
            <a:ext cx="201168" cy="201168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269480" y="1860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Tennessee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372600" y="1860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058400" y="187451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744200" y="187451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373368" y="21808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15</a:t>
            </a:r>
          </a:p>
        </p:txBody>
      </p:sp>
      <p:sp>
        <p:nvSpPr>
          <p:cNvPr id="118" name="Oval 117"/>
          <p:cNvSpPr/>
          <p:nvPr/>
        </p:nvSpPr>
        <p:spPr>
          <a:xfrm>
            <a:off x="6903720" y="218541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oklahoma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1152" y="2212848"/>
            <a:ext cx="201168" cy="201168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7269480" y="21808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Oklahoma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372600" y="21808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058400" y="219456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-1.8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744200" y="219456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55080" y="246888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37336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16</a:t>
            </a:r>
          </a:p>
        </p:txBody>
      </p:sp>
      <p:sp>
        <p:nvSpPr>
          <p:cNvPr id="126" name="Oval 125"/>
          <p:cNvSpPr/>
          <p:nvPr/>
        </p:nvSpPr>
        <p:spPr>
          <a:xfrm>
            <a:off x="690372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utah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1152" y="2532888"/>
            <a:ext cx="201168" cy="201168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26948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Utah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7260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05840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4420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15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73368" y="28209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17</a:t>
            </a:r>
          </a:p>
        </p:txBody>
      </p:sp>
      <p:sp>
        <p:nvSpPr>
          <p:cNvPr id="133" name="Oval 132"/>
          <p:cNvSpPr/>
          <p:nvPr/>
        </p:nvSpPr>
        <p:spPr>
          <a:xfrm>
            <a:off x="6903720" y="28254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texastech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931152" y="2852927"/>
            <a:ext cx="201168" cy="201168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7269480" y="28209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Tech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372600" y="28209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058400" y="283463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744200" y="283463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11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355080" y="310896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373368" y="314096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18</a:t>
            </a:r>
          </a:p>
        </p:txBody>
      </p:sp>
      <p:sp>
        <p:nvSpPr>
          <p:cNvPr id="141" name="Oval 140"/>
          <p:cNvSpPr/>
          <p:nvPr/>
        </p:nvSpPr>
        <p:spPr>
          <a:xfrm>
            <a:off x="6903720" y="314553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mississippistat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931152" y="3172968"/>
            <a:ext cx="201168" cy="201168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7269480" y="31409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Mississippi State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372600" y="314096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058400" y="315467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744200" y="315467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373368" y="34610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19</a:t>
            </a:r>
          </a:p>
        </p:txBody>
      </p:sp>
      <p:sp>
        <p:nvSpPr>
          <p:cNvPr id="148" name="Oval 147"/>
          <p:cNvSpPr/>
          <p:nvPr/>
        </p:nvSpPr>
        <p:spPr>
          <a:xfrm>
            <a:off x="6903720" y="34655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usc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31152" y="3493008"/>
            <a:ext cx="201168" cy="201168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7269480" y="34610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USC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72600" y="34610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058400" y="34747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744200" y="34747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12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355080" y="3749039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373368" y="37810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20</a:t>
            </a:r>
          </a:p>
        </p:txBody>
      </p:sp>
      <p:sp>
        <p:nvSpPr>
          <p:cNvPr id="156" name="Oval 155"/>
          <p:cNvSpPr/>
          <p:nvPr/>
        </p:nvSpPr>
        <p:spPr>
          <a:xfrm>
            <a:off x="6903720" y="378561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southcarolina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31152" y="3813048"/>
            <a:ext cx="201168" cy="201168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7269480" y="37810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South Carolina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372600" y="37810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058400" y="379475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744200" y="379475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73368" y="4101083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21</a:t>
            </a:r>
          </a:p>
        </p:txBody>
      </p:sp>
      <p:sp>
        <p:nvSpPr>
          <p:cNvPr id="163" name="Oval 162"/>
          <p:cNvSpPr/>
          <p:nvPr/>
        </p:nvSpPr>
        <p:spPr>
          <a:xfrm>
            <a:off x="6903720" y="410565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nebraska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931152" y="4133087"/>
            <a:ext cx="201168" cy="201168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7269480" y="4101083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Nebraska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372600" y="410108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13.3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058400" y="411479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744200" y="411479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355080" y="438912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373368" y="44211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22</a:t>
            </a:r>
          </a:p>
        </p:txBody>
      </p:sp>
      <p:sp>
        <p:nvSpPr>
          <p:cNvPr id="171" name="Oval 170"/>
          <p:cNvSpPr/>
          <p:nvPr/>
        </p:nvSpPr>
        <p:spPr>
          <a:xfrm>
            <a:off x="6903720" y="44256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2" name="Picture 171" descr="michigan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931152" y="4453128"/>
            <a:ext cx="201168" cy="201168"/>
          </a:xfrm>
          <a:prstGeom prst="rect">
            <a:avLst/>
          </a:prstGeom>
        </p:spPr>
      </p:pic>
      <p:sp>
        <p:nvSpPr>
          <p:cNvPr id="173" name="TextBox 172"/>
          <p:cNvSpPr txBox="1"/>
          <p:nvPr/>
        </p:nvSpPr>
        <p:spPr>
          <a:xfrm>
            <a:off x="7269480" y="44211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Michigan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372600" y="44211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058400" y="44348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4348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373368" y="474116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23</a:t>
            </a:r>
          </a:p>
        </p:txBody>
      </p:sp>
      <p:sp>
        <p:nvSpPr>
          <p:cNvPr id="178" name="Oval 177"/>
          <p:cNvSpPr/>
          <p:nvPr/>
        </p:nvSpPr>
        <p:spPr>
          <a:xfrm>
            <a:off x="6903720" y="474573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byu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931152" y="4773168"/>
            <a:ext cx="201168" cy="201168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7269480" y="47411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BYU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372600" y="474116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058400" y="475488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75488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9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355080" y="502920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73368" y="50612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24</a:t>
            </a:r>
          </a:p>
        </p:txBody>
      </p:sp>
      <p:sp>
        <p:nvSpPr>
          <p:cNvPr id="186" name="Oval 185"/>
          <p:cNvSpPr/>
          <p:nvPr/>
        </p:nvSpPr>
        <p:spPr>
          <a:xfrm>
            <a:off x="6903720" y="50657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" name="Picture 186" descr="auburn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931152" y="5093208"/>
            <a:ext cx="201168" cy="201168"/>
          </a:xfrm>
          <a:prstGeom prst="rect">
            <a:avLst/>
          </a:prstGeom>
        </p:spPr>
      </p:pic>
      <p:sp>
        <p:nvSpPr>
          <p:cNvPr id="188" name="TextBox 187"/>
          <p:cNvSpPr txBox="1"/>
          <p:nvPr/>
        </p:nvSpPr>
        <p:spPr>
          <a:xfrm>
            <a:off x="7269480" y="50612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Auburn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372600" y="50612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12.4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0058400" y="50749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-1.4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744200" y="50749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373368" y="53812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25</a:t>
            </a:r>
          </a:p>
        </p:txBody>
      </p:sp>
      <p:sp>
        <p:nvSpPr>
          <p:cNvPr id="193" name="Oval 192"/>
          <p:cNvSpPr/>
          <p:nvPr/>
        </p:nvSpPr>
        <p:spPr>
          <a:xfrm>
            <a:off x="6903720" y="538581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4" name="Picture 193" descr="louisvill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931152" y="5413248"/>
            <a:ext cx="201168" cy="201168"/>
          </a:xfrm>
          <a:prstGeom prst="rect">
            <a:avLst/>
          </a:prstGeom>
        </p:spPr>
      </p:pic>
      <p:sp>
        <p:nvSpPr>
          <p:cNvPr id="195" name="TextBox 194"/>
          <p:cNvSpPr txBox="1"/>
          <p:nvPr/>
        </p:nvSpPr>
        <p:spPr>
          <a:xfrm>
            <a:off x="7269480" y="53812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Louisville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9372600" y="53812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12.2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0058400" y="539495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+2.1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744200" y="539495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16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822960" y="6062472"/>
            <a:ext cx="10561320" cy="74980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1005840" y="6089904"/>
            <a:ext cx="10241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CD68A"/>
                </a:solidFill>
                <a:latin typeface="Arial"/>
              </a:rPr>
              <a:t>Biggest moves this week — up: Ole Miss +2.7 #18→#12 · Mississippi State +2.6 #25→#18 · Utah +2.2 #23→#16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05840" y="6263640"/>
            <a:ext cx="10241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7A7A"/>
                </a:solidFill>
                <a:latin typeface="Arial"/>
              </a:rPr>
              <a:t>Down: Texas A&amp;M -5.3 #8→#9 · South Carolina -2.4 #15→#20 · USC -2.1 #17→#19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05840" y="6437376"/>
            <a:ext cx="10241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  <a:latin typeface="Arial"/>
              </a:rPr>
              <a:t>Biggest splits: Texas A&amp;M #9 vs AP #23 · BYU #23 vs AP #9 · Florida #11 vs AP #21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005840" y="6601968"/>
            <a:ext cx="10241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Arial"/>
              </a:rPr>
              <a:t>Ours, not theirs: Oklahoma, South Carolina, Nebraska, Auburn   ·   Theirs, not ours: Iowa, Missouri, SMU, Houston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WEEK 4 · THE SEAT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Hot Seat Top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60% CBS rating + 40% machine odds of missing the 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COACH · SCHOOL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67335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TENURE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CBS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P(GETS 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6733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MACHINE WINS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6733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1673352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LAST 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5681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476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79676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19568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Norvell · Florida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19842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38-34, yr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8 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1965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19659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6.3 (4–8)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19842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1956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91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19842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36-50 at Alabama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3225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1234440" y="23134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maryl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345436"/>
            <a:ext cx="210312" cy="2103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00200" y="23225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Locksley · Maryland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23500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37-49, yr 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3317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3317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5.6 (4–8)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23500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+2.7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23225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23500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26-35 vs Virginia Tech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263347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26883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1" name="Oval 40"/>
          <p:cNvSpPr/>
          <p:nvPr/>
        </p:nvSpPr>
        <p:spPr>
          <a:xfrm>
            <a:off x="1234440" y="2679191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2711196"/>
            <a:ext cx="210312" cy="2103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26883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Dabo Swinney · Clemson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06240" y="27157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186-53, yr 18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56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9 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2697479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0" y="2697479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6.6 (5–8)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27157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-6.3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23960" y="26883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27157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28-20 vs North Carolina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30540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3" name="Oval 52"/>
          <p:cNvSpPr/>
          <p:nvPr/>
        </p:nvSpPr>
        <p:spPr>
          <a:xfrm>
            <a:off x="1234440" y="30449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bayl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076956"/>
            <a:ext cx="210312" cy="21031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600200" y="30540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Dave Aranda · Baylor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06240" y="3081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36-37, yr 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2356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7220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0840" y="3063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63%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30632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7.0 (5–9)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0815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+0.9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23960" y="30540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18320" y="30815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36-19 vs Louisiana Tech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" y="336499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34198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66" name="Oval 65"/>
          <p:cNvSpPr/>
          <p:nvPr/>
        </p:nvSpPr>
        <p:spPr>
          <a:xfrm>
            <a:off x="1234440" y="34107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rutg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3442716"/>
            <a:ext cx="210312" cy="210312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600200" y="34198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Greg Schiano · Rutgers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06240" y="34472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31-41 2nd stint, yr 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6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7220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20840" y="34290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7%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06640" y="34290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3.8 (2–5)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21040" y="34472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-4.2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23960" y="341985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18320" y="34472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35-42 vs USC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" y="378561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78" name="Oval 77"/>
          <p:cNvSpPr/>
          <p:nvPr/>
        </p:nvSpPr>
        <p:spPr>
          <a:xfrm>
            <a:off x="1234440" y="37764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bostoncolle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6444" y="3808476"/>
            <a:ext cx="210312" cy="21031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600200" y="378561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O'Brien · Boston College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06240" y="38130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9-16, yr 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2356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7220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20840" y="37947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28%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06640" y="37947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3.8 (2–5)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1040" y="3813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23960" y="378561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418320" y="38130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22-16 vs Maine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409651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2960" y="41513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91" name="Oval 90"/>
          <p:cNvSpPr/>
          <p:nvPr/>
        </p:nvSpPr>
        <p:spPr>
          <a:xfrm>
            <a:off x="1234440" y="41422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ulmonro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6444" y="4174236"/>
            <a:ext cx="210312" cy="210312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600200" y="41513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Bryant Vincent · UL Monroe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06240" y="41788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8-16, yr 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356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17220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20840" y="4160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17%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06640" y="41605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3.4 (2–5)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21040" y="4178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23960" y="41513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418320" y="41788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35-38 vs SE Louisiana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" y="45171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103" name="Oval 102"/>
          <p:cNvSpPr/>
          <p:nvPr/>
        </p:nvSpPr>
        <p:spPr>
          <a:xfrm>
            <a:off x="1234440" y="450799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southcarolin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66444" y="4539996"/>
            <a:ext cx="210312" cy="210312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600200" y="45171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Shane Beamer · South Carolina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06240" y="45445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33-30, yr 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2356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17220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720840" y="452628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58%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406640" y="45262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6.8 (5–9)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321040" y="45445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+2.5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23960" y="45171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418320" y="45445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34-41 vs Mississippi State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22960" y="482803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22960" y="48828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116" name="Oval 115"/>
          <p:cNvSpPr/>
          <p:nvPr/>
        </p:nvSpPr>
        <p:spPr>
          <a:xfrm>
            <a:off x="1234440" y="48737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wisconsi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66444" y="4905756"/>
            <a:ext cx="210312" cy="210312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600200" y="48828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Luke Fickell · Wisconsin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206240" y="49103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17-21, yr 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2356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17220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720840" y="48920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80%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06640" y="48920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6.8 (5–9)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21040" y="49103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+2.4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823960" y="48828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418320" y="49103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54-10 vs Eastern Michigan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22960" y="524865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128" name="Oval 127"/>
          <p:cNvSpPr/>
          <p:nvPr/>
        </p:nvSpPr>
        <p:spPr>
          <a:xfrm>
            <a:off x="1234440" y="52395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9" name="Picture 128" descr="easternmichiga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66444" y="5271516"/>
            <a:ext cx="210312" cy="210312"/>
          </a:xfrm>
          <a:prstGeom prst="rect">
            <a:avLst/>
          </a:prstGeom>
        </p:spPr>
      </p:pic>
      <p:sp>
        <p:nvSpPr>
          <p:cNvPr id="130" name="TextBox 129"/>
          <p:cNvSpPr txBox="1"/>
          <p:nvPr/>
        </p:nvSpPr>
        <p:spPr>
          <a:xfrm>
            <a:off x="1600200" y="524865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Chris Creighton · Eastern Michigan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206240" y="5276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27-24 thru 2024, yr 13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2356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2.8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17220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720840" y="5257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15%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406640" y="5257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4.3 (3–6)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321040" y="5276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-3.3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823960" y="524865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418320" y="52760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10-54 at Wisconsin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22960" y="5669280"/>
            <a:ext cx="1051560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05840" y="572414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Next three: Bill Belichick 66 · Deion Sanders 65 · Lincoln Riley 65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05840" y="5961888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NEEDS = wins that keep the job · P(GETS IT) = the machine's odds · MACHINE WINS = projected (10th–90th)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WEEK 4 · OUR HEISMAN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Heisman Favorite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Team factor × QB efficiency (PPA per play)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QUARTERBACK ·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67335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2026 PPA (PLAYS)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1673352"/>
            <a:ext cx="731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2025 PRIOR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BLEND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TEAM P(10+)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INDEX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01952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9385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234440" y="1929384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iam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61388"/>
            <a:ext cx="210312" cy="2103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600200" y="2185416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71-of-79, 873 yards, 11 TD, 0 INT through three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19385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Darian Mensah · Miami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947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0.844 (83)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194767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1947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0.539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1938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46.8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25054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234440" y="24963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ndia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528316"/>
            <a:ext cx="210312" cy="21031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00200" y="2752344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37-of-51, 649 yards, 10 TD, 0 INT through three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250545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Josh Hoover · Indiana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514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1.024 (55)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25146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0" y="25146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4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2720" y="2505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46.5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3035808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307238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34" name="Oval 33"/>
          <p:cNvSpPr/>
          <p:nvPr/>
        </p:nvSpPr>
        <p:spPr>
          <a:xfrm>
            <a:off x="1234440" y="306324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notred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3095244"/>
            <a:ext cx="210312" cy="2103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600200" y="3319272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53-of-73, 726 yards, 6 TD, 0 INT through three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00200" y="30723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C.J. Carr · Notre Dame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308152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0.574 (78)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01000" y="308152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0.433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78240" y="3081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0.481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6404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92%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2720" y="3072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46.2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363931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44" name="Oval 43"/>
          <p:cNvSpPr/>
          <p:nvPr/>
        </p:nvSpPr>
        <p:spPr>
          <a:xfrm>
            <a:off x="1234440" y="363016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ohiost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662172"/>
            <a:ext cx="210312" cy="210312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600200" y="3886200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56-of-79, 839 yards, 6 TD, 1 INT through three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00200" y="36393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Julian Sayin · Ohio State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0" y="36484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0.549 (88)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01000" y="36484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78240" y="3648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0.546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6404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66%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32720" y="36393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45.4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2960" y="4169664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2960" y="420624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55" name="Oval 54"/>
          <p:cNvSpPr/>
          <p:nvPr/>
        </p:nvSpPr>
        <p:spPr>
          <a:xfrm>
            <a:off x="1234440" y="4197096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uta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4229100"/>
            <a:ext cx="210312" cy="21031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600200" y="4453128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53-of-74, 690 yards, 7 TD, 1 INT · 115 rushing, 2 TD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600200" y="42062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Devon Dampier · Utah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0" y="42153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0.481 (99)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01000" y="42153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0.413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778240" y="4215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0.440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46404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52%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32720" y="4206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33.4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" y="477316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CADCFC"/>
                </a:solidFill>
                <a:latin typeface="Arial"/>
              </a:rPr>
              <a:t>Next up: Jayden Maiava 29.9 · Will Hammond 29.2 · Lincoln Kienholz 27.7 · Keelon Russell 27.5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22960" y="5102352"/>
            <a:ext cx="10515600" cy="65836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97280" y="51937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A2851"/>
                </a:solidFill>
                <a:latin typeface="Arial"/>
              </a:rPr>
              <a:t>★ OUR FAVORITE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0" y="5175504"/>
            <a:ext cx="74980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Darian Mensah, Miami · index 46.8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2960" y="58795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Arial"/>
              </a:rPr>
              <a:t>Non-QB watch: Jeremiah Smith (Ohio State) · Malachi Toney (Miami) · Ryan Wingo (Texas) · Trent Mosley (USC)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ADCFC"/>
                </a:solidFill>
                <a:latin typeface="Arial"/>
              </a:rPr>
              <a:t>PPA = predicted points added per play · re-computes every rebuild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WEEK 4 · SEP 26,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nness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Texas at Tennessee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Knoxville · Neyland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6771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12:00 PM 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1518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Sep 26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olemi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Ole Miss at Florida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Gainesville · Ben Hill Griffin Stadium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7238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3:30 PM 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1985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Sep 26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oklaho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georg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Oklahoma at Georgia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Athens · Sanford Stadium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7705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3:30 PM 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245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Sep 26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oreg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us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Oregon at USC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Los Angeles · Memorial Coliseum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68172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7:30 PM 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292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Sep 26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l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Texas A&amp;M at LSU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Baton Rouge · Tiger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4864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7:30 PM 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338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Sep 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3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C6B7E"/>
                </a:solidFill>
                <a:latin typeface="Arial"/>
              </a:rPr>
              <a:t>Calls frozen at recording · off by = miss vs the final margin · deserved = the efficiency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ous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texas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Houston at Texas Tech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TTU 33–20 · Man TTU 35–24 · FINAL TTU 28–26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Texas Tech –13 · deserved HOU +4.9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4D"/>
                </a:solidFill>
                <a:latin typeface="Arial"/>
              </a:rPr>
              <a:t>off by · machine 11 · man 9 — man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m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louisvil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SMU at Louisville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LOU 30–29 · Man LOU 35–34 · FINAL LOU 41–31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Louisville –1 · deserved LOU +24.3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C6B7E"/>
                </a:solidFill>
                <a:latin typeface="Arial"/>
              </a:rPr>
              <a:t>off by · machine 9 · man 9 — dead tie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ississippi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Mississippi State at South Carolina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SCAR 32–27 · Man SCAR 31–27 · FINAL MSST 41–34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South Carolina –5 · deserved MSST +6.4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4D"/>
                </a:solidFill>
                <a:latin typeface="Arial"/>
              </a:rPr>
              <a:t>off by · machine 12 · man 11 — man closer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florid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aubur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Florida at Auburn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AUB 27–26 · Man AUB 28–27 · FINAL FLA 44–39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Auburn –0.5 · deserved FLA +9.3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off by · machine 5.5 · man 6 — machine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ls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olemis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LSU at Ole Miss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LSU 32–27 · Man LSU 34–28 · FINAL MISS 32–24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LSU –5 · deserved MISS +6.3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off by · machine 13 · man 14 — machine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3387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Margin miss: man 49.0 · machine 50.5 — closer: man 2, machine 2, 1 tie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6172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Points off the final score: man 77 · machine 83   |   Machine's season: 211.5 off across 20 games · vs the deserved margins this week: 73.7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nness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Texas at Tennessee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12:00 ET · Knoxville · No. 1 at No.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No. 1 leaves Austin for the first time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71% — but Texas has not left Austin yet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–9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Tennessee +239 · Texas –239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+8.8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Texas –4.5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Texas 33 – Tennessee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BF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875080" cy="365760"/>
          </a:xfrm>
          <a:prstGeom prst="roundRect">
            <a:avLst/>
          </a:prstGeom>
          <a:solidFill>
            <a:srgbClr val="FF8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6273D"/>
                </a:solidFill>
                <a:latin typeface="Arial"/>
              </a:rPr>
              <a:t>TENN 29%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71% TEX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Texas at Tennessee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Sarkisian, year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Arch, final season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72%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Arch has to hit downfield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Stay out of third-and-long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Stop the run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Texas at Tennessee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nness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Tennessee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Texas at Tennessee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Heupel, year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Faizon Brandon, true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35%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at Texas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Brandon's first ranked opponent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Knowles' rush on passing downs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Texas at Tennessee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lemi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flori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Ole Miss at Florida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3:30 ET · Gainesville · No. 4 at No.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Two first-year coaches, both 3–0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79806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624328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Machine’s Rankings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" y="3145536"/>
            <a:ext cx="64008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9848" y="3177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11</a:t>
            </a:r>
          </a:p>
        </p:txBody>
      </p:sp>
      <p:sp>
        <p:nvSpPr>
          <p:cNvPr id="14" name="Oval 13"/>
          <p:cNvSpPr/>
          <p:nvPr/>
        </p:nvSpPr>
        <p:spPr>
          <a:xfrm>
            <a:off x="1600200" y="3182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flori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3209544"/>
            <a:ext cx="201168" cy="2011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965960" y="31775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Florida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317754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18.5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31912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3191256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51560" y="3483864"/>
            <a:ext cx="64008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9848" y="35158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12</a:t>
            </a:r>
          </a:p>
        </p:txBody>
      </p:sp>
      <p:sp>
        <p:nvSpPr>
          <p:cNvPr id="22" name="Oval 21"/>
          <p:cNvSpPr/>
          <p:nvPr/>
        </p:nvSpPr>
        <p:spPr>
          <a:xfrm>
            <a:off x="1600200" y="35204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olemi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3547872"/>
            <a:ext cx="201168" cy="20116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965960" y="351586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Ole Miss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351586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35295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3529584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4</a:t>
            </a:r>
          </a:p>
        </p:txBody>
      </p:sp>
      <p:sp>
        <p:nvSpPr>
          <p:cNvPr id="28" name="Oval 27"/>
          <p:cNvSpPr/>
          <p:nvPr/>
        </p:nvSpPr>
        <p:spPr>
          <a:xfrm>
            <a:off x="868680" y="408736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8720" y="3913632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home team has won the last two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4297680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C6B7E"/>
                </a:solidFill>
                <a:latin typeface="Arial"/>
              </a:rPr>
              <a:t>Ole Miss 34–24 last year · Florida 24–17 in 2024, which kept Ole Miss out of the playoff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8188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50474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59% — a field-goal game between two 3–0 teams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Florida –3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Florida –141 · Ole Miss +141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Florida +3.1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Florida –3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Florida 32 – Ole Miss 29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046720" y="4709160"/>
            <a:ext cx="1780336" cy="365760"/>
          </a:xfrm>
          <a:prstGeom prst="roundRect">
            <a:avLst/>
          </a:prstGeom>
          <a:solidFill>
            <a:srgbClr val="002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FLA 59%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41% MISS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lemi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Ole Miss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Ole Miss at Florida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Golding, promoted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Chambliss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50%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Chambliss vs the Florida rush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Stop the explosives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Get Lacy going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Ole Miss at Florida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lor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Florida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Ole Miss at Florida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Sumrall (Tulane)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Aaron Philo, RS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Feed Baugh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Philo deep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Get Chambliss off schedule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Ole Miss at Florida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georg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Oklahoma at Georgia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3:30 ET · Athens · unranked at No.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24 points in Oklahoma's last two games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81% — the most confident call on the card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Georgia –14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Georgia –413 · Oklahoma +413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Georgia +13.8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Georgia –14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Georgia 29 – Oklahoma 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8416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2444191" cy="365760"/>
          </a:xfrm>
          <a:prstGeom prst="roundRect">
            <a:avLst/>
          </a:prstGeom>
          <a:solidFill>
            <a:srgbClr val="BA0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UGA 81%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19% OU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Oklahoma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Georgia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Venables,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Mateer returns, senior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63%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pass rush is the path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Mateer has to be the run game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Reach the red zone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Oklahoma at Georgia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eorg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Georgia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Georgia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Smart, year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Stockton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Frazier downhill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Get the ball out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Make Mateer one-dimensional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Oklahoma at Georgia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reg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u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Oregon at USC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7:30 ET · Los Angeles · No. 20 at No.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Oregon's season on the line in Week 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A coin flip — the machine's honest answer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Oregon –0.5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USC +100 · Oregon –100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Oregon +0.3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Oregon –3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47321"/>
                </a:solidFill>
                <a:latin typeface="Arial"/>
              </a:rPr>
              <a:t>Oregon 32 – USC 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154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1508760" cy="365760"/>
          </a:xfrm>
          <a:prstGeom prst="round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USC 50%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50% 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reg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Oregon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Oregon at USC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Lanning,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Dante Moore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75%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Moore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Stay out of third-and-long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Attack Patterson's secondary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Oregon at USC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s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USC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Oregon at USC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Riley,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Maiava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59%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Keep Maiava clean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Own third down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Finish in the red zone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Oregon at USC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l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Texas A&amp;M at LSU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7:30 ET · Baton Rouge · No. 23 at No.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loser has two losses in September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64% — the machine counts Kentucky as one bad game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LSU –5.5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LSU –181 · Texas A&amp;M +181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LSU +5.6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LSU –9.5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47321"/>
                </a:solidFill>
                <a:latin typeface="Arial"/>
              </a:rPr>
              <a:t>LSU 29 – Texas A&amp;M 23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5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1931212" cy="365760"/>
          </a:xfrm>
          <a:prstGeom prst="roundRect">
            <a:avLst/>
          </a:prstGeom>
          <a:solidFill>
            <a:srgbClr val="461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LSU 64%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36% TAMU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 A&amp;M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Texas A&amp;M at LSU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Elko, year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Reed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73%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Find an explosive play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Block Umanmielen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Fix the back 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Texas A&amp;M at LSU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LSU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Texas A&amp;M at LSU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Kiffin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Sam Leavitt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21%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Leavitt's ball security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Throw deep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Umanmielen on passing downs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Texas A&amp;M at LSU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Our predictions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88" y="1922068"/>
            <a:ext cx="380390" cy="3803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nness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" y="1922068"/>
            <a:ext cx="380390" cy="3803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0" y="193852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Texas at Tennessee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3794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Texas 33 – Tennessee 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212848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Texas –9  ·  market Texas –4.5  ·  machine 4.5 higher on Texas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51460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lemi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" y="2653588"/>
            <a:ext cx="380390" cy="38039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60020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lori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48" y="2653588"/>
            <a:ext cx="380390" cy="38039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286000" y="267004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Ole Miss at Florida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6946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Florida 32 – Ole Miss 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2944368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Florida –3  ·  market Florida –3  ·  machine agrees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24612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oklaho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" y="3385108"/>
            <a:ext cx="380390" cy="38039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160020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georg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7748" y="3385108"/>
            <a:ext cx="380390" cy="38039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86000" y="34015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Oklahoma at Georgia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30098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Georgia 29 – Oklahoma 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06240" y="3675887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Georgia –14  ·  market Georgia –14  ·  machine agrees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397763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oreg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388" y="4116628"/>
            <a:ext cx="380390" cy="38039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160020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us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7748" y="4116628"/>
            <a:ext cx="380390" cy="38039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286000" y="413308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Oregon at USC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3250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Oregon 32 – USC 31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06240" y="4407407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Oregon –0.5  ·  market Oregon –3  ·  machine 2.5 higher on USC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5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584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388" y="4848148"/>
            <a:ext cx="380390" cy="380390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160020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l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7748" y="4848148"/>
            <a:ext cx="380390" cy="38039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286000" y="486460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Texas A&amp;M at LSU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76402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LSU 29 – Texas A&amp;M 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06240" y="5138927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LSU –5.5  ·  market LSU –9.5  ·  machine 4 higher on Texas A&amp;M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5513831"/>
            <a:ext cx="10515600" cy="93268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5577840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SUPERDOG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5577840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Charlotte +10 vs Louisiana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980176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GIANT KILLER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980176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Georgia Southern +18.5 vs #25 Houston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53796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Arial"/>
              </a:rPr>
              <a:t>Superdogs: 5 for a cover · 5 + the spread for a win · 1 for a push · research, not picks · market = DraftKings, Sep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