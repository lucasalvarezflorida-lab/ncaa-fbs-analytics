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Relationship Id="rId26" Type="http://schemas.openxmlformats.org/officeDocument/2006/relationships/image" Target="../media/image2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25.png"/><Relationship Id="rId8" Type="http://schemas.openxmlformats.org/officeDocument/2006/relationships/image" Target="../media/image31.png"/><Relationship Id="rId9" Type="http://schemas.openxmlformats.org/officeDocument/2006/relationships/image" Target="../media/image32.png"/><Relationship Id="rId10" Type="http://schemas.openxmlformats.org/officeDocument/2006/relationships/image" Target="../media/image33.png"/><Relationship Id="rId11" Type="http://schemas.openxmlformats.org/officeDocument/2006/relationships/image" Target="../media/image3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1.png"/><Relationship Id="rId6" Type="http://schemas.openxmlformats.org/officeDocument/2006/relationships/image" Target="../media/image1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15.png"/><Relationship Id="rId5" Type="http://schemas.openxmlformats.org/officeDocument/2006/relationships/image" Target="../media/image20.png"/><Relationship Id="rId6" Type="http://schemas.openxmlformats.org/officeDocument/2006/relationships/image" Target="../media/image38.png"/><Relationship Id="rId7" Type="http://schemas.openxmlformats.org/officeDocument/2006/relationships/image" Target="../media/image9.png"/><Relationship Id="rId8" Type="http://schemas.openxmlformats.org/officeDocument/2006/relationships/image" Target="../media/image39.png"/><Relationship Id="rId9" Type="http://schemas.openxmlformats.org/officeDocument/2006/relationships/image" Target="../media/image19.png"/><Relationship Id="rId10" Type="http://schemas.openxmlformats.org/officeDocument/2006/relationships/image" Target="../media/image6.png"/><Relationship Id="rId11" Type="http://schemas.openxmlformats.org/officeDocument/2006/relationships/image" Target="../media/image4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2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12.png"/><Relationship Id="rId4" Type="http://schemas.openxmlformats.org/officeDocument/2006/relationships/image" Target="../media/image24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25.png"/><Relationship Id="rId8" Type="http://schemas.openxmlformats.org/officeDocument/2006/relationships/image" Target="../media/image16.png"/><Relationship Id="rId9" Type="http://schemas.openxmlformats.org/officeDocument/2006/relationships/image" Target="../media/image22.png"/><Relationship Id="rId10" Type="http://schemas.openxmlformats.org/officeDocument/2006/relationships/image" Target="../media/image8.png"/><Relationship Id="rId11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MACHINE'S TOP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Top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Machine rating · Δ vs preseason · AP week 3 poll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2628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RATING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0" y="1591056"/>
            <a:ext cx="685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 PRE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1591056"/>
            <a:ext cx="594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VOTERS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3" name="Oval 12"/>
          <p:cNvSpPr/>
          <p:nvPr/>
        </p:nvSpPr>
        <p:spPr>
          <a:xfrm>
            <a:off x="137160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2" y="1874519"/>
            <a:ext cx="201168" cy="2011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3736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Ohio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0" name="Oval 19"/>
          <p:cNvSpPr/>
          <p:nvPr/>
        </p:nvSpPr>
        <p:spPr>
          <a:xfrm>
            <a:off x="137160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032" y="2203703"/>
            <a:ext cx="201168" cy="20116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73736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25.0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28" name="Oval 27"/>
          <p:cNvSpPr/>
          <p:nvPr/>
        </p:nvSpPr>
        <p:spPr>
          <a:xfrm>
            <a:off x="137160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9032" y="2532888"/>
            <a:ext cx="201168" cy="20116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73736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Notre Dame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24.8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35" name="Oval 34"/>
          <p:cNvSpPr/>
          <p:nvPr/>
        </p:nvSpPr>
        <p:spPr>
          <a:xfrm>
            <a:off x="137160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Picture 35" descr="india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99032" y="2862072"/>
            <a:ext cx="201168" cy="20116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73736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Indiana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4048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1208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4124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43" name="Oval 42"/>
          <p:cNvSpPr/>
          <p:nvPr/>
        </p:nvSpPr>
        <p:spPr>
          <a:xfrm>
            <a:off x="137160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miam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99032" y="3191256"/>
            <a:ext cx="201168" cy="201168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73736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Miami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4048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2628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50" name="Oval 49"/>
          <p:cNvSpPr/>
          <p:nvPr/>
        </p:nvSpPr>
        <p:spPr>
          <a:xfrm>
            <a:off x="137160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alabam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99032" y="3520439"/>
            <a:ext cx="201168" cy="20116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173736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Alabama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4048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23.0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2628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1208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2296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124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58" name="Oval 57"/>
          <p:cNvSpPr/>
          <p:nvPr/>
        </p:nvSpPr>
        <p:spPr>
          <a:xfrm>
            <a:off x="137160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9" name="Picture 58" descr="georgi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9032" y="3849624"/>
            <a:ext cx="201168" cy="201168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173736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Georgia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84048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2628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1208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65" name="Oval 64"/>
          <p:cNvSpPr/>
          <p:nvPr/>
        </p:nvSpPr>
        <p:spPr>
          <a:xfrm>
            <a:off x="137160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ls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9032" y="4178808"/>
            <a:ext cx="201168" cy="20116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173736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LSU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84048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22.3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2628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+2.3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21208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7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2296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124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73" name="Oval 72"/>
          <p:cNvSpPr/>
          <p:nvPr/>
        </p:nvSpPr>
        <p:spPr>
          <a:xfrm>
            <a:off x="137160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4" name="Picture 73" descr="texasam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99032" y="4507992"/>
            <a:ext cx="201168" cy="201168"/>
          </a:xfrm>
          <a:prstGeom prst="rect">
            <a:avLst/>
          </a:prstGeom>
        </p:spPr>
      </p:pic>
      <p:sp>
        <p:nvSpPr>
          <p:cNvPr id="75" name="TextBox 74"/>
          <p:cNvSpPr txBox="1"/>
          <p:nvPr/>
        </p:nvSpPr>
        <p:spPr>
          <a:xfrm>
            <a:off x="173736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A&amp;M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84048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20.9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2628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21208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4124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80" name="Oval 79"/>
          <p:cNvSpPr/>
          <p:nvPr/>
        </p:nvSpPr>
        <p:spPr>
          <a:xfrm>
            <a:off x="137160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tennesse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99032" y="4837176"/>
            <a:ext cx="201168" cy="20116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173736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Tennessee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84048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2628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+2.5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21208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4124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11</a:t>
            </a:r>
          </a:p>
        </p:txBody>
      </p:sp>
      <p:sp>
        <p:nvSpPr>
          <p:cNvPr id="88" name="Oval 87"/>
          <p:cNvSpPr/>
          <p:nvPr/>
        </p:nvSpPr>
        <p:spPr>
          <a:xfrm>
            <a:off x="137160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9" name="Picture 88" descr="oregon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99032" y="5166360"/>
            <a:ext cx="201168" cy="201168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173736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Oregon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84048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2628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-8.0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1208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21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4124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12</a:t>
            </a:r>
          </a:p>
        </p:txBody>
      </p:sp>
      <p:sp>
        <p:nvSpPr>
          <p:cNvPr id="95" name="Oval 94"/>
          <p:cNvSpPr/>
          <p:nvPr/>
        </p:nvSpPr>
        <p:spPr>
          <a:xfrm>
            <a:off x="137160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6" name="Picture 95" descr="texastech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399032" y="5495544"/>
            <a:ext cx="201168" cy="201168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173736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Texas Tech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384048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2628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21208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13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22960" y="576072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41248" y="579272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13</a:t>
            </a:r>
          </a:p>
        </p:txBody>
      </p:sp>
      <p:sp>
        <p:nvSpPr>
          <p:cNvPr id="103" name="Oval 102"/>
          <p:cNvSpPr/>
          <p:nvPr/>
        </p:nvSpPr>
        <p:spPr>
          <a:xfrm>
            <a:off x="1371600" y="579729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usc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399032" y="5824728"/>
            <a:ext cx="201168" cy="201168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737360" y="57927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USC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840480" y="579272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14.7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526280" y="58064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-2.3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212080" y="58064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12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355080" y="181051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373368" y="184251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14</a:t>
            </a:r>
          </a:p>
        </p:txBody>
      </p:sp>
      <p:sp>
        <p:nvSpPr>
          <p:cNvPr id="111" name="Oval 110"/>
          <p:cNvSpPr/>
          <p:nvPr/>
        </p:nvSpPr>
        <p:spPr>
          <a:xfrm>
            <a:off x="6903720" y="184708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111" descr="olemiss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931152" y="1874519"/>
            <a:ext cx="201168" cy="201168"/>
          </a:xfrm>
          <a:prstGeom prst="rect">
            <a:avLst/>
          </a:prstGeom>
        </p:spPr>
      </p:pic>
      <p:sp>
        <p:nvSpPr>
          <p:cNvPr id="113" name="TextBox 112"/>
          <p:cNvSpPr txBox="1"/>
          <p:nvPr/>
        </p:nvSpPr>
        <p:spPr>
          <a:xfrm>
            <a:off x="7269480" y="18425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Ole Miss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372600" y="184251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058400" y="185623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-1.4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0744200" y="185623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8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73368" y="217170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15</a:t>
            </a:r>
          </a:p>
        </p:txBody>
      </p:sp>
      <p:sp>
        <p:nvSpPr>
          <p:cNvPr id="118" name="Oval 117"/>
          <p:cNvSpPr/>
          <p:nvPr/>
        </p:nvSpPr>
        <p:spPr>
          <a:xfrm>
            <a:off x="6903720" y="217627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oklahoma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931152" y="2203703"/>
            <a:ext cx="201168" cy="201168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269480" y="217170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Oklahoma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372600" y="21717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14.5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058400" y="218541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-3.3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0744200" y="218541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24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355080" y="2468880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373368" y="250088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16</a:t>
            </a:r>
          </a:p>
        </p:txBody>
      </p:sp>
      <p:sp>
        <p:nvSpPr>
          <p:cNvPr id="126" name="Oval 125"/>
          <p:cNvSpPr/>
          <p:nvPr/>
        </p:nvSpPr>
        <p:spPr>
          <a:xfrm>
            <a:off x="6903720" y="250545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7" name="Picture 126" descr="florida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931152" y="2532888"/>
            <a:ext cx="201168" cy="201168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69480" y="250088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Florida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372600" y="25008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14.4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0058400" y="251460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+0.8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744200" y="251460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373368" y="283006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17</a:t>
            </a:r>
          </a:p>
        </p:txBody>
      </p:sp>
      <p:sp>
        <p:nvSpPr>
          <p:cNvPr id="133" name="Oval 132"/>
          <p:cNvSpPr/>
          <p:nvPr/>
        </p:nvSpPr>
        <p:spPr>
          <a:xfrm>
            <a:off x="6903720" y="283464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4" name="Picture 133" descr="missouri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931152" y="2862072"/>
            <a:ext cx="201168" cy="201168"/>
          </a:xfrm>
          <a:prstGeom prst="rect">
            <a:avLst/>
          </a:prstGeom>
        </p:spPr>
      </p:pic>
      <p:sp>
        <p:nvSpPr>
          <p:cNvPr id="135" name="TextBox 134"/>
          <p:cNvSpPr txBox="1"/>
          <p:nvPr/>
        </p:nvSpPr>
        <p:spPr>
          <a:xfrm>
            <a:off x="7269480" y="28300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Missouri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372600" y="28300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14.2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058400" y="284378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+2.0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744200" y="2843784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20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6355080" y="3127248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6373368" y="315925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18</a:t>
            </a:r>
          </a:p>
        </p:txBody>
      </p:sp>
      <p:sp>
        <p:nvSpPr>
          <p:cNvPr id="141" name="Oval 140"/>
          <p:cNvSpPr/>
          <p:nvPr/>
        </p:nvSpPr>
        <p:spPr>
          <a:xfrm>
            <a:off x="6903720" y="316382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2" name="Picture 141" descr="pennstate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931152" y="3191256"/>
            <a:ext cx="201168" cy="201168"/>
          </a:xfrm>
          <a:prstGeom prst="rect">
            <a:avLst/>
          </a:prstGeom>
        </p:spPr>
      </p:pic>
      <p:sp>
        <p:nvSpPr>
          <p:cNvPr id="143" name="TextBox 142"/>
          <p:cNvSpPr txBox="1"/>
          <p:nvPr/>
        </p:nvSpPr>
        <p:spPr>
          <a:xfrm>
            <a:off x="7269480" y="315925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Penn State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372600" y="315925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13.7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058400" y="317296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CADCFC"/>
                </a:solidFill>
                <a:latin typeface="Arial"/>
              </a:rPr>
              <a:t>0.0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0744200" y="317296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373368" y="348843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19</a:t>
            </a:r>
          </a:p>
        </p:txBody>
      </p:sp>
      <p:sp>
        <p:nvSpPr>
          <p:cNvPr id="148" name="Oval 147"/>
          <p:cNvSpPr/>
          <p:nvPr/>
        </p:nvSpPr>
        <p:spPr>
          <a:xfrm>
            <a:off x="6903720" y="349300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byu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31152" y="3520439"/>
            <a:ext cx="201168" cy="201168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7269480" y="348843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BYU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72600" y="34884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10058400" y="3502151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0744200" y="3502151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11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6355080" y="3785616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373368" y="381762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20</a:t>
            </a:r>
          </a:p>
        </p:txBody>
      </p:sp>
      <p:sp>
        <p:nvSpPr>
          <p:cNvPr id="156" name="Oval 155"/>
          <p:cNvSpPr/>
          <p:nvPr/>
        </p:nvSpPr>
        <p:spPr>
          <a:xfrm>
            <a:off x="6903720" y="382219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7" name="Picture 156" descr="michigan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6931152" y="3849624"/>
            <a:ext cx="201168" cy="201168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7269480" y="38176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Michigan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372600" y="38176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13.2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0058400" y="383133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-2.7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0744200" y="3831336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19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73368" y="4146804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21</a:t>
            </a:r>
          </a:p>
        </p:txBody>
      </p:sp>
      <p:sp>
        <p:nvSpPr>
          <p:cNvPr id="163" name="Oval 162"/>
          <p:cNvSpPr/>
          <p:nvPr/>
        </p:nvSpPr>
        <p:spPr>
          <a:xfrm>
            <a:off x="6903720" y="4151376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4" name="Picture 163" descr="utah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931152" y="4178808"/>
            <a:ext cx="201168" cy="201168"/>
          </a:xfrm>
          <a:prstGeom prst="rect">
            <a:avLst/>
          </a:prstGeom>
        </p:spPr>
      </p:pic>
      <p:sp>
        <p:nvSpPr>
          <p:cNvPr id="165" name="TextBox 164"/>
          <p:cNvSpPr txBox="1"/>
          <p:nvPr/>
        </p:nvSpPr>
        <p:spPr>
          <a:xfrm>
            <a:off x="7269480" y="414680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Utah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9372600" y="4146804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12.8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058400" y="416052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+4.3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0744200" y="416052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17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6355080" y="4443983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6373368" y="4475988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22</a:t>
            </a:r>
          </a:p>
        </p:txBody>
      </p:sp>
      <p:sp>
        <p:nvSpPr>
          <p:cNvPr id="171" name="Oval 170"/>
          <p:cNvSpPr/>
          <p:nvPr/>
        </p:nvSpPr>
        <p:spPr>
          <a:xfrm>
            <a:off x="6903720" y="4480559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2" name="Picture 171" descr="auburn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931152" y="4507992"/>
            <a:ext cx="201168" cy="201168"/>
          </a:xfrm>
          <a:prstGeom prst="rect">
            <a:avLst/>
          </a:prstGeom>
        </p:spPr>
      </p:pic>
      <p:sp>
        <p:nvSpPr>
          <p:cNvPr id="173" name="TextBox 172"/>
          <p:cNvSpPr txBox="1"/>
          <p:nvPr/>
        </p:nvSpPr>
        <p:spPr>
          <a:xfrm>
            <a:off x="7269480" y="447598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Auburn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9372600" y="44759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12.6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0058400" y="4489703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+0.7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0744200" y="4489703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6373368" y="4805172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23</a:t>
            </a:r>
          </a:p>
        </p:txBody>
      </p:sp>
      <p:sp>
        <p:nvSpPr>
          <p:cNvPr id="178" name="Oval 177"/>
          <p:cNvSpPr/>
          <p:nvPr/>
        </p:nvSpPr>
        <p:spPr>
          <a:xfrm>
            <a:off x="6903720" y="480974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9" name="Picture 178" descr="virginia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6931152" y="4837176"/>
            <a:ext cx="201168" cy="201168"/>
          </a:xfrm>
          <a:prstGeom prst="rect">
            <a:avLst/>
          </a:prstGeom>
        </p:spPr>
      </p:pic>
      <p:sp>
        <p:nvSpPr>
          <p:cNvPr id="180" name="TextBox 179"/>
          <p:cNvSpPr txBox="1"/>
          <p:nvPr/>
        </p:nvSpPr>
        <p:spPr>
          <a:xfrm>
            <a:off x="7269480" y="480517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Virginia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9372600" y="48051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11.8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10058400" y="4818888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+3.9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10744200" y="4818888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25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6355080" y="5102352"/>
            <a:ext cx="5029200" cy="329184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6373368" y="5134356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24</a:t>
            </a:r>
          </a:p>
        </p:txBody>
      </p:sp>
      <p:sp>
        <p:nvSpPr>
          <p:cNvPr id="186" name="Oval 185"/>
          <p:cNvSpPr/>
          <p:nvPr/>
        </p:nvSpPr>
        <p:spPr>
          <a:xfrm>
            <a:off x="6903720" y="5138928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7" name="Picture 186" descr="smu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931152" y="5166360"/>
            <a:ext cx="201168" cy="201168"/>
          </a:xfrm>
          <a:prstGeom prst="rect">
            <a:avLst/>
          </a:prstGeom>
        </p:spPr>
      </p:pic>
      <p:sp>
        <p:nvSpPr>
          <p:cNvPr id="188" name="TextBox 187"/>
          <p:cNvSpPr txBox="1"/>
          <p:nvPr/>
        </p:nvSpPr>
        <p:spPr>
          <a:xfrm>
            <a:off x="7269480" y="51343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SMU</a:t>
            </a:r>
          </a:p>
        </p:txBody>
      </p:sp>
      <p:sp>
        <p:nvSpPr>
          <p:cNvPr id="189" name="TextBox 188"/>
          <p:cNvSpPr txBox="1"/>
          <p:nvPr/>
        </p:nvSpPr>
        <p:spPr>
          <a:xfrm>
            <a:off x="9372600" y="5134356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11.4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10058400" y="5148072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+0.3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10744200" y="5148072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AP 16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6373368" y="5463540"/>
            <a:ext cx="411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25</a:t>
            </a:r>
          </a:p>
        </p:txBody>
      </p:sp>
      <p:sp>
        <p:nvSpPr>
          <p:cNvPr id="193" name="Oval 192"/>
          <p:cNvSpPr/>
          <p:nvPr/>
        </p:nvSpPr>
        <p:spPr>
          <a:xfrm>
            <a:off x="6903720" y="546811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4" name="Picture 193" descr="southcarolina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1152" y="5495544"/>
            <a:ext cx="201168" cy="201168"/>
          </a:xfrm>
          <a:prstGeom prst="rect">
            <a:avLst/>
          </a:prstGeom>
        </p:spPr>
      </p:pic>
      <p:sp>
        <p:nvSpPr>
          <p:cNvPr id="195" name="TextBox 194"/>
          <p:cNvSpPr txBox="1"/>
          <p:nvPr/>
        </p:nvSpPr>
        <p:spPr>
          <a:xfrm>
            <a:off x="7269480" y="54635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Arial"/>
              </a:rPr>
              <a:t>South Carolina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9372600" y="5463540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0" i="0">
                <a:solidFill>
                  <a:srgbClr val="FFFFFF"/>
                </a:solidFill>
                <a:latin typeface="Arial"/>
              </a:rPr>
              <a:t>10.9</a:t>
            </a:r>
          </a:p>
        </p:txBody>
      </p:sp>
      <p:sp>
        <p:nvSpPr>
          <p:cNvPr id="197" name="TextBox 196"/>
          <p:cNvSpPr txBox="1"/>
          <p:nvPr/>
        </p:nvSpPr>
        <p:spPr>
          <a:xfrm>
            <a:off x="10058400" y="5477255"/>
            <a:ext cx="685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198" name="TextBox 197"/>
          <p:cNvSpPr txBox="1"/>
          <p:nvPr/>
        </p:nvSpPr>
        <p:spPr>
          <a:xfrm>
            <a:off x="10744200" y="5477255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CADCFC"/>
                </a:solidFill>
                <a:latin typeface="Arial"/>
              </a:rPr>
              <a:t>NR</a:t>
            </a:r>
          </a:p>
        </p:txBody>
      </p:sp>
      <p:sp>
        <p:nvSpPr>
          <p:cNvPr id="199" name="Rounded Rectangle 198"/>
          <p:cNvSpPr/>
          <p:nvPr/>
        </p:nvSpPr>
        <p:spPr>
          <a:xfrm>
            <a:off x="822960" y="6163056"/>
            <a:ext cx="1056132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TextBox 199"/>
          <p:cNvSpPr txBox="1"/>
          <p:nvPr/>
        </p:nvSpPr>
        <p:spPr>
          <a:xfrm>
            <a:off x="1005840" y="6208776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Biggest splits: Oregon #11 vs AP #21 · Oklahoma #15 vs AP #24 · BYU #19 vs AP #11</a:t>
            </a:r>
          </a:p>
        </p:txBody>
      </p:sp>
      <p:sp>
        <p:nvSpPr>
          <p:cNvPr id="201" name="TextBox 200"/>
          <p:cNvSpPr txBox="1"/>
          <p:nvPr/>
        </p:nvSpPr>
        <p:spPr>
          <a:xfrm>
            <a:off x="1005840" y="64556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Ours, not theirs: Florida, Auburn, South Carolina   ·   Theirs, not ours: Iowa, Houston, Louisville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THE SEAT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Hot Seat Top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60% CBS rating + 40% machine odds of missing the 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560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COACH · SCHOOL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1673352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TENURE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235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CBS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P(GETS IT)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1673352"/>
            <a:ext cx="868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MACHINE WINS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673352"/>
            <a:ext cx="4572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60" y="1673352"/>
            <a:ext cx="5029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1673352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LAST RESULT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568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476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florida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79676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19568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Norvell · Florida State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19842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38-34, yr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19659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8 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9659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20%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19659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19842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23960" y="1956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92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9842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24-27 vs SMU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23225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8" name="Oval 27"/>
          <p:cNvSpPr/>
          <p:nvPr/>
        </p:nvSpPr>
        <p:spPr>
          <a:xfrm>
            <a:off x="1234440" y="23134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rutg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345436"/>
            <a:ext cx="210312" cy="2103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1600200" y="23225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Greg Schiano · Rutgers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3500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31-41 2nd stint, yr 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3.0*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23317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3317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06640" y="23317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3.4 (2–5)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23500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-7.7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60" y="23225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23500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21-28 at Boston College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22960" y="263347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26883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1" name="Oval 40"/>
          <p:cNvSpPr/>
          <p:nvPr/>
        </p:nvSpPr>
        <p:spPr>
          <a:xfrm>
            <a:off x="1234440" y="2679191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bay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2711196"/>
            <a:ext cx="210312" cy="21031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600200" y="26883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Aranda · Baylor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06240" y="27157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36-37, yr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2356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2697479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720840" y="2697479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06640" y="2697479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7.1 (5–9)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21040" y="27157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23960" y="26883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418320" y="27157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44-3 vs Prairie View A&amp;M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60" y="3054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3" name="Oval 52"/>
          <p:cNvSpPr/>
          <p:nvPr/>
        </p:nvSpPr>
        <p:spPr>
          <a:xfrm>
            <a:off x="1234440" y="30449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4" name="Picture 53" descr="wiscons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076956"/>
            <a:ext cx="210312" cy="210312"/>
          </a:xfrm>
          <a:prstGeom prst="rect">
            <a:avLst/>
          </a:prstGeom>
        </p:spPr>
      </p:pic>
      <p:sp>
        <p:nvSpPr>
          <p:cNvPr id="55" name="TextBox 54"/>
          <p:cNvSpPr txBox="1"/>
          <p:nvPr/>
        </p:nvSpPr>
        <p:spPr>
          <a:xfrm>
            <a:off x="1600200" y="30540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Luke Fickell · Wisconsin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206240" y="30815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17-21, yr 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2356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72200" y="30632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720840" y="3063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67%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30632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6.2 (4–8)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0815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-2.0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23960" y="30540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418320" y="30815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36-9 vs Western Illinois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" y="336499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2960" y="34198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66" name="Oval 65"/>
          <p:cNvSpPr/>
          <p:nvPr/>
        </p:nvSpPr>
        <p:spPr>
          <a:xfrm>
            <a:off x="1234440" y="34107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7" name="Picture 66" descr="marylan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3442716"/>
            <a:ext cx="210312" cy="210312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1600200" y="34198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Mike Locksley · Maryland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206240" y="34472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37-49, yr 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6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72200" y="34290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720840" y="34290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5CD68A"/>
                </a:solidFill>
                <a:latin typeface="Arial"/>
              </a:rPr>
              <a:t>65%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406640" y="34290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6.1 (4–8)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21040" y="34472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+2.9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823960" y="341985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418320" y="34472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38-14 at UConn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2960" y="378561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6</a:t>
            </a:r>
          </a:p>
        </p:txBody>
      </p:sp>
      <p:sp>
        <p:nvSpPr>
          <p:cNvPr id="78" name="Oval 77"/>
          <p:cNvSpPr/>
          <p:nvPr/>
        </p:nvSpPr>
        <p:spPr>
          <a:xfrm>
            <a:off x="1234440" y="377647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66444" y="3808476"/>
            <a:ext cx="210312" cy="210312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600200" y="378561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Shane Beamer · South Carolina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381304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33-30, yr 6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2356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4.3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37947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720840" y="379476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50%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406640" y="379476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6.5 (5–8)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21040" y="38130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-0.8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23960" y="378561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18320" y="381304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45-9 vs Towson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409651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22960" y="415137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7</a:t>
            </a:r>
          </a:p>
        </p:txBody>
      </p:sp>
      <p:sp>
        <p:nvSpPr>
          <p:cNvPr id="91" name="Oval 90"/>
          <p:cNvSpPr/>
          <p:nvPr/>
        </p:nvSpPr>
        <p:spPr>
          <a:xfrm>
            <a:off x="1234440" y="414223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2" name="Picture 91" descr="clemso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66444" y="4174236"/>
            <a:ext cx="210312" cy="210312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600200" y="415137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Dabo Swinney · Clemson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4206240" y="417880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186-53, yr 18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62356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172200" y="41605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9 W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720840" y="416052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17%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406640" y="416052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7.0 (5–9)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321040" y="417880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-5.0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823960" y="415137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70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418320" y="417880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22-7 vs Georgia Southern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22960" y="451713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8</a:t>
            </a:r>
          </a:p>
        </p:txBody>
      </p:sp>
      <p:sp>
        <p:nvSpPr>
          <p:cNvPr id="103" name="Oval 102"/>
          <p:cNvSpPr/>
          <p:nvPr/>
        </p:nvSpPr>
        <p:spPr>
          <a:xfrm>
            <a:off x="1234440" y="450799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bostoncolle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66444" y="4539996"/>
            <a:ext cx="210312" cy="210312"/>
          </a:xfrm>
          <a:prstGeom prst="rect">
            <a:avLst/>
          </a:prstGeom>
        </p:spPr>
      </p:pic>
      <p:sp>
        <p:nvSpPr>
          <p:cNvPr id="105" name="TextBox 104"/>
          <p:cNvSpPr txBox="1"/>
          <p:nvPr/>
        </p:nvSpPr>
        <p:spPr>
          <a:xfrm>
            <a:off x="1600200" y="451713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Bill O'Brien · Boston College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06240" y="454456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9-16, yr 3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2356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3.5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172200" y="4526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5 W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720840" y="452628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35%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406640" y="45262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3.9 (2–6)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8321040" y="454456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-1.6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23960" y="451713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68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9418320" y="454456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28-21 vs Rutgers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822960" y="4828032"/>
            <a:ext cx="10515600" cy="365760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22960" y="48828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9</a:t>
            </a:r>
          </a:p>
        </p:txBody>
      </p:sp>
      <p:sp>
        <p:nvSpPr>
          <p:cNvPr id="116" name="Oval 115"/>
          <p:cNvSpPr/>
          <p:nvPr/>
        </p:nvSpPr>
        <p:spPr>
          <a:xfrm>
            <a:off x="1234440" y="487375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116" descr="middletennesse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66444" y="4905756"/>
            <a:ext cx="210312" cy="21031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1600200" y="48828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Derek Mason · Middle Tennessee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4206240" y="491032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3-9 in 2024, yr 3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2356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3.6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172200" y="48920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6 W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720840" y="48920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40%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7406640" y="489204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5.1 (3–7)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21040" y="491032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5CD68A"/>
                </a:solidFill>
                <a:latin typeface="Arial"/>
              </a:rPr>
              <a:t>+1.5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823960" y="488289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67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418320" y="491032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L 26-28 at Marshall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822960" y="5248655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10</a:t>
            </a:r>
          </a:p>
        </p:txBody>
      </p:sp>
      <p:sp>
        <p:nvSpPr>
          <p:cNvPr id="128" name="Oval 127"/>
          <p:cNvSpPr/>
          <p:nvPr/>
        </p:nvSpPr>
        <p:spPr>
          <a:xfrm>
            <a:off x="1234440" y="52395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9" name="Picture 128" descr="ncsta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66444" y="5271516"/>
            <a:ext cx="210312" cy="210312"/>
          </a:xfrm>
          <a:prstGeom prst="rect">
            <a:avLst/>
          </a:prstGeom>
        </p:spPr>
      </p:pic>
      <p:sp>
        <p:nvSpPr>
          <p:cNvPr id="130" name="TextBox 129"/>
          <p:cNvSpPr txBox="1"/>
          <p:nvPr/>
        </p:nvSpPr>
        <p:spPr>
          <a:xfrm>
            <a:off x="1600200" y="5248655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Dave Doeren · NC State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206240" y="5276088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yr 14 - 6-7 and 6-6 the last two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62356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FFFF"/>
                </a:solidFill>
                <a:latin typeface="Arial"/>
              </a:rPr>
              <a:t>3.0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172200" y="5257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Arial"/>
              </a:rPr>
              <a:t>7 W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720840" y="52578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FF7A7A"/>
                </a:solidFill>
                <a:latin typeface="Arial"/>
              </a:rPr>
              <a:t>30%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406640" y="525780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5.7 (4–8)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321040" y="527608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FF7A7A"/>
                </a:solidFill>
                <a:latin typeface="Arial"/>
              </a:rPr>
              <a:t>-3.9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823960" y="5248655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64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418320" y="5276088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 73-0 vs Richmond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822960" y="5669280"/>
            <a:ext cx="10515600" cy="56692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5840" y="572414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Next three: P.J. Fleck 62 · Bill Belichick 62 · Bryant Vincent 62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05840" y="596188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CADCFC"/>
                </a:solidFill>
                <a:latin typeface="Arial"/>
              </a:rPr>
              <a:t>NEEDS = wins that keep the job · P(GETS IT) = the machine's odds · MACHINE WINS = projected (10th–90th)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8404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OUR HEISMAN 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9494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Our Heisman Favorite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Arial"/>
              </a:rPr>
              <a:t>Team factor × QB efficiency (PPA per play) · market = DraftKings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673352"/>
            <a:ext cx="2468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 i="0">
                <a:solidFill>
                  <a:srgbClr val="CADCFC"/>
                </a:solidFill>
                <a:latin typeface="Arial"/>
              </a:rPr>
              <a:t>QUARTERBACK ·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7335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2026 PPA (PLAYS)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57800" y="1673352"/>
            <a:ext cx="7315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2025 PRIOR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BLEND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TEAM P(10+)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89520" y="1673352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INDEX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16733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MKT RANK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1673352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1" i="0">
                <a:solidFill>
                  <a:srgbClr val="CADCFC"/>
                </a:solidFill>
                <a:latin typeface="Arial"/>
              </a:rPr>
              <a:t>MAN VS MACHINE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1901952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9385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1</a:t>
            </a:r>
          </a:p>
        </p:txBody>
      </p:sp>
      <p:sp>
        <p:nvSpPr>
          <p:cNvPr id="16" name="Oval 15"/>
          <p:cNvSpPr/>
          <p:nvPr/>
        </p:nvSpPr>
        <p:spPr>
          <a:xfrm>
            <a:off x="1234440" y="1929384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iam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444" y="1961388"/>
            <a:ext cx="210312" cy="2103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600200" y="2185416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41-of-45, 653 yards, 8 TD, 0 INT through two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938528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Darian Mensah · Miami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9476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1.133 (48)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194767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0.371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194767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0.556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520" y="1938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48.5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+550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1947672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12680" y="1947672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25054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2</a:t>
            </a:r>
          </a:p>
        </p:txBody>
      </p:sp>
      <p:sp>
        <p:nvSpPr>
          <p:cNvPr id="29" name="Oval 28"/>
          <p:cNvSpPr/>
          <p:nvPr/>
        </p:nvSpPr>
        <p:spPr>
          <a:xfrm>
            <a:off x="1234440" y="2496312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india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6444" y="2528316"/>
            <a:ext cx="210312" cy="21031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600200" y="2752344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19-of-27, 376 yards, 8 TD, 0 INT through two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2505456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Josh Hoover · Indiana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0" y="25146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1.424 (29)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57800" y="251460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0.353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0" y="25146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79%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89520" y="2505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47.1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+1700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25146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12680" y="2514600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2960" y="3035808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" y="30723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3</a:t>
            </a:r>
          </a:p>
        </p:txBody>
      </p:sp>
      <p:sp>
        <p:nvSpPr>
          <p:cNvPr id="43" name="Oval 42"/>
          <p:cNvSpPr/>
          <p:nvPr/>
        </p:nvSpPr>
        <p:spPr>
          <a:xfrm>
            <a:off x="1234440" y="3063240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notreda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66444" y="3095244"/>
            <a:ext cx="210312" cy="2103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1600200" y="3319272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35-of-49, 492 yards, 6 TD, 0 INT · 253 and 4 TD vs Rice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00200" y="3072384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C.J. Carr · Notre Dame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0" y="30815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0.614 (51)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08152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0.433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35040" y="308152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0.479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86%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3072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44.4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+1050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44000" y="3081528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012680" y="3081528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agree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2960" y="36393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4</a:t>
            </a:r>
          </a:p>
        </p:txBody>
      </p:sp>
      <p:sp>
        <p:nvSpPr>
          <p:cNvPr id="56" name="Oval 55"/>
          <p:cNvSpPr/>
          <p:nvPr/>
        </p:nvSpPr>
        <p:spPr>
          <a:xfrm>
            <a:off x="1234440" y="3630168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ohiosta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66444" y="3662172"/>
            <a:ext cx="210312" cy="210312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1600200" y="3886200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38-of-57, 598 yards, 4 TD, 1 INT · 278 in the loss at Texas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3639312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Julian Sayin · Ohio State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14800" y="36484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0.616 (64)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36484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0.545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36484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72084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52%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363931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43.1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27532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+1500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44000" y="3648456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#7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12680" y="364845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22960" y="4169664"/>
            <a:ext cx="10515600" cy="566928"/>
          </a:xfrm>
          <a:prstGeom prst="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2960" y="420624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>
                <a:solidFill>
                  <a:srgbClr val="F47321"/>
                </a:solidFill>
                <a:latin typeface="Arial"/>
              </a:rPr>
              <a:t>5</a:t>
            </a:r>
          </a:p>
        </p:txBody>
      </p:sp>
      <p:sp>
        <p:nvSpPr>
          <p:cNvPr id="70" name="Oval 69"/>
          <p:cNvSpPr/>
          <p:nvPr/>
        </p:nvSpPr>
        <p:spPr>
          <a:xfrm>
            <a:off x="1234440" y="4197096"/>
            <a:ext cx="274320" cy="27432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usc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444" y="4229100"/>
            <a:ext cx="210312" cy="210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600200" y="4453128"/>
            <a:ext cx="9692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67-of-83, 896 yards, 10 TD, 1 INT through three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600200" y="420624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Jayden Maiava · USC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0" y="42153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0.651 (90)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257800" y="42153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0.517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035040" y="421538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0.567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72084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16%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589520" y="420624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250" b="1" i="0">
                <a:solidFill>
                  <a:srgbClr val="F47321"/>
                </a:solidFill>
                <a:latin typeface="Arial"/>
              </a:rPr>
              <a:t>32.9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7532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FFFFFF"/>
                </a:solidFill>
                <a:latin typeface="Arial"/>
              </a:rPr>
              <a:t>+1900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44000" y="4215384"/>
            <a:ext cx="822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0" i="0">
                <a:solidFill>
                  <a:srgbClr val="CADCFC"/>
                </a:solidFill>
                <a:latin typeface="Arial"/>
              </a:rPr>
              <a:t>#9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12680" y="4215384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1" i="0">
                <a:solidFill>
                  <a:srgbClr val="5CD68A"/>
                </a:solidFill>
                <a:latin typeface="Arial"/>
              </a:rPr>
              <a:t>market too low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" y="4773168"/>
            <a:ext cx="10515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CADCFC"/>
                </a:solidFill>
                <a:latin typeface="Arial"/>
              </a:rPr>
              <a:t>Next up: Devon Dampier 31.5 · Will Hammond 29.8 · Kevin Jennings 29.3 · Lincoln Kienholz 27.2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22960" y="5102352"/>
            <a:ext cx="10515600" cy="65836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97280" y="51937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0A2851"/>
                </a:solidFill>
                <a:latin typeface="Arial"/>
              </a:rPr>
              <a:t>★ OUR FAVORITE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657600" y="5175504"/>
            <a:ext cx="74980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Arial"/>
              </a:rPr>
              <a:t>Darian Mensah, Miami · index 48.5 · market +550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0" y="587959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Arial"/>
              </a:rPr>
              <a:t>Non-QB watch: Jeremiah Smith (+650) · Malachi Toney (+1300) · Ryan Wingo · Trent Mosley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Arial"/>
              </a:rPr>
              <a:t>PPA = predicted points added per play · re-computes every rebuild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7724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WEEK 3 · SEP 18–19, 2026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Arial"/>
              </a:rPr>
              <a:t>Five Games, One Card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" y="2340864"/>
            <a:ext cx="438912" cy="438912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91640" y="228600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504" y="2340864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68880" y="2286000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615184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Lubbock · Jones AT&amp;T Stadium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22860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Texas Tech –13   ·   –7.5 / –7.5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62432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999232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0058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0704" y="3145536"/>
            <a:ext cx="438912" cy="438912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1691640" y="3090672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46504" y="3145536"/>
            <a:ext cx="438912" cy="4389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468880" y="3090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3419856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Louisville · L&amp;N Federal Credit Union Stadium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09067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Louisville –1   ·   –1.5 / –1.5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342900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03904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58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0704" y="3950207"/>
            <a:ext cx="438912" cy="438912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1691640" y="3895344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46504" y="3950207"/>
            <a:ext cx="438912" cy="43891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468880" y="3895344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80" y="4224528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Columbia · Williams-Brice Stadium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9534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South Carolina –5   ·   –4 / –3.5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423367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4608576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058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" y="4754879"/>
            <a:ext cx="438912" cy="438912"/>
          </a:xfrm>
          <a:prstGeom prst="rect">
            <a:avLst/>
          </a:prstGeom>
        </p:spPr>
      </p:pic>
      <p:sp>
        <p:nvSpPr>
          <p:cNvPr id="34" name="Oval 33"/>
          <p:cNvSpPr/>
          <p:nvPr/>
        </p:nvSpPr>
        <p:spPr>
          <a:xfrm>
            <a:off x="1691640" y="4700016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46504" y="4754879"/>
            <a:ext cx="438912" cy="438912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2468880" y="4700016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468880" y="5029200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Auburn · Jordan-Hare Stadium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470001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Auburn –0.5   ·   +2.5 / +2.5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80960" y="503834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2960" y="5413248"/>
            <a:ext cx="10515600" cy="731520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0058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" y="5559551"/>
            <a:ext cx="438912" cy="438912"/>
          </a:xfrm>
          <a:prstGeom prst="rect">
            <a:avLst/>
          </a:prstGeom>
        </p:spPr>
      </p:pic>
      <p:sp>
        <p:nvSpPr>
          <p:cNvPr id="43" name="Oval 42"/>
          <p:cNvSpPr/>
          <p:nvPr/>
        </p:nvSpPr>
        <p:spPr>
          <a:xfrm>
            <a:off x="1691640" y="5504688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4" name="Picture 43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746504" y="5559551"/>
            <a:ext cx="438912" cy="43891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468880" y="5504688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68880" y="5833872"/>
            <a:ext cx="5943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ADCFC"/>
                </a:solidFill>
                <a:latin typeface="Arial"/>
              </a:rPr>
              <a:t>Oxford · Vaught-Hemingway Stadium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680960" y="5504688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50" b="1" i="0">
                <a:solidFill>
                  <a:srgbClr val="F47321"/>
                </a:solidFill>
                <a:latin typeface="Arial"/>
              </a:rPr>
              <a:t>LSU –5   ·   +3 / +3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80960" y="58430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machine · market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2636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Machine = our in-season rating + 2.5 home field · lines as of Sep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0A2851"/>
                </a:solidFill>
                <a:latin typeface="Arial"/>
              </a:rPr>
              <a:t>Week 2 — the receipts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8755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C6B7E"/>
                </a:solidFill>
                <a:latin typeface="Arial"/>
              </a:rPr>
              <a:t>Calls frozen at recording · closing line = last pre-kick pull · off by = miss vs the final margin · deserved = the efficiency margin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17320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ohio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1536192"/>
            <a:ext cx="548640" cy="548640"/>
          </a:xfrm>
          <a:prstGeom prst="rect">
            <a:avLst/>
          </a:prstGeom>
        </p:spPr>
      </p:pic>
      <p:pic>
        <p:nvPicPr>
          <p:cNvPr id="6" name="Picture 5" descr="tex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5920" y="1536192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377440" y="1499616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Ohio State at Texas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40" y="183794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27–23 · FINAL Texas 24–23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51790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–3.5 · closing Texas –1.5 · deserved TEX +5.6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81965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5121B"/>
                </a:solidFill>
                <a:latin typeface="Arial"/>
              </a:rPr>
              <a:t>machine off by 2.5 · market off by 0.5 — market closer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276856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oklahom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395728"/>
            <a:ext cx="548640" cy="548640"/>
          </a:xfrm>
          <a:prstGeom prst="rect">
            <a:avLst/>
          </a:prstGeom>
        </p:spPr>
      </p:pic>
      <p:pic>
        <p:nvPicPr>
          <p:cNvPr id="13" name="Picture 12" descr="michig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5920" y="2395728"/>
            <a:ext cx="548640" cy="548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377440" y="2359152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Oklahoma at Michigan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69748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Oklahoma 23–21 · FINAL Michigan 17–10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774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Oklahoma –2 · closing Oklahoma –5.5 · deserved MICH +0.8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20840" y="267919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9 · market off by 12.5 — machine closer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36392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arizona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255264"/>
            <a:ext cx="548640" cy="548640"/>
          </a:xfrm>
          <a:prstGeom prst="rect">
            <a:avLst/>
          </a:prstGeom>
        </p:spPr>
      </p:pic>
      <p:pic>
        <p:nvPicPr>
          <p:cNvPr id="20" name="Picture 19" descr="texasam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5920" y="3255264"/>
            <a:ext cx="548640" cy="548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377440" y="3218688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State at Texas A&amp;M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355701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Texas A&amp;M 34–17 · FINAL Texas A&amp;M 48–20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20840" y="3236976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Texas A&amp;M –16.5 · closing Texas A&amp;M –14.5 · deserved TAMU +15.1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53872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11.5 · market off by 13.5 — machine closer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995928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arizon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114800"/>
            <a:ext cx="548640" cy="548640"/>
          </a:xfrm>
          <a:prstGeom prst="rect">
            <a:avLst/>
          </a:prstGeom>
        </p:spPr>
      </p:pic>
      <p:pic>
        <p:nvPicPr>
          <p:cNvPr id="27" name="Picture 26" descr="byu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5920" y="4114800"/>
            <a:ext cx="548640" cy="54864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377440" y="4078224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Arizona at BYU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4416552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BYU 28–20 · FINAL BYU 28–17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0965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BYU –8.5 · closing BYU –7.5 · deserved BYU +16.4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39826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2.5 · market off by 3.5 — machine closer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55464"/>
            <a:ext cx="10515600" cy="786384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alabama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4336"/>
            <a:ext cx="548640" cy="548640"/>
          </a:xfrm>
          <a:prstGeom prst="rect">
            <a:avLst/>
          </a:prstGeom>
        </p:spPr>
      </p:pic>
      <p:pic>
        <p:nvPicPr>
          <p:cNvPr id="34" name="Picture 33" descr="kentuck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5920" y="4974336"/>
            <a:ext cx="548640" cy="5486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377440" y="4937760"/>
            <a:ext cx="43891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6273D"/>
                </a:solidFill>
                <a:latin typeface="Arial"/>
              </a:rPr>
              <a:t>Alabama at Kentucky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7608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6273D"/>
                </a:solidFill>
                <a:latin typeface="Arial"/>
              </a:rPr>
              <a:t>we called Alabama 31–18 · FINAL Alabama 45–17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0840" y="495604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C6B7E"/>
                </a:solidFill>
                <a:latin typeface="Arial"/>
              </a:rPr>
              <a:t>our line Alabama –13 · closing Alabama –10 · deserved BAMA +22.4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525780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47321"/>
                </a:solidFill>
                <a:latin typeface="Arial"/>
              </a:rPr>
              <a:t>machine off by 15 · market off by 18 — machine closer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760720"/>
            <a:ext cx="10515600" cy="777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51560" y="5833872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Arial"/>
              </a:rPr>
              <a:t>Machine 40.5 · market 48.0 · machine closer in 4, market 1, 0 tie · vs the deserved margins: machine 23.6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6172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Arial"/>
              </a:rPr>
              <a:t>Season: machine 161.0 vs market 167.0 across 15 games · stated leans 4–2 · Michigan +5.5 won outright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Houston at Texas Tech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Fri Sep 18 · 8:00 ET · Lubbock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Big 12's first litmus test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Fritz's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Hammond after the scare in Corvallis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Four straight for Tech in the series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5.5 to Tech — a small lean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Texas Tech –13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Texas Tech –380 · Houston +380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Texas Tech +13.0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–7.5 / –7.5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Bov Texas Tech -300 / Houston +270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C810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2383840" cy="365760"/>
          </a:xfrm>
          <a:prstGeom prst="round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TTU 79%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21% HOU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Houston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Fritz, year 3 · the year-three pattern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Weigman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81% back · 18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Weigman's legs vs the rebuilt front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Run it 45 times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Make Hammond throw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trenches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exas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Texas 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Houston at Texas Tech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McGuire, year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Hammond, back from the ACL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53% back · portal-built defense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Hammond's second real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J'Koby Williams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portal defense vs a real offense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Finish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Houston at Texas Tech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louisvi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SMU at Louisville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3:30 ET · Louisville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The ACC's biggest non-Miami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Jennings, year three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Brohm's coin-flip problem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Both offenses score fast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Machine = market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Louisville –1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Louisville –115 · SMU +115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Louisville +1.1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–1.5 / –1.5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Louisville -115 / SMU -105 · Bov Louisville -115 / SMU -105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33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629460" cy="365760"/>
          </a:xfrm>
          <a:prstGeom prst="roundRect">
            <a:avLst/>
          </a:prstGeom>
          <a:solidFill>
            <a:srgbClr val="AD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LOU 54%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46% SMU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m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SMU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Lashlee, year 5 · coordinator troikas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Jennings, year-three starter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57% back · 15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Jennings vs the bust-prone back end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Jennings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takeaway ledger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Explosives, not long drives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uisvi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Louisville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SMU at Louisville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Brohm, year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Kienholz, third QB1 in three years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35% back · 33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Ride the Browns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No coverage busts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Kienholz keeps it clean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one-score game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SMU at Louisville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southcarolin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4:15 ET · Columbia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hot seats, one game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Kamario Taylor's breakout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Sellers hasn't thrown yet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Arnett's defense, back in Starkville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0.9 to South Carolina — no play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rial"/>
              </a:rPr>
              <a:t>South Carolina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rial"/>
              </a:rPr>
              <a:t>South Carolina –169 · Mississippi State +169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South Carolina +4.9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–4 / –3.5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South Carolina -180 / Mississippi State +150 · Bov South Carolina -165 / Mississippi State +140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5D1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901037" cy="365760"/>
          </a:xfrm>
          <a:prstGeom prst="roundRect">
            <a:avLst/>
          </a:prstGeom>
          <a:solidFill>
            <a:srgbClr val="7300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SCAR 63%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37% MSST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ississippi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Mississippi State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Lebby, year 3 · Arnett DC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Kamario Taylor, sophomore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34%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Taylor's legs and arm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Bothwell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Arnett's defense vs Sellers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Win the turnover ledger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outhcarol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South Carolina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Mississippi State at South Carolina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Beamer, year 6 · new OC Briles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Sellers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26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Sellers throw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Sellers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Harbor deep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Stewart off the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Mississippi State at South Carolina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aubu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Florida at Auburn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7:00 ET · Auburn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Two first-year coaches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Auburn's rebuilt lines vs Florida's front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Byrum Brown vs Aaron Philo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Jordan-Hare at night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Lean Auburn +2.5 — research, not a position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Auburn –0.5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Auburn –110 · Florida +110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Auburn +0.7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+2.5 / +2.5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Auburn +120 / Florida -142 · Bov Auburn +115 / Florida -135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0021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569110" cy="365760"/>
          </a:xfrm>
          <a:prstGeom prst="roundRect">
            <a:avLst/>
          </a:prstGeom>
          <a:solidFill>
            <a:srgbClr val="0C24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AUB 52%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48% FLA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lori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Florida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Sumrall (Tulane)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Aaron Philo, RS freshman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69% back · 27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Philo's first road start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Baugh downhill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White's front vs Brown's legs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Fourth-down conviction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aubu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Auburn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Florida at Auburn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Golesh · Durkin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Byrum Brown (USF)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14% back · 39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Brown's legs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Ball security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Durkin's defense at home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Tempo without turnovers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Florida at Auburn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84048"/>
            <a:ext cx="731520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664208" y="475488"/>
            <a:ext cx="457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0" i="0">
                <a:solidFill>
                  <a:srgbClr val="5C6B7E"/>
                </a:solidFill>
                <a:latin typeface="Arial"/>
              </a:rPr>
              <a:t>at</a:t>
            </a:r>
          </a:p>
        </p:txBody>
      </p:sp>
      <p:pic>
        <p:nvPicPr>
          <p:cNvPr id="4" name="Picture 3" descr="olemi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384048"/>
            <a:ext cx="731520" cy="731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154680" y="347472"/>
            <a:ext cx="813816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0A2851"/>
                </a:solidFill>
                <a:latin typeface="Arial"/>
              </a:rPr>
              <a:t>LSU at Ole Miss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859536"/>
            <a:ext cx="81381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C6B7E"/>
                </a:solidFill>
                <a:latin typeface="Arial"/>
              </a:rPr>
              <a:t>Sat Sep 19 · 7:30 ET · Oxford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600200"/>
            <a:ext cx="6583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A2851"/>
                </a:solidFill>
                <a:latin typeface="Arial"/>
              </a:rPr>
              <a:t>WHY IT MATTERS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212848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2057400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Kiffin returns to Oxford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2926080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2770632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Home team five straight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639312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88720" y="3483864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Leavitt's three picks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352544"/>
            <a:ext cx="128016" cy="128016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4197096"/>
            <a:ext cx="6217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100" b="1" i="0">
                <a:solidFill>
                  <a:srgbClr val="16273D"/>
                </a:solidFill>
                <a:latin typeface="Arial"/>
              </a:rPr>
              <a:t>55–49 or 24–19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5047488"/>
            <a:ext cx="658368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527608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0A2851"/>
                </a:solidFill>
                <a:latin typeface="Arial"/>
              </a:rPr>
              <a:t>2.2 to LSU — quibble · Monster Under 59.5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1600200"/>
            <a:ext cx="3566160" cy="4206240"/>
          </a:xfrm>
          <a:prstGeom prst="roundRect">
            <a:avLst/>
          </a:prstGeom>
          <a:solidFill>
            <a:srgbClr val="0A28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0" y="181051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47321"/>
                </a:solidFill>
                <a:latin typeface="Arial"/>
              </a:rPr>
              <a:t>THE NUMBER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103120"/>
            <a:ext cx="30175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LSU –5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2596896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Arial"/>
              </a:rPr>
              <a:t>Ole Miss +166 · LSU –166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0" y="2852928"/>
            <a:ext cx="30175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machine line · fair odds, no vig · raw margin LSU +5.2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0" y="3246120"/>
            <a:ext cx="3017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Arial"/>
              </a:rPr>
              <a:t>+3 / +3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0" y="3639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market (DK / Bovada) · DK Ole Miss +130 / LSU -155 · Bov Ole Miss +130 / LSU -165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0690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407408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score prediction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4754880"/>
            <a:ext cx="3017520" cy="365760"/>
          </a:xfrm>
          <a:prstGeom prst="roundRect">
            <a:avLst/>
          </a:prstGeom>
          <a:solidFill>
            <a:srgbClr val="461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0" y="4754880"/>
            <a:ext cx="1146657" cy="365760"/>
          </a:xfrm>
          <a:prstGeom prst="round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19872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  <a:latin typeface="Arial"/>
              </a:rPr>
              <a:t>MISS 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4837176"/>
            <a:ext cx="21945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50" b="1" i="0">
                <a:solidFill>
                  <a:srgbClr val="FFFFFF"/>
                </a:solidFill>
                <a:latin typeface="Arial"/>
              </a:rPr>
              <a:t>62% LSU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46720" y="5175504"/>
            <a:ext cx="3017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CADCFC"/>
                </a:solidFill>
                <a:latin typeface="Arial"/>
              </a:rPr>
              <a:t>win probability (machine)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LSU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Kiffin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Sam Leavitt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21% back · 44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Leavitt's ball security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Protect Leavitt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Baker's front vs Chambliss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Kiffin's tempo in his old 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olemi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502920"/>
            <a:ext cx="1051560" cy="1051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48840" y="603504"/>
            <a:ext cx="905256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0A2851"/>
                </a:solidFill>
                <a:latin typeface="Arial"/>
              </a:rPr>
              <a:t>Ole Miss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148840" y="1225296"/>
            <a:ext cx="9052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C6B7E"/>
                </a:solidFill>
                <a:latin typeface="Arial"/>
              </a:rPr>
              <a:t>What it takes to win · LSU at Ole Miss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783080"/>
            <a:ext cx="10515600" cy="960120"/>
          </a:xfrm>
          <a:prstGeom prst="roundRect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COACH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NEW — Golding, promoted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QB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Chambliss returns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2440" y="1901952"/>
            <a:ext cx="32461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F47321"/>
                </a:solidFill>
                <a:latin typeface="Arial"/>
              </a:rPr>
              <a:t>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2440" y="2139696"/>
            <a:ext cx="3246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73D"/>
                </a:solidFill>
                <a:latin typeface="Arial"/>
              </a:rPr>
              <a:t>50% back · 28 portal adds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291840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108960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Let Chambliss escape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133088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395020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Lacy runs it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4974336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91456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The patched secondary</a:t>
            </a:r>
          </a:p>
        </p:txBody>
      </p:sp>
      <p:sp>
        <p:nvSpPr>
          <p:cNvPr id="18" name="Oval 17"/>
          <p:cNvSpPr/>
          <p:nvPr/>
        </p:nvSpPr>
        <p:spPr>
          <a:xfrm>
            <a:off x="914400" y="5815584"/>
            <a:ext cx="137160" cy="137160"/>
          </a:xfrm>
          <a:prstGeom prst="ellipse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5880" y="5632704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6273D"/>
                </a:solidFill>
                <a:latin typeface="Arial"/>
              </a:rPr>
              <a:t>Special teams 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519672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C6B7E"/>
                </a:solidFill>
                <a:latin typeface="Arial"/>
              </a:rPr>
              <a:t>EP 4 · WEEK 3 · LSU at Ole Miss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8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47321"/>
                </a:solidFill>
                <a:latin typeface="Arial"/>
              </a:rPr>
              <a:t>EPISODE 4 · THE CARD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Arial"/>
              </a:rPr>
              <a:t>Our predictions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0584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houst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388" y="1922068"/>
            <a:ext cx="380390" cy="38039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1600200" y="187451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exaste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7748" y="1922068"/>
            <a:ext cx="380390" cy="3803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286000" y="19385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Houston at Texas Tech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3794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Texas Tech 33 – Houston 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1284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–7.5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51460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584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mu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3388" y="2653588"/>
            <a:ext cx="380390" cy="380390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1600200" y="260604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louisvil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7748" y="2653588"/>
            <a:ext cx="380390" cy="38039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286000" y="267004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SMU at Louisville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56946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Louisville 30 – SMU 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944368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–1.5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246120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00584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ississippista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3388" y="3385108"/>
            <a:ext cx="380390" cy="380390"/>
          </a:xfrm>
          <a:prstGeom prst="rect">
            <a:avLst/>
          </a:prstGeom>
        </p:spPr>
      </p:pic>
      <p:sp>
        <p:nvSpPr>
          <p:cNvPr id="23" name="Oval 22"/>
          <p:cNvSpPr/>
          <p:nvPr/>
        </p:nvSpPr>
        <p:spPr>
          <a:xfrm>
            <a:off x="1600200" y="3337560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outhcarolin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47748" y="3385108"/>
            <a:ext cx="380390" cy="38039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286000" y="34015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Mississippi State at South Carolina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300984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South Carolina 32 – Mississippi State 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67588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–4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97763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0584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flori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3388" y="4116628"/>
            <a:ext cx="380390" cy="380390"/>
          </a:xfrm>
          <a:prstGeom prst="rect">
            <a:avLst/>
          </a:prstGeom>
        </p:spPr>
      </p:pic>
      <p:sp>
        <p:nvSpPr>
          <p:cNvPr id="31" name="Oval 30"/>
          <p:cNvSpPr/>
          <p:nvPr/>
        </p:nvSpPr>
        <p:spPr>
          <a:xfrm>
            <a:off x="1600200" y="406907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aubur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47748" y="4116628"/>
            <a:ext cx="380390" cy="38039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286000" y="413308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Florida at Auburn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403250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Auburn 27 – Florida 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440740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+2.5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59"/>
            <a:ext cx="10515600" cy="658368"/>
          </a:xfrm>
          <a:prstGeom prst="roundRect">
            <a:avLst/>
          </a:prstGeom>
          <a:solidFill>
            <a:srgbClr val="1235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00584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8" name="Picture 37" descr="lsu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3388" y="4848148"/>
            <a:ext cx="380390" cy="380390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1600200" y="4800599"/>
            <a:ext cx="475488" cy="47548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olemis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7748" y="4848148"/>
            <a:ext cx="380390" cy="38039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2286000" y="4864607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LSU at Ole Miss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764023"/>
            <a:ext cx="47548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900" b="1" i="0">
                <a:solidFill>
                  <a:srgbClr val="F47321"/>
                </a:solidFill>
                <a:latin typeface="Arial"/>
              </a:rPr>
              <a:t>LSU 32 – Ole Miss 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38927"/>
            <a:ext cx="47548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50" b="0" i="0">
                <a:solidFill>
                  <a:srgbClr val="CADCFC"/>
                </a:solidFill>
                <a:latin typeface="Arial"/>
              </a:rPr>
              <a:t>market +3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22960" y="5513831"/>
            <a:ext cx="10515600" cy="932688"/>
          </a:xfrm>
          <a:prstGeom prst="roundRect">
            <a:avLst/>
          </a:prstGeom>
          <a:solidFill>
            <a:srgbClr val="F473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55778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SUPERDOG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5577840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Sacramento State +27.5 vs North Dakota State · ML +2200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" y="598017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0A2851"/>
                </a:solidFill>
                <a:latin typeface="Arial"/>
              </a:rPr>
              <a:t>★ GIANT KILLER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5980176"/>
            <a:ext cx="786384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Arial"/>
              </a:rPr>
              <a:t>Utah State +28.5 at #17 Utah · ML +2200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653796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Arial"/>
              </a:rPr>
              <a:t>Superdogs pay only on the win · research, not picks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