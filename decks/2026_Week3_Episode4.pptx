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Relationship Id="rId9" Type="http://schemas.openxmlformats.org/officeDocument/2006/relationships/image" Target="../media/image22.png"/><Relationship Id="rId10" Type="http://schemas.openxmlformats.org/officeDocument/2006/relationships/image" Target="../media/image8.png"/><Relationship Id="rId11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38.png"/><Relationship Id="rId7" Type="http://schemas.openxmlformats.org/officeDocument/2006/relationships/image" Target="../media/image9.png"/><Relationship Id="rId8" Type="http://schemas.openxmlformats.org/officeDocument/2006/relationships/image" Target="../media/image39.png"/><Relationship Id="rId9" Type="http://schemas.openxmlformats.org/officeDocument/2006/relationships/image" Target="../media/image19.png"/><Relationship Id="rId10" Type="http://schemas.openxmlformats.org/officeDocument/2006/relationships/image" Target="../media/image6.png"/><Relationship Id="rId11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25.png"/><Relationship Id="rId8" Type="http://schemas.openxmlformats.org/officeDocument/2006/relationships/image" Target="../media/image16.png"/><Relationship Id="rId9" Type="http://schemas.openxmlformats.org/officeDocument/2006/relationships/image" Target="../media/image22.png"/><Relationship Id="rId10" Type="http://schemas.openxmlformats.org/officeDocument/2006/relationships/image" Target="../media/image8.png"/><Relationship Id="rId1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4 · WEEK 3 · THE MACHINE'S TOP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Top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Machine rating · Δ vs preseason · AP week 3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59105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591056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874519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736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Ohio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-3.7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e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203703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736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25.0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notred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253288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Notre Dame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137160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ndia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2862072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3736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Indiana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37160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miam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" y="3191256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3736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Miami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137160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laba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" y="3520439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3736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Alabama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23.0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58" name="Oval 57"/>
          <p:cNvSpPr/>
          <p:nvPr/>
        </p:nvSpPr>
        <p:spPr>
          <a:xfrm>
            <a:off x="137160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georgi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032" y="3849624"/>
            <a:ext cx="201168" cy="2011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3736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Georgia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22.6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37160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s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032" y="4178808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736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LSU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22.3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8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73" name="Oval 72"/>
          <p:cNvSpPr/>
          <p:nvPr/>
        </p:nvSpPr>
        <p:spPr>
          <a:xfrm>
            <a:off x="137160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texas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9032" y="4507992"/>
            <a:ext cx="201168" cy="20116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3736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A&amp;M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20.9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2628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37160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tennesse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032" y="4837176"/>
            <a:ext cx="201168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73736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Tennessee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4048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2628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11</a:t>
            </a:r>
          </a:p>
        </p:txBody>
      </p:sp>
      <p:sp>
        <p:nvSpPr>
          <p:cNvPr id="88" name="Oval 87"/>
          <p:cNvSpPr/>
          <p:nvPr/>
        </p:nvSpPr>
        <p:spPr>
          <a:xfrm>
            <a:off x="137160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oreg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9032" y="5166360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73736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Oregon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628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-8.0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8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12</a:t>
            </a:r>
          </a:p>
        </p:txBody>
      </p:sp>
      <p:sp>
        <p:nvSpPr>
          <p:cNvPr id="95" name="Oval 94"/>
          <p:cNvSpPr/>
          <p:nvPr/>
        </p:nvSpPr>
        <p:spPr>
          <a:xfrm>
            <a:off x="137160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texastec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9032" y="5495544"/>
            <a:ext cx="201168" cy="2011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73736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Tech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2628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208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576072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" y="57927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13</a:t>
            </a:r>
          </a:p>
        </p:txBody>
      </p:sp>
      <p:sp>
        <p:nvSpPr>
          <p:cNvPr id="103" name="Oval 102"/>
          <p:cNvSpPr/>
          <p:nvPr/>
        </p:nvSpPr>
        <p:spPr>
          <a:xfrm>
            <a:off x="1371600" y="57972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usc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9032" y="5824728"/>
            <a:ext cx="201168" cy="2011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737360" y="57927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USC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57927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280" y="58064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80" y="58064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181051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73368" y="184251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14</a:t>
            </a:r>
          </a:p>
        </p:txBody>
      </p:sp>
      <p:sp>
        <p:nvSpPr>
          <p:cNvPr id="111" name="Oval 110"/>
          <p:cNvSpPr/>
          <p:nvPr/>
        </p:nvSpPr>
        <p:spPr>
          <a:xfrm>
            <a:off x="6903720" y="18470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olemis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1152" y="1874519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269480" y="18425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Ole Miss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2600" y="184251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185623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44200" y="185623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217170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15</a:t>
            </a:r>
          </a:p>
        </p:txBody>
      </p:sp>
      <p:sp>
        <p:nvSpPr>
          <p:cNvPr id="118" name="Oval 117"/>
          <p:cNvSpPr/>
          <p:nvPr/>
        </p:nvSpPr>
        <p:spPr>
          <a:xfrm>
            <a:off x="6903720" y="217627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oklahom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1152" y="2203703"/>
            <a:ext cx="201168" cy="20116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269480" y="21717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Oklahoma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21717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218541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-3.3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744200" y="218541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2468880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7336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16</a:t>
            </a:r>
          </a:p>
        </p:txBody>
      </p:sp>
      <p:sp>
        <p:nvSpPr>
          <p:cNvPr id="126" name="Oval 125"/>
          <p:cNvSpPr/>
          <p:nvPr/>
        </p:nvSpPr>
        <p:spPr>
          <a:xfrm>
            <a:off x="690372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florid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1152" y="2532888"/>
            <a:ext cx="201168" cy="20116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26948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Florida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260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4420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73368" y="28300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17</a:t>
            </a:r>
          </a:p>
        </p:txBody>
      </p:sp>
      <p:sp>
        <p:nvSpPr>
          <p:cNvPr id="133" name="Oval 132"/>
          <p:cNvSpPr/>
          <p:nvPr/>
        </p:nvSpPr>
        <p:spPr>
          <a:xfrm>
            <a:off x="6903720" y="283464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missouri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1152" y="2862072"/>
            <a:ext cx="201168" cy="20116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269480" y="28300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Missouri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72600" y="28300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400" y="28437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744200" y="2843784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55080" y="3127248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73368" y="315925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18</a:t>
            </a:r>
          </a:p>
        </p:txBody>
      </p:sp>
      <p:sp>
        <p:nvSpPr>
          <p:cNvPr id="141" name="Oval 140"/>
          <p:cNvSpPr/>
          <p:nvPr/>
        </p:nvSpPr>
        <p:spPr>
          <a:xfrm>
            <a:off x="6903720" y="316382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pennstat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1152" y="3191256"/>
            <a:ext cx="201168" cy="20116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269480" y="31592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Penn State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72600" y="31592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13.7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317296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44200" y="317296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73368" y="34884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19</a:t>
            </a:r>
          </a:p>
        </p:txBody>
      </p:sp>
      <p:sp>
        <p:nvSpPr>
          <p:cNvPr id="148" name="Oval 147"/>
          <p:cNvSpPr/>
          <p:nvPr/>
        </p:nvSpPr>
        <p:spPr>
          <a:xfrm>
            <a:off x="6903720" y="34930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byu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152" y="3520439"/>
            <a:ext cx="201168" cy="20116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269480" y="34884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BYU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72600" y="34884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0" y="3502151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44200" y="3502151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55080" y="3785616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73368" y="381762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20</a:t>
            </a:r>
          </a:p>
        </p:txBody>
      </p:sp>
      <p:sp>
        <p:nvSpPr>
          <p:cNvPr id="156" name="Oval 155"/>
          <p:cNvSpPr/>
          <p:nvPr/>
        </p:nvSpPr>
        <p:spPr>
          <a:xfrm>
            <a:off x="6903720" y="382219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michiga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1152" y="3849624"/>
            <a:ext cx="201168" cy="20116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269480" y="38176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Michigan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72600" y="38176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13.2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058400" y="383133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744200" y="3831336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73368" y="4146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21</a:t>
            </a:r>
          </a:p>
        </p:txBody>
      </p:sp>
      <p:sp>
        <p:nvSpPr>
          <p:cNvPr id="163" name="Oval 162"/>
          <p:cNvSpPr/>
          <p:nvPr/>
        </p:nvSpPr>
        <p:spPr>
          <a:xfrm>
            <a:off x="6903720" y="4151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utah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1152" y="4178808"/>
            <a:ext cx="201168" cy="20116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269480" y="4146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Utah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72600" y="4146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8400" y="41605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+4.3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744200" y="4160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17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355080" y="4443983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73368" y="44759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22</a:t>
            </a:r>
          </a:p>
        </p:txBody>
      </p:sp>
      <p:sp>
        <p:nvSpPr>
          <p:cNvPr id="171" name="Oval 170"/>
          <p:cNvSpPr/>
          <p:nvPr/>
        </p:nvSpPr>
        <p:spPr>
          <a:xfrm>
            <a:off x="6903720" y="4480559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aubur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1152" y="4507992"/>
            <a:ext cx="201168" cy="20116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269480" y="44759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Auburn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72600" y="44759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58400" y="448970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489703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373368" y="480517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23</a:t>
            </a:r>
          </a:p>
        </p:txBody>
      </p:sp>
      <p:sp>
        <p:nvSpPr>
          <p:cNvPr id="178" name="Oval 177"/>
          <p:cNvSpPr/>
          <p:nvPr/>
        </p:nvSpPr>
        <p:spPr>
          <a:xfrm>
            <a:off x="6903720" y="48097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virginia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1152" y="4837176"/>
            <a:ext cx="201168" cy="20116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7269480" y="48051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Virginia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372600" y="48051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058400" y="4818888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+3.9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818888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25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355080" y="5102352"/>
            <a:ext cx="5029200" cy="329184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73368" y="513435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24</a:t>
            </a:r>
          </a:p>
        </p:txBody>
      </p:sp>
      <p:sp>
        <p:nvSpPr>
          <p:cNvPr id="186" name="Oval 185"/>
          <p:cNvSpPr/>
          <p:nvPr/>
        </p:nvSpPr>
        <p:spPr>
          <a:xfrm>
            <a:off x="6903720" y="513892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smu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31152" y="5166360"/>
            <a:ext cx="201168" cy="20116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69480" y="51343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SMU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72600" y="5134356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11.4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00" y="51480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744200" y="514807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373368" y="54635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25</a:t>
            </a:r>
          </a:p>
        </p:txBody>
      </p:sp>
      <p:sp>
        <p:nvSpPr>
          <p:cNvPr id="193" name="Oval 192"/>
          <p:cNvSpPr/>
          <p:nvPr/>
        </p:nvSpPr>
        <p:spPr>
          <a:xfrm>
            <a:off x="6903720" y="546811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Picture 193" descr="southcarolina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1152" y="5495544"/>
            <a:ext cx="201168" cy="201168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7269480" y="54635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South Carolina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72600" y="54635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10.9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058400" y="5477255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744200" y="5477255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22960" y="6163056"/>
            <a:ext cx="1056132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05840" y="620877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Biggest splits: Oregon #11 vs AP #21 · Oklahoma #15 vs AP #24 · BYU #19 vs AP #11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64556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Ours, not theirs: Florida, Auburn, South Carolina   ·   Theirs, not ours: Iowa, Houston, Louisville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4 · WEEK 3 · THE SEAT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Hot Seat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60% CBS rating + 40% machine odds of missing the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COACH ·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7335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CBS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P(GETS 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733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MACHINE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673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LAST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68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476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orid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79676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Norvell · Florida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84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38-34, yr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8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6.2 (4–8)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84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56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92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842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24-27 vs SMU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1234440" y="23134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utg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345436"/>
            <a:ext cx="210312" cy="2103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2322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Greg Schiano · Rutgers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3500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31-41 2nd stint, yr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331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331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3.4 (2–5)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-7.7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3225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21-28 at Boston College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63347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688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1234440" y="2679191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y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2711196"/>
            <a:ext cx="210312" cy="2103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Dave Aranda · Baylor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7157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36-37, yr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69747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7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7.1 (5–9)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715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+1.3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6883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7157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44-3 vs Prairie View A&amp;M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054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1234440" y="30449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wiscons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076956"/>
            <a:ext cx="210312" cy="2103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00200" y="3054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Luke Fickell · Wisconsin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3081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17-21, yr 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063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6.2 (4–8)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054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081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36-9 vs Western Illinois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336499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4198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1234440" y="34107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maryl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3442716"/>
            <a:ext cx="210312" cy="2103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34198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Locksley · Maryland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3447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37-49, yr 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6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4290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6.1 (4–8)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472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+2.9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23960" y="34198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3447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38-14 at UConn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7856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78" name="Oval 77"/>
          <p:cNvSpPr/>
          <p:nvPr/>
        </p:nvSpPr>
        <p:spPr>
          <a:xfrm>
            <a:off x="1234440" y="37764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southcaro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444" y="3808476"/>
            <a:ext cx="210312" cy="21031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00200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Shane Beamer · South Carolina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38130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33-30, yr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56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3794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37947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6.5 (5–8)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3813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-0.8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3960" y="37856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2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45-9 vs Towson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409651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151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91" name="Oval 90"/>
          <p:cNvSpPr/>
          <p:nvPr/>
        </p:nvSpPr>
        <p:spPr>
          <a:xfrm>
            <a:off x="1234440" y="4142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clems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444" y="4174236"/>
            <a:ext cx="210312" cy="21031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00200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Dabo Swinney · Clemson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6240" y="41788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186-53, yr 18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2356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220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9 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4160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17%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7.0 (5–9)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4178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-5.0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23960" y="41513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4178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22-7 vs Georgia Southern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4517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103" name="Oval 102"/>
          <p:cNvSpPr/>
          <p:nvPr/>
        </p:nvSpPr>
        <p:spPr>
          <a:xfrm>
            <a:off x="1234440" y="45079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bostoncolle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444" y="4539996"/>
            <a:ext cx="210312" cy="21031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600200" y="4517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Bill O'Brien · Boston College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0" y="4544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9-16, yr 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6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4526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35%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6640" y="45262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3.9 (2–6)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4544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23960" y="45171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4544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28-21 vs Rutgers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48828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116" name="Oval 115"/>
          <p:cNvSpPr/>
          <p:nvPr/>
        </p:nvSpPr>
        <p:spPr>
          <a:xfrm>
            <a:off x="1234440" y="48737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middletenness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6444" y="4905756"/>
            <a:ext cx="210312" cy="21031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600200" y="48828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Derek Mason · Middle Tennessee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6240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3-9 in 2024, yr 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2356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220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4892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40%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06640" y="4892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5.1 (3–7)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9103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+1.5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23960" y="4882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18320" y="4910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26-28 at Marshall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" y="52486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128" name="Oval 127"/>
          <p:cNvSpPr/>
          <p:nvPr/>
        </p:nvSpPr>
        <p:spPr>
          <a:xfrm>
            <a:off x="1234440" y="52395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ncsta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444" y="5271516"/>
            <a:ext cx="210312" cy="21031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600200" y="524865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Dave Doeren · NC State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276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yr 14 - 6-7 and 6-6 the last two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2356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20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5257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30%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06640" y="5257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5.7 (4–8)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21040" y="5276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-3.9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23960" y="524865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418320" y="52760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73-0 vs Richmond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5669280"/>
            <a:ext cx="1051560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5840" y="572414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Next three: P.J. Fleck 62 · Bill Belichick 62 · Bryant Vincent 62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" y="59618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NEEDS = wins that keep the job · P(GETS IT) = the machine's odds · MACHINE WINS = projected (10th–90th)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4 · WEEK 3 · OUR HEISMAN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Heisman Favorite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Team factor × QB efficiency (PPA per play) · market = DraftKings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QUARTERBACK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2026 PPA (PLAYS)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733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2025 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BLEND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TEAM P(10+)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MKT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673352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MAN VS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293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ia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61388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218541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41-of-45, 653 yards, 8 TD, 0 INT through two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Darian Mensah · Miami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947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1.133 (48)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9476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947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38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48.5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+550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194767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5054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1234440" y="24963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ndi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528316"/>
            <a:ext cx="210312" cy="210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00200" y="275234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19-of-27, 376 yards, 8 TD, 0 INT through two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Josh Hoover · Indiana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1.424 (29)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0.353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505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47.1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+1700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51460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035808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0723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3" name="Oval 42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notred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3095244"/>
            <a:ext cx="210312" cy="2103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00200" y="3319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35-of-49, 492 yards, 6 TD, 0 INT · 253 and 4 TD vs 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30723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C.J. Carr · Notre Dame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0.614 (51)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3081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081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86%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072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44.4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+1050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30815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agree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6" name="Oval 55"/>
          <p:cNvSpPr/>
          <p:nvPr/>
        </p:nvSpPr>
        <p:spPr>
          <a:xfrm>
            <a:off x="12344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ohio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662172"/>
            <a:ext cx="210312" cy="210312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600200" y="38862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38-of-57, 598 yards, 4 TD, 1 INT · 278 in the loss at Texas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3639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Julian Sayin · Ohio State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0" y="3648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0.616 (64)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780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0.545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0.566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2084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6393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43.1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+1500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12680" y="364845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70" name="Oval 69"/>
          <p:cNvSpPr/>
          <p:nvPr/>
        </p:nvSpPr>
        <p:spPr>
          <a:xfrm>
            <a:off x="1234440" y="41970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u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4229100"/>
            <a:ext cx="210312" cy="210312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00200" y="44531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67-of-83, 896 yards, 10 TD, 1 INT through three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0020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Jayden Maiava · USC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0" y="42153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0.651 (90)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57800" y="42153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0.517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0" y="4215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16%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32.9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+1900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#9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12680" y="421538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5CD68A"/>
                </a:solidFill>
                <a:latin typeface="Arial"/>
              </a:rPr>
              <a:t>market too 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477316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Arial"/>
              </a:rPr>
              <a:t>Next up: Devon Dampier 31.5 · Will Hammond 29.8 · Kevin Jennings 29.3 · Lincoln Kienholz 27.2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5102352"/>
            <a:ext cx="10515600" cy="65836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97280" y="5193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851"/>
                </a:solidFill>
                <a:latin typeface="Arial"/>
              </a:rPr>
              <a:t>★ OUR FAVORITE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0" y="517550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Darian Mensah, Miami · index 48.5 · market +550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Arial"/>
              </a:rPr>
              <a:t>Non-QB watch: Jeremiah Smith (+650) · Malachi Toney (+1300) · Ryan Wingo · Trent Mosley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Arial"/>
              </a:rPr>
              <a:t>PPA = predicted points added per play · re-computes every rebuild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4 · WEEK 3 · SEP 18–19,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u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xas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Houston at Texas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Lubbock · Jones AT&amp;T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Texas Tech –13   ·   –7.5 / –7.5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24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uisvil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SMU at Louisville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Louisville · L&amp;N Federal Credit Union Stadium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906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Louisville –1   ·   –1.5 / –1.5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290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ississippis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southcaro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Mississippi State at South Carolina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Columbia · Williams-Brice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9534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South Carolina –5   ·   –4 / –3.5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336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lori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ub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Florida at Auburn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Auburn · Jordan-Hare Stadium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70001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Auburn –0.5   ·   +2.5 / +2.5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383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ls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olemi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LSU at Ole Miss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Oxford · Vaught-Hemingway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50" b="1" i="0">
                <a:solidFill>
                  <a:srgbClr val="F47321"/>
                </a:solidFill>
                <a:latin typeface="Arial"/>
              </a:rPr>
              <a:t>LSU –5   ·   +3 / +3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430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· 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Machine = our in-season rating + 2.5 home field · lines as of Sep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Week 2 — the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C6B7E"/>
                </a:solidFill>
                <a:latin typeface="Arial"/>
              </a:rPr>
              <a:t>Calls frozen at recording · closing line = last pre-kick pull · off by = miss vs the final margin · deserved = the efficiency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36192"/>
            <a:ext cx="548640" cy="548640"/>
          </a:xfrm>
          <a:prstGeom prst="rect">
            <a:avLst/>
          </a:prstGeom>
        </p:spPr>
      </p:pic>
      <p:pic>
        <p:nvPicPr>
          <p:cNvPr id="6" name="Picture 5" descr="tex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3619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49961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Ohio State at Texas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379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Texas 27–23 · FINAL Texas 24–23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17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Texas –3.5 · closing Texas –1.5 · deserved TEX +5.6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19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5121B"/>
                </a:solidFill>
                <a:latin typeface="Arial"/>
              </a:rPr>
              <a:t>machine off by 2.5 · market off by 0.5 — market closer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klaho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95728"/>
            <a:ext cx="548640" cy="548640"/>
          </a:xfrm>
          <a:prstGeom prst="rect">
            <a:avLst/>
          </a:prstGeom>
        </p:spPr>
      </p:pic>
      <p:pic>
        <p:nvPicPr>
          <p:cNvPr id="13" name="Picture 12" descr="michig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Oklahoma at Michigan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Oklahoma 23–21 · FINAL Michigan 17–10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Oklahoma –2 · closing Oklahoma –5.5 · deserved MICH +0.8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9 · market off by 12.5 — machine closer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2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izonas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55264"/>
            <a:ext cx="548640" cy="548640"/>
          </a:xfrm>
          <a:prstGeom prst="rect">
            <a:avLst/>
          </a:prstGeom>
        </p:spPr>
      </p:pic>
      <p:pic>
        <p:nvPicPr>
          <p:cNvPr id="20" name="Picture 19" descr="texas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3255264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40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Arizona State at Texas A&amp;M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57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Texas A&amp;M 34–17 · FINAL Texas A&amp;M 48–20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Texas A&amp;M –16.5 · closing Texas A&amp;M –14.5 · deserved TAMU +15.1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387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11.5 · market off by 13.5 — machine closer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95928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rizon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14800"/>
            <a:ext cx="548640" cy="548640"/>
          </a:xfrm>
          <a:prstGeom prst="rect">
            <a:avLst/>
          </a:prstGeom>
        </p:spPr>
      </p:pic>
      <p:pic>
        <p:nvPicPr>
          <p:cNvPr id="27" name="Picture 26" descr="by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5920" y="41148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77440" y="4078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Arizona at BYU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16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BYU 28–20 · FINAL BYU 28–17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96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BYU –8.5 · closing BYU –7.5 · deserved BYU +16.4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98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2.5 · market off by 3.5 — machine closer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55464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labam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4336"/>
            <a:ext cx="548640" cy="548640"/>
          </a:xfrm>
          <a:prstGeom prst="rect">
            <a:avLst/>
          </a:prstGeom>
        </p:spPr>
      </p:pic>
      <p:pic>
        <p:nvPicPr>
          <p:cNvPr id="34" name="Picture 33" descr="kentuck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5920" y="4974336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77440" y="4937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Alabama at Kentucky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we called Alabama 31–18 · FINAL Alabama 45–17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Alabama –13 · closing Alabama –10 · deserved BAMA +22.4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machine off by 15 · market off by 18 — machine closer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60720"/>
            <a:ext cx="10515600" cy="777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338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Machine 40.5 · market 48.0 · machine closer in 4, market 1, 0 tie · vs the deserved margins: machine 23.6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Season: machine 161.0 vs market 167.0 across 15 games · stated leans 4–2 · Michigan +5.5 won outright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u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texas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Houston at Texas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Fri Sep 18 · 8:00 ET · Lubbock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1284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The Big 12's first litmus test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Fritz's year three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Hammond after the scare in Corvallis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Four straight for Tech in the series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5.5 to Tech — a small lean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Texas Tech –13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Texas Tech –380 · Houston +380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Texas Tech +13.0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–7.5 / –7.5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Bov Texas Tech -300 / Houston +270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Texas Tech 33 – Houston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2383840" cy="36576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TTU 79%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21% HOU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ou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Houston at Texas 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Fritz, year 3 · the year-three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Weigman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81% back · 18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Weigman's legs vs the rebuilt front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45 times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Make Hammond throw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trenches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Houston at Texas 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as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Texas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Houston at Texas 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McGuire, year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Hammond, back from the ACL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53% back · portal-built defense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Hammond's second real start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J'Koby Williams downhill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portal defense vs a real offense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Finish drives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Houston at Texas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louisvi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SMU at Louisville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19 · 3:30 ET · Louisville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1284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The ACC's biggest non-Miami game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Jennings, year three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Brohm's coin-flip problem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Both offenses score fast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Machine = market · Monster Under 59.5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Louisville –1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Louisville –115 · SMU +115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Louisville +1.1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–1.5 / –1.5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Louisville -115 / SMU -105 · Bov Louisville -115 / SMU -105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Louisville 30 – SMU 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003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629460" cy="365760"/>
          </a:xfrm>
          <a:prstGeom prst="roundRect">
            <a:avLst/>
          </a:prstGeom>
          <a:solidFill>
            <a:srgbClr val="AD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LOU 54%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46% SMU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SMU at Louisville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Lashlee, year 5 · coordinator troikas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Jennings, year-three 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57% back · 15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Jennings vs the bust-prone back end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Jennings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takeaway ledger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Explosives, not long drives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SMU at Louisville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uisvil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SMU at Louisville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Brohm, year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Kienholz, third QB1 in three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35% back · 33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Ride the Browns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No coverage busts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Kienholz keeps it clean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one-score 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SMU at Louisville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ssissippi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southcarol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Mississippi State at South Carolina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19 · 4:15 ET · Columbia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1284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Two hot seats, one game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Kamario Taylor's breakout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Sellers hasn't thrown yet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Arnett's defense, back in Starkville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0.9 to South Carolina — no 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South Carolina 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South Carolina –169 · Mississippi State +169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South Carolina +4.9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–4 / –3.5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South Carolina -180 / Mississippi State +150 · Bov South Carolina -165 / Mississippi State +140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South Carolina 32 – Mississippi State 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5D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901037" cy="365760"/>
          </a:xfrm>
          <a:prstGeom prst="roundRect">
            <a:avLst/>
          </a:prstGeom>
          <a:solidFill>
            <a:srgbClr val="730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SCAR 63%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37% MSST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ssissippi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Mississippi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Mississippi State at South Carolina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Lebby, year 3 · Arnett 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Kamario Taylor, sophomore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34% back · 28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Taylor's legs and arm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Bothwell downhill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Arnett's defense vs Sellers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the turnover 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Mississippi State at South Carolina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thcarol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South Carolina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Mississippi State at South Carolina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Beamer, year 6 · new OC Briles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Sellers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69% back · 26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Let Sellers throw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Sellers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Harbor deep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Stewart off the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Mississippi State at South Carolina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aub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Florida at Auburn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19 · 7:00 ET · Auburn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1284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Two first-year coaches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Auburn's rebuilt lines vs Florida's front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Byrum Brown vs Aaron Philo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Jordan-Hare at 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Lean Auburn +2.5 — research, not a position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Auburn –0.5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Auburn –110 · Florida +110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Auburn +0.7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+2.5 / +2.5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Auburn +120 / Florida -142 · Bov Auburn +115 / Florida -135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Auburn 27 – Florida 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002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569110" cy="365760"/>
          </a:xfrm>
          <a:prstGeom prst="round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AUB 52%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48% FLA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Florida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Florida at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Sumrall (Tulane)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Aaron Philo, RS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69% back · 27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Philo's first road start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Baugh downhill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White's front vs Brown's legs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Fourth-down conviction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Florida at Auburn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b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Auburn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Florida at Auburn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Golesh · Durkin kept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Byrum Brown (USF)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14% back · 39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Brown's legs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Ball security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Durkin's defense at home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Tempo without turnovers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Florida at Auburn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olem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LSU at Ole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Sep 19 · 7:30 ET · Oxford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12848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Kiffin returns to Oxford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706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Home team five straight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39312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8386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Leavitt's three picks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52544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97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6273D"/>
                </a:solidFill>
                <a:latin typeface="Arial"/>
              </a:rPr>
              <a:t>55–49 or 24–19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47488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2.2 to LSU — quibble · Monster Under 59.5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00200"/>
            <a:ext cx="3566160" cy="4206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LSU 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Ole Miss +166 · LSU –166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LSU +5.2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+3 / +3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6393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market (DK / Bovada) · DK Ole Miss +130 / LSU -155 · Bov Ole Miss +130 / LSU -165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47321"/>
                </a:solidFill>
                <a:latin typeface="Arial"/>
              </a:rPr>
              <a:t>LSU 32 – Ole Miss 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074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754880"/>
            <a:ext cx="3017520" cy="365760"/>
          </a:xfrm>
          <a:prstGeom prst="roundRect">
            <a:avLst/>
          </a:prstGeom>
          <a:solidFill>
            <a:srgbClr val="461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046720" y="4754880"/>
            <a:ext cx="1146657" cy="365760"/>
          </a:xfrm>
          <a:prstGeom prst="round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MISS 38%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48371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62% LSU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7550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LSU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LSU at Ole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Kiffin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Sam Leavitt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21% back · 44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Leavitt's ball security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Leavitt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Baker's front vs Chambliss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Kiffin's tempo in his old 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LSU at Ole Miss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lem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Ole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LSU at Ole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Golding, promoted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Chambliss 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50% back · 28 portal adds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9184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Let Chambliss escape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33088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95020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Lacy runs it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974336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91456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The patched secondary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815584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5632704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Special teams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4 · WEEK 3 · LSU at Ole Miss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4 ·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Our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us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" y="1922068"/>
            <a:ext cx="380390" cy="3803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xas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8" y="1922068"/>
            <a:ext cx="380390" cy="380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19385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Houston at Texas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3794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Texas Tech 33 – Houston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1284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–7.5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m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653588"/>
            <a:ext cx="380390" cy="38039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60020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uisvil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48" y="2653588"/>
            <a:ext cx="380390" cy="38039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86000" y="26700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SMU at Louisville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946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Louisville 30 – SMU 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–1.5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ississippis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3385108"/>
            <a:ext cx="380390" cy="38039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60020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outhcarolin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748" y="3385108"/>
            <a:ext cx="380390" cy="38039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86000" y="34015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Mississippi State at South Carolina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0098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South Carolina 32 – Mississippi State 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7588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–4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97763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lori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" y="4116628"/>
            <a:ext cx="380390" cy="38039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60020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aubur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748" y="4116628"/>
            <a:ext cx="380390" cy="38039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6000" y="413308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Florida at Auburn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3250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Auburn 27 – Florida 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40740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+2.5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70915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584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s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388" y="4848148"/>
            <a:ext cx="380390" cy="380390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160020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olemis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7748" y="4848148"/>
            <a:ext cx="380390" cy="38039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286000" y="48646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LSU at Ole Miss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6402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900" b="1" i="0">
                <a:solidFill>
                  <a:srgbClr val="F47321"/>
                </a:solidFill>
                <a:latin typeface="Arial"/>
              </a:rPr>
              <a:t>LSU 32 – Ole Miss 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38927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market +3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513831"/>
            <a:ext cx="10515600" cy="93268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57784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SUPERDOG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577840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Sacramento State +27.5 vs North Dakota State · ML +2200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9801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GIANT KILLER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980176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Utah State +28.5 at #17 Utah · ML +2200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Arial"/>
              </a:rPr>
              <a:t>Superdogs pay only on the win · research, not picks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