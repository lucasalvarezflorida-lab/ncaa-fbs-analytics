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WEEK 0 · AUG 29,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Three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889504"/>
            <a:ext cx="621792" cy="621792"/>
          </a:xfrm>
          <a:prstGeom prst="ellipse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16273D"/>
                </a:solidFill>
                <a:latin typeface="Arial"/>
              </a:rPr>
              <a:t>UNC</a:t>
            </a:r>
          </a:p>
        </p:txBody>
      </p:sp>
      <p:sp>
        <p:nvSpPr>
          <p:cNvPr id="6" name="Oval 5"/>
          <p:cNvSpPr/>
          <p:nvPr/>
        </p:nvSpPr>
        <p:spPr>
          <a:xfrm>
            <a:off x="1828800" y="2889504"/>
            <a:ext cx="621792" cy="621792"/>
          </a:xfrm>
          <a:prstGeom prst="ellipse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TCU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2871216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3255264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Dublin, Ireland · Aviva Stadium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8712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TCU –1.5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255264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58768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4005072"/>
            <a:ext cx="621792" cy="621792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NCSU</a:t>
            </a:r>
          </a:p>
        </p:txBody>
      </p:sp>
      <p:sp>
        <p:nvSpPr>
          <p:cNvPr id="13" name="Oval 12"/>
          <p:cNvSpPr/>
          <p:nvPr/>
        </p:nvSpPr>
        <p:spPr>
          <a:xfrm>
            <a:off x="1828800" y="4005072"/>
            <a:ext cx="621792" cy="621792"/>
          </a:xfrm>
          <a:prstGeom prst="ellipse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UVA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986783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4370831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Charlottesville · Scott Stadium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9867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UVA –6.7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370831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974336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120640"/>
            <a:ext cx="621792" cy="621792"/>
          </a:xfrm>
          <a:prstGeom prst="ellipse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JSU</a:t>
            </a:r>
          </a:p>
        </p:txBody>
      </p:sp>
      <p:sp>
        <p:nvSpPr>
          <p:cNvPr id="20" name="Oval 19"/>
          <p:cNvSpPr/>
          <p:nvPr/>
        </p:nvSpPr>
        <p:spPr>
          <a:xfrm>
            <a:off x="1828800" y="5120640"/>
            <a:ext cx="621792" cy="621792"/>
          </a:xfrm>
          <a:prstGeom prst="ellipse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NDSU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5102351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5486400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Fargo · Fargodome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10235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NDSU –2.7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8640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σ 13.5 · lines as of Aug 18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384048"/>
            <a:ext cx="731520" cy="731520"/>
          </a:xfrm>
          <a:prstGeom prst="ellipse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16273D"/>
                </a:solidFill>
                <a:latin typeface="Arial"/>
              </a:rPr>
              <a:t>UNC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sp>
        <p:nvSpPr>
          <p:cNvPr id="4" name="Oval 3"/>
          <p:cNvSpPr/>
          <p:nvPr/>
        </p:nvSpPr>
        <p:spPr>
          <a:xfrm>
            <a:off x="2148840" y="384048"/>
            <a:ext cx="731520" cy="731520"/>
          </a:xfrm>
          <a:prstGeom prst="ellipse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TCU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North Carolina vs TCU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noon ET · ESPN · Aer Lingus Classic · Belichick year two opens abroad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 rush offense #127 vs TCU rush defense #28 — June may find nothing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UNC's path: Edwards at TCU's #103 pass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TCU pass offense #29 vs UNC pass defense #49 — best-on-best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Hidden yards: special teams UNC #31 vs TCU #84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Honesty check: UNC's −12.1 residual was 2025's biggest ACC market-overrating — the skepticism premium is earned.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TCU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–6.5 / –8.5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5–7 pts on UNC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629460" cy="384048"/>
          </a:xfrm>
          <a:prstGeom prst="roundRect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TCU 54%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6273D"/>
                </a:solidFill>
                <a:latin typeface="Arial"/>
              </a:rPr>
              <a:t>46% UNC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UNC ATS at −6.5 or worse · O/U no lean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384048"/>
            <a:ext cx="731520" cy="731520"/>
          </a:xfrm>
          <a:prstGeom prst="ellipse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16273D"/>
                </a:solidFill>
                <a:latin typeface="Arial"/>
              </a:rPr>
              <a:t>UNC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sp>
        <p:nvSpPr>
          <p:cNvPr id="4" name="Oval 3"/>
          <p:cNvSpPr/>
          <p:nvPr/>
        </p:nvSpPr>
        <p:spPr>
          <a:xfrm>
            <a:off x="2148840" y="384048"/>
            <a:ext cx="731520" cy="731520"/>
          </a:xfrm>
          <a:prstGeom prst="ellipse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TCU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691640"/>
            <a:ext cx="566928" cy="566928"/>
          </a:xfrm>
          <a:prstGeom prst="ellipse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16273D"/>
                </a:solidFill>
                <a:latin typeface="Arial"/>
              </a:rPr>
              <a:t>UNC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Carolina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Billy Edwards Jr.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Maryland grad; 2,881 yds/15 TD in 2024; Belichick's pick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Demon June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Corey's key, but see the run-front matchup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Shipp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the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Trech Kekahuna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slot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0" y="1691640"/>
            <a:ext cx="566928" cy="566928"/>
          </a:xfrm>
          <a:prstGeom prst="ellipse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TCU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TCU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Jaden Craig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grad transfer, first year as the guy post-Hoover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Dwyer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Ka'Morreun Pimpton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Markis Deal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NT — anchors the #28 run front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North Carolina vs TCU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384048"/>
            <a:ext cx="731520" cy="73152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NCSU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sp>
        <p:nvSpPr>
          <p:cNvPr id="4" name="Oval 3"/>
          <p:cNvSpPr/>
          <p:nvPr/>
        </p:nvSpPr>
        <p:spPr>
          <a:xfrm>
            <a:off x="2148840" y="384048"/>
            <a:ext cx="731520" cy="731520"/>
          </a:xfrm>
          <a:prstGeom prst="ellipse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UVA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NC State at Virginia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3:30 ET · revenge of the 35-31 end-zone INT · UVA: 11 wins, ACC CG loss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BOOKS DISAGREE BY A FULL FIELD GOAL — shop the number on air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UVA's #26 pass defense vs CJ Bailey's #36 pass offense decides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NC State explosiveness bottom-third: sustain or stall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Special teams: UVA #56 vs NCSU #101 — ST cost State two 2025 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UVA's card weakness: turnover-luck regression + a senior-driven pass rush now gone.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UVA –6.7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–3 / –6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3.7 pts on UVA at 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2082088" cy="384048"/>
          </a:xfrm>
          <a:prstGeom prst="round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UVA 69%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31% NCSU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UVA — value at −3, fair at −6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384048"/>
            <a:ext cx="731520" cy="73152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NCSU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sp>
        <p:nvSpPr>
          <p:cNvPr id="4" name="Oval 3"/>
          <p:cNvSpPr/>
          <p:nvPr/>
        </p:nvSpPr>
        <p:spPr>
          <a:xfrm>
            <a:off x="2148840" y="384048"/>
            <a:ext cx="731520" cy="731520"/>
          </a:xfrm>
          <a:prstGeom prst="ellipse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UVA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691640"/>
            <a:ext cx="566928" cy="56692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NCSU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NC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NC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CJ Bailey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yr 3; 3,105 yds, 25 TD at 68.8%; top-5 returning ACC QB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Duke Scott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JoJo Trader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Joseph Adedire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0" y="1691640"/>
            <a:ext cx="566928" cy="566928"/>
          </a:xfrm>
          <a:prstGeom prst="ellipse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UVA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Virginia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Virginia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Beau Pribula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Missouri transfer; named starter Jul 19; 11-9 TD-INT is the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Peyton Lewis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Rico Flores Jr.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Fisher Camac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NC State at Virginia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384048"/>
            <a:ext cx="731520" cy="731520"/>
          </a:xfrm>
          <a:prstGeom prst="ellipse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JSU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sp>
        <p:nvSpPr>
          <p:cNvPr id="4" name="Oval 3"/>
          <p:cNvSpPr/>
          <p:nvPr/>
        </p:nvSpPr>
        <p:spPr>
          <a:xfrm>
            <a:off x="2148840" y="384048"/>
            <a:ext cx="731520" cy="731520"/>
          </a:xfrm>
          <a:prstGeom prst="ellipse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NDSU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5:30 ET · CBSSN · NDSU's first FBS game · 2015 FCS title rematch · ON THE UPSET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identity: #23 rush offense, back-to-back ~3,500-yard rushing seasons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pass game #107 — stack the box, make Creel throw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special teams #123 — hidden-yardage leaks compound indoors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NDSU has no ratings history — ESPN's −8.3 is a guess; max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July 14 YEL alert: JSU +10, edge 7.3 — the market has since moved 3+ points to the model's side.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NDSU –2.7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–10 → 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+3 CLV banked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750161" cy="384048"/>
          </a:xfrm>
          <a:prstGeom prst="roundRect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NDSU 58%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42% JSU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side: JSU at −7 or worse — already paid in line movement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384048"/>
            <a:ext cx="731520" cy="731520"/>
          </a:xfrm>
          <a:prstGeom prst="ellipse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JSU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sp>
        <p:nvSpPr>
          <p:cNvPr id="4" name="Oval 3"/>
          <p:cNvSpPr/>
          <p:nvPr/>
        </p:nvSpPr>
        <p:spPr>
          <a:xfrm>
            <a:off x="2148840" y="384048"/>
            <a:ext cx="731520" cy="731520"/>
          </a:xfrm>
          <a:prstGeom prst="ellipse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NDSU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691640"/>
            <a:ext cx="566928" cy="566928"/>
          </a:xfrm>
          <a:prstGeom prst="ellipse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JSU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Jacksonville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Jacksonville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Caden Creel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2,600+ combined yds; dual-threat = Bison D's soft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Khristian Lando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the 'unleash'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Khurtiss Perry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Jacob Cruz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EDGE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0" y="1691640"/>
            <a:ext cx="566928" cy="566928"/>
          </a:xfrm>
          <a:prstGeom prst="ellipse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NDSU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North Dakota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Dakota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Nathan Hayes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FIRST career start; 'strongest arm since Wentz'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DJ Scott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Mekhi Collins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Rebuilt CB 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the one unit with no returning 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Jacksonville State at North Dakota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505456"/>
            <a:ext cx="621792" cy="621792"/>
          </a:xfrm>
          <a:prstGeom prst="ellipse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16273D"/>
                </a:solidFill>
                <a:latin typeface="Arial"/>
              </a:rPr>
              <a:t>UNC</a:t>
            </a:r>
          </a:p>
        </p:txBody>
      </p:sp>
      <p:sp>
        <p:nvSpPr>
          <p:cNvPr id="6" name="Oval 5"/>
          <p:cNvSpPr/>
          <p:nvPr/>
        </p:nvSpPr>
        <p:spPr>
          <a:xfrm>
            <a:off x="1828800" y="2505456"/>
            <a:ext cx="621792" cy="621792"/>
          </a:xfrm>
          <a:prstGeom prst="ellipse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TCU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2432304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834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UNC ATS at −6.5 or worse · O/U no 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4323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TCU –1.5   ·   –6.5 / –8.5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834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47872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767328"/>
            <a:ext cx="621792" cy="621792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NCSU</a:t>
            </a:r>
          </a:p>
        </p:txBody>
      </p:sp>
      <p:sp>
        <p:nvSpPr>
          <p:cNvPr id="13" name="Oval 12"/>
          <p:cNvSpPr/>
          <p:nvPr/>
        </p:nvSpPr>
        <p:spPr>
          <a:xfrm>
            <a:off x="1828800" y="3767328"/>
            <a:ext cx="621792" cy="621792"/>
          </a:xfrm>
          <a:prstGeom prst="ellipse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UVA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694176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4096511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UVA — value at −3, fair at −6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694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UVA –6.7   ·   –3 / –6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096511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809744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29200"/>
            <a:ext cx="621792" cy="621792"/>
          </a:xfrm>
          <a:prstGeom prst="ellipse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JSU</a:t>
            </a:r>
          </a:p>
        </p:txBody>
      </p:sp>
      <p:sp>
        <p:nvSpPr>
          <p:cNvPr id="20" name="Oval 19"/>
          <p:cNvSpPr/>
          <p:nvPr/>
        </p:nvSpPr>
        <p:spPr>
          <a:xfrm>
            <a:off x="1828800" y="5029200"/>
            <a:ext cx="621792" cy="621792"/>
          </a:xfrm>
          <a:prstGeom prst="ellipse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NDSU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956048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535838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JSU at −7 or worse — already paid in line movement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9560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NDSU –2.7   ·   –10 →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358383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starts Week 0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