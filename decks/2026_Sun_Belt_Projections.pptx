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P(champ)</c:v>
                </c:pt>
              </c:strCache>
            </c:strRef>
          </c:tx>
          <c:spPr>
            <a:solidFill>
              <a:srgbClr val="F47321"/>
            </a:solidFill>
          </c:spPr>
          <c:cat>
            <c:strRef>
              <c:f>Sheet1!$A$2:$A$11</c:f>
              <c:strCache>
                <c:ptCount val="10"/>
                <c:pt idx="0">
                  <c:v>Louisiana Tech</c:v>
                </c:pt>
                <c:pt idx="1">
                  <c:v>App State</c:v>
                </c:pt>
                <c:pt idx="2">
                  <c:v>Georgia Southern</c:v>
                </c:pt>
                <c:pt idx="3">
                  <c:v>Arkansas State</c:v>
                </c:pt>
                <c:pt idx="4">
                  <c:v>Marshall</c:v>
                </c:pt>
                <c:pt idx="5">
                  <c:v>Troy</c:v>
                </c:pt>
                <c:pt idx="6">
                  <c:v>Louisiana</c:v>
                </c:pt>
                <c:pt idx="7">
                  <c:v>Southern Miss</c:v>
                </c:pt>
                <c:pt idx="8">
                  <c:v>Old Dominion</c:v>
                </c:pt>
                <c:pt idx="9">
                  <c:v>James Madison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0.0362</c:v>
                </c:pt>
                <c:pt idx="1">
                  <c:v>0.0394</c:v>
                </c:pt>
                <c:pt idx="2">
                  <c:v>0.0423</c:v>
                </c:pt>
                <c:pt idx="3">
                  <c:v>0.0563</c:v>
                </c:pt>
                <c:pt idx="4">
                  <c:v>0.0586</c:v>
                </c:pt>
                <c:pt idx="5">
                  <c:v>0.0689</c:v>
                </c:pt>
                <c:pt idx="6">
                  <c:v>0.0828</c:v>
                </c:pt>
                <c:pt idx="7">
                  <c:v>0.1289</c:v>
                </c:pt>
                <c:pt idx="8">
                  <c:v>0.1705</c:v>
                </c:pt>
                <c:pt idx="9">
                  <c:v>0.2751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>
                  <a:solidFill>
                    <a:srgbClr val="16273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NCAA FBS ANALYTICS · CONFERENCE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Sun Belt — 2026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Projected standings, title race, and championship odds</a:t>
            </a:r>
          </a:p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10,000 joint simulated seasons · ESPN 2026 preseason FPI prior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Sun Belt: projected standings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234440"/>
          <a:ext cx="7863839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3405"/>
                <a:gridCol w="2539365"/>
                <a:gridCol w="737235"/>
                <a:gridCol w="1105852"/>
                <a:gridCol w="1105852"/>
                <a:gridCol w="819150"/>
                <a:gridCol w="98298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Pos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Team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FPI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Conf W–L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Overall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P(CG)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P(Champ)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273D"/>
                          </a:solidFill>
                          <a:latin typeface="Arial"/>
                        </a:rPr>
                        <a:t>James Madison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-2.0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5.5–2.5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8.2–3.8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42%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273D"/>
                          </a:solidFill>
                          <a:latin typeface="Arial"/>
                        </a:rPr>
                        <a:t>Old Dominion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-4.4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5.0–3.0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7.2–4.8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17%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Southern Miss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4.8–3.2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6.8–5.2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Louisiana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-8.3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4.6–3.4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7.0–5.0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Arkansas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4.4–3.6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6.2–5.8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Troy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-7.4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4.3–3.7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6.6–5.4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Marshall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-8.8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4.3–3.7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6.6–5.4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App State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-9.8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4.0–4.0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6.0–6.0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Georgia Southern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4.0–4.0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5.6–6.4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Louisiana Tech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-9.6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3.9–4.1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5.4–6.6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South Alabama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3.8–4.2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5.5–6.5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Coastal Carolina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-12.1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3.1–4.9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5.0–7.0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Georgia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2.4–5.6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4.3–7.7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UL Monroe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-19.3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1.7–6.3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3.4–8.6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961120" y="1371600"/>
            <a:ext cx="26517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Favorite: James Madison (28%)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Projected title game: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James Madison vs Old Dominion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Split: champion ≠ best overall record in 57% of seasons.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Shaded rows = projected CG pair.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Sun Belt: the title race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28016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95360" y="1645920"/>
            <a:ext cx="30175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James Madison wins the league in 28% of seasons; Old Dominion is next at 17%.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Schedule note: UL Monroe's overall projection (3.4 wins) outruns its conference finish — draw matters.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