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std coef</c:v>
                </c:pt>
              </c:strCache>
            </c:strRef>
          </c:tx>
          <c:spPr>
            <a:solidFill>
              <a:srgbClr val="0A2851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Prior-year SP+</c:v>
                </c:pt>
                <c:pt idx="1">
                  <c:v>Recruiting 4-yr avg</c:v>
                </c:pt>
                <c:pt idx="2">
                  <c:v>Returning PPA</c:v>
                </c:pt>
                <c:pt idx="3">
                  <c:v>Talent composite</c:v>
                </c:pt>
                <c:pt idx="4">
                  <c:v>Net portal rating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7.01</c:v>
                </c:pt>
                <c:pt idx="1">
                  <c:v>5.06</c:v>
                </c:pt>
                <c:pt idx="2">
                  <c:v>0.34</c:v>
                </c:pt>
                <c:pt idx="3">
                  <c:v>-1.14</c:v>
                </c:pt>
                <c:pt idx="4">
                  <c:v>0.67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low"/>
        <c:txPr>
          <a:bodyPr/>
          <a:lstStyle/>
          <a:p>
            <a:pPr>
              <a:defRPr sz="13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-4.0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Projected wins</c:v>
                </c:pt>
              </c:strCache>
            </c:strRef>
          </c:tx>
          <c:spPr>
            <a:solidFill>
              <a:srgbClr val="F47321"/>
            </a:solidFill>
          </c:spPr>
          <c:cat>
            <c:strRef>
              <c:f>Sheet1!$A$2:$A$9</c:f>
              <c:strCache>
                <c:ptCount val="8"/>
                <c:pt idx="0">
                  <c:v>Notre Dame</c:v>
                </c:pt>
                <c:pt idx="1">
                  <c:v>Texas Tech</c:v>
                </c:pt>
                <c:pt idx="2">
                  <c:v>Oregon</c:v>
                </c:pt>
                <c:pt idx="3">
                  <c:v>Miami</c:v>
                </c:pt>
                <c:pt idx="4">
                  <c:v>Indiana</c:v>
                </c:pt>
                <c:pt idx="5">
                  <c:v>Ohio State</c:v>
                </c:pt>
                <c:pt idx="6">
                  <c:v>Georgia</c:v>
                </c:pt>
                <c:pt idx="7">
                  <c:v>Texas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11.1</c:v>
                </c:pt>
                <c:pt idx="1">
                  <c:v>10.7</c:v>
                </c:pt>
                <c:pt idx="2">
                  <c:v>10.3</c:v>
                </c:pt>
                <c:pt idx="3">
                  <c:v>10.2</c:v>
                </c:pt>
                <c:pt idx="4">
                  <c:v>10.2</c:v>
                </c:pt>
                <c:pt idx="5">
                  <c:v>10.1</c:v>
                </c:pt>
                <c:pt idx="6">
                  <c:v>10.1</c:v>
                </c:pt>
                <c:pt idx="7">
                  <c:v>9.7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800" b="1" i="0">
                <a:solidFill>
                  <a:srgbClr val="FFFFFF"/>
                </a:solidFill>
                <a:latin typeface="Arial"/>
              </a:rPr>
              <a:t>Reverse-Engineering ESPN's FPI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46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CADCFC"/>
                </a:solidFill>
                <a:latin typeface="Arial"/>
              </a:rPr>
              <a:t>How much of a secret college football rating can you rebuild with public data?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3484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CADCFC"/>
                </a:solidFill>
                <a:latin typeface="Arial"/>
              </a:rPr>
              <a:t>FPI decomposition  •  self-refreshing scouting workbook  •  upset alerts  •  season simulation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CADCFC"/>
                </a:solidFill>
                <a:latin typeface="Arial"/>
              </a:rPr>
              <a:t>Lucas Alvarez  — 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0A2851"/>
                </a:solidFill>
                <a:latin typeface="Arial"/>
              </a:rPr>
              <a:t>The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666666"/>
                </a:solidFill>
                <a:latin typeface="Arial"/>
              </a:rPr>
              <a:t>ESPN publishes FPI but not the recipe. What share is reconstructable — and where does ESPN disagree with public data?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37360"/>
            <a:ext cx="3566160" cy="173736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01952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0A2851"/>
                </a:solidFill>
                <a:latin typeface="Arial"/>
              </a:rPr>
              <a:t>70.5%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788920"/>
            <a:ext cx="3291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66666"/>
                </a:solidFill>
                <a:latin typeface="Arial"/>
              </a:rPr>
              <a:t>of FPI variance explained by four free public inputs (R², 132 FBS teams, 2025)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1737360"/>
            <a:ext cx="3566160" cy="173736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901952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0A2851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788920"/>
            <a:ext cx="3291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66666"/>
                </a:solidFill>
                <a:latin typeface="Arial"/>
              </a:rPr>
              <a:t>public inputs: prior-year SP+, returning production, 247 talent, 4-yr recruiting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737360"/>
            <a:ext cx="3566160" cy="173736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901952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0A2851"/>
                </a:solidFill>
                <a:latin typeface="Arial"/>
              </a:rPr>
              <a:t>29.5%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2788920"/>
            <a:ext cx="3291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66666"/>
                </a:solidFill>
                <a:latin typeface="Arial"/>
              </a:rPr>
              <a:t>the interesting part — ESPN opinion + noise the public inputs can't 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31920"/>
            <a:ext cx="111556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0A2851"/>
                </a:solidFill>
                <a:latin typeface="Arial"/>
              </a:rPr>
              <a:t>Why a sportsbook should care: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FPI moves public perception and, indirectly, markets. Knowing which part of FPI is reconstructable from consensus inputs — and which part is ESPN's own opinion — tells you when an FPI-driven narrative carries new information versus when it's repackaged consensus.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0A2851"/>
                </a:solidFill>
                <a:latin typeface="Arial"/>
              </a:rPr>
              <a:t>Data: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CollegeFootballData API, cached locally. OLS regression on standardized features. All code, tests, and a reproducible pipeline live beside the workbook.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0A2851"/>
                </a:solidFill>
                <a:latin typeface="Arial"/>
              </a:rPr>
              <a:t>What Carries the Signal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666666"/>
                </a:solidFill>
                <a:latin typeface="Arial"/>
              </a:rPr>
              <a:t>Standardized OLS coefficients — fpi ~ z(prior SP+, returning PPA, talent, recruiting)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54480"/>
          <a:ext cx="630936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223760" y="1737360"/>
            <a:ext cx="43891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500" b="1" i="0">
                <a:solidFill>
                  <a:srgbClr val="0A2851"/>
                </a:solidFill>
                <a:latin typeface="Arial"/>
              </a:rPr>
              <a:t>Prior-year SP+ does almost all the work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(p &lt; 0.0001). The cheapest predictor of a rating is another rating.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500" b="1" i="0">
                <a:solidFill>
                  <a:srgbClr val="0A2851"/>
                </a:solidFill>
                <a:latin typeface="Arial"/>
              </a:rPr>
              <a:t>Recruiting adds real signal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(p = 0.004) — a sustained talent-pipeline effect.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500" b="1" i="0">
                <a:solidFill>
                  <a:srgbClr val="0A2851"/>
                </a:solidFill>
                <a:latin typeface="Arial"/>
              </a:rPr>
              <a:t>Returning production and talent wash out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— not useless, just collinear with the first two. Coefficients aren't causal.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500" b="1" i="0">
                <a:solidFill>
                  <a:srgbClr val="F47321"/>
                </a:solidFill>
                <a:latin typeface="Arial"/>
              </a:rPr>
              <a:t>The portal adds nothing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(p = 0.30): adjusted R² moved 0.6960 → 0.6962. For all the portal hysteria, raw transfer-rating sums explain none of how ESPN rates teams.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0A2851"/>
                </a:solidFill>
                <a:latin typeface="Arial"/>
              </a:rPr>
              <a:t>The Residuals Are the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666666"/>
                </a:solidFill>
                <a:latin typeface="Arial"/>
              </a:rPr>
              <a:t>Residual = FPI minus what public inputs predict (points)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5394960" cy="42062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E7D5B"/>
                </a:solidFill>
                <a:latin typeface="Arial"/>
              </a:rPr>
              <a:t>FPI rates HIGHER than public inputs explain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31720"/>
            <a:ext cx="49377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600" b="1" i="0">
                <a:solidFill>
                  <a:srgbClr val="222222"/>
                </a:solidFill>
                <a:latin typeface="Arial"/>
              </a:rPr>
              <a:t>Indiana           </a:t>
            </a:r>
            <a:r>
              <a:rPr sz="1600" b="1" i="0">
                <a:solidFill>
                  <a:srgbClr val="2E7D5B"/>
                </a:solidFill>
                <a:latin typeface="Arial"/>
              </a:rPr>
              <a:t>+19.0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600" b="1" i="0">
                <a:solidFill>
                  <a:srgbClr val="222222"/>
                </a:solidFill>
                <a:latin typeface="Arial"/>
              </a:rPr>
              <a:t>Kennesaw State    </a:t>
            </a:r>
            <a:r>
              <a:rPr sz="1600" b="1" i="0">
                <a:solidFill>
                  <a:srgbClr val="2E7D5B"/>
                </a:solidFill>
                <a:latin typeface="Arial"/>
              </a:rPr>
              <a:t>+16.4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600" b="1" i="0">
                <a:solidFill>
                  <a:srgbClr val="222222"/>
                </a:solidFill>
                <a:latin typeface="Arial"/>
              </a:rPr>
              <a:t>Texas Tech        </a:t>
            </a:r>
            <a:r>
              <a:rPr sz="1600" b="1" i="0">
                <a:solidFill>
                  <a:srgbClr val="2E7D5B"/>
                </a:solidFill>
                <a:latin typeface="Arial"/>
              </a:rPr>
              <a:t>+16.2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600" b="1" i="0">
                <a:solidFill>
                  <a:srgbClr val="222222"/>
                </a:solidFill>
                <a:latin typeface="Arial"/>
              </a:rPr>
              <a:t>New Mexico        </a:t>
            </a:r>
            <a:r>
              <a:rPr sz="1600" b="1" i="0">
                <a:solidFill>
                  <a:srgbClr val="2E7D5B"/>
                </a:solidFill>
                <a:latin typeface="Arial"/>
              </a:rPr>
              <a:t>+15.1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600" b="1" i="0">
                <a:solidFill>
                  <a:srgbClr val="222222"/>
                </a:solidFill>
                <a:latin typeface="Arial"/>
              </a:rPr>
              <a:t>Utah              </a:t>
            </a:r>
            <a:r>
              <a:rPr sz="1600" b="1" i="0">
                <a:solidFill>
                  <a:srgbClr val="2E7D5B"/>
                </a:solidFill>
                <a:latin typeface="Arial"/>
              </a:rPr>
              <a:t>+13.8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600" b="1" i="0">
                <a:solidFill>
                  <a:srgbClr val="222222"/>
                </a:solidFill>
                <a:latin typeface="Arial"/>
              </a:rPr>
              <a:t>Vanderbilt        </a:t>
            </a:r>
            <a:r>
              <a:rPr sz="1600" b="1" i="0">
                <a:solidFill>
                  <a:srgbClr val="2E7D5B"/>
                </a:solidFill>
                <a:latin typeface="Arial"/>
              </a:rPr>
              <a:t>+12.5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600200"/>
            <a:ext cx="5394960" cy="42062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78308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9C0006"/>
                </a:solidFill>
                <a:latin typeface="Arial"/>
              </a:rPr>
              <a:t>FPI rates LOWER than public inputs explain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331720"/>
            <a:ext cx="49377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600" b="1" i="0">
                <a:solidFill>
                  <a:srgbClr val="222222"/>
                </a:solidFill>
                <a:latin typeface="Arial"/>
              </a:rPr>
              <a:t>Sam Houston       </a:t>
            </a:r>
            <a:r>
              <a:rPr sz="1600" b="1" i="0">
                <a:solidFill>
                  <a:srgbClr val="9C0006"/>
                </a:solidFill>
                <a:latin typeface="Arial"/>
              </a:rPr>
              <a:t>-16.4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600" b="1" i="0">
                <a:solidFill>
                  <a:srgbClr val="222222"/>
                </a:solidFill>
                <a:latin typeface="Arial"/>
              </a:rPr>
              <a:t>Oklahoma State    </a:t>
            </a:r>
            <a:r>
              <a:rPr sz="1600" b="1" i="0">
                <a:solidFill>
                  <a:srgbClr val="9C0006"/>
                </a:solidFill>
                <a:latin typeface="Arial"/>
              </a:rPr>
              <a:t>-12.3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600" b="1" i="0">
                <a:solidFill>
                  <a:srgbClr val="222222"/>
                </a:solidFill>
                <a:latin typeface="Arial"/>
              </a:rPr>
              <a:t>North Carolina    </a:t>
            </a:r>
            <a:r>
              <a:rPr sz="1600" b="1" i="0">
                <a:solidFill>
                  <a:srgbClr val="9C0006"/>
                </a:solidFill>
                <a:latin typeface="Arial"/>
              </a:rPr>
              <a:t>-12.1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600" b="1" i="0">
                <a:solidFill>
                  <a:srgbClr val="222222"/>
                </a:solidFill>
                <a:latin typeface="Arial"/>
              </a:rPr>
              <a:t>Syracuse          </a:t>
            </a:r>
            <a:r>
              <a:rPr sz="1600" b="1" i="0">
                <a:solidFill>
                  <a:srgbClr val="9C0006"/>
                </a:solidFill>
                <a:latin typeface="Arial"/>
              </a:rPr>
              <a:t>-12.1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600" b="1" i="0">
                <a:solidFill>
                  <a:srgbClr val="222222"/>
                </a:solidFill>
                <a:latin typeface="Arial"/>
              </a:rPr>
              <a:t>UMass             </a:t>
            </a:r>
            <a:r>
              <a:rPr sz="1600" b="1" i="0">
                <a:solidFill>
                  <a:srgbClr val="9C0006"/>
                </a:solidFill>
                <a:latin typeface="Arial"/>
              </a:rPr>
              <a:t>-11.3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600" b="1" i="0">
                <a:solidFill>
                  <a:srgbClr val="222222"/>
                </a:solidFill>
                <a:latin typeface="Arial"/>
              </a:rPr>
              <a:t>Louisiana         </a:t>
            </a:r>
            <a:r>
              <a:rPr sz="1600" b="1" i="0">
                <a:solidFill>
                  <a:srgbClr val="9C0006"/>
                </a:solidFill>
                <a:latin typeface="Arial"/>
              </a:rPr>
              <a:t>-10.9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89320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F47321"/>
                </a:solidFill>
                <a:latin typeface="Arial"/>
              </a:rPr>
              <a:t>Caveat that keeps us honest: </a:t>
            </a:r>
            <a:r>
              <a:rPr sz="1300" b="0" i="0">
                <a:solidFill>
                  <a:srgbClr val="222222"/>
                </a:solidFill>
                <a:latin typeface="Arial"/>
              </a:rPr>
              <a:t>CFBD mirrors final 2025 FPI, so this list doubles as a 2025 over/under-achievers list. ESPN's 2026 preseason FPI was captured July 14 — the true preseason decomposition runs as soon as CFBD mirrors the 2026 inputs.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0A2851"/>
                </a:solidFill>
                <a:latin typeface="Arial"/>
              </a:rPr>
              <a:t>One Workbook, Whole Sport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666666"/>
                </a:solidFill>
                <a:latin typeface="Arial"/>
              </a:rPr>
              <a:t>NCAA_FBS_Teams.xlsm — 138 team tabs collapsed into a conference viewer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256032" cy="548640"/>
          </a:xfrm>
          <a:prstGeom prst="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73352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0A2851"/>
                </a:solidFill>
                <a:latin typeface="Arial"/>
              </a:rPr>
              <a:t>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1700784"/>
            <a:ext cx="7223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Arial"/>
              </a:rPr>
              <a:t>league table + the REFRESH button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59152"/>
            <a:ext cx="256032" cy="548640"/>
          </a:xfrm>
          <a:prstGeom prst="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86584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0A2851"/>
                </a:solidFill>
                <a:latin typeface="Arial"/>
              </a:rPr>
              <a:t>FPI Decomposition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414016"/>
            <a:ext cx="7223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Arial"/>
              </a:rPr>
              <a:t>full 132-team model output: predictions, residuals, ranks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072384"/>
            <a:ext cx="256032" cy="548640"/>
          </a:xfrm>
          <a:prstGeom prst="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099816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0A2851"/>
                </a:solidFill>
                <a:latin typeface="Arial"/>
              </a:rPr>
              <a:t>Upset 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3127248"/>
            <a:ext cx="7223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Arial"/>
              </a:rPr>
              <a:t>every game where the model and the market disagree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785616"/>
            <a:ext cx="256032" cy="548640"/>
          </a:xfrm>
          <a:prstGeom prst="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813048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0A2851"/>
                </a:solidFill>
                <a:latin typeface="Arial"/>
              </a:rPr>
              <a:t>Season Sim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840480"/>
            <a:ext cx="7223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Arial"/>
              </a:rPr>
              <a:t>Monte Carlo win projections for all 132 rated teams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498848"/>
            <a:ext cx="256032" cy="548640"/>
          </a:xfrm>
          <a:prstGeom prst="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52628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0A2851"/>
                </a:solidFill>
                <a:latin typeface="Arial"/>
              </a:rPr>
              <a:t>11 conference tabs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4553712"/>
            <a:ext cx="7223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Arial"/>
              </a:rPr>
              <a:t>team dropdown → ratings, FPI, schedule + lines, roster, strengths/weaknesses, and an OurLads-sourced depth chart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212080"/>
            <a:ext cx="256032" cy="548640"/>
          </a:xfrm>
          <a:prstGeom prst="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239512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0A2851"/>
                </a:solidFill>
                <a:latin typeface="Arial"/>
              </a:rPr>
              <a:t>4 hidden data sheets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5266944"/>
            <a:ext cx="7223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Arial"/>
              </a:rPr>
              <a:t>_Teams / _Rosters / _Sched / _DepthGrid — 15,130 players, 1,776 schedule rows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12648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Every number in the visible tabs is a formula against the hidden data sheets — the layout never goes stale.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0A2851"/>
                </a:solidFill>
                <a:latin typeface="Arial"/>
              </a:rPr>
              <a:t>One Button, Fresh Everything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666666"/>
                </a:solidFill>
                <a:latin typeface="Arial"/>
              </a:rPr>
              <a:t>Press REFRESH in the workbook — it closes itself, rebuilds, and reopens (~3 min)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2084831" cy="2286000"/>
          </a:xfrm>
          <a:prstGeom prst="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176272"/>
            <a:ext cx="18653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788920"/>
            <a:ext cx="186537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Re-pull 138 rosters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520440"/>
            <a:ext cx="186537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CADCFC"/>
                </a:solidFill>
                <a:latin typeface="Arial"/>
              </a:rPr>
              <a:t>every school's official athletics site API</a:t>
            </a:r>
          </a:p>
        </p:txBody>
      </p:sp>
      <p:sp>
        <p:nvSpPr>
          <p:cNvPr id="8" name="Rectangle 7"/>
          <p:cNvSpPr/>
          <p:nvPr/>
        </p:nvSpPr>
        <p:spPr>
          <a:xfrm>
            <a:off x="2788920" y="2011680"/>
            <a:ext cx="2084831" cy="2286000"/>
          </a:xfrm>
          <a:prstGeom prst="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8648" y="2176272"/>
            <a:ext cx="18653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8648" y="2788920"/>
            <a:ext cx="186537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Portal + schedules + lines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98648" y="3520440"/>
            <a:ext cx="186537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CADCFC"/>
                </a:solidFill>
                <a:latin typeface="Arial"/>
              </a:rPr>
              <a:t>CFBD: 4,427 portal entries, 888 games, DK/Bovada lines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0" y="2011680"/>
            <a:ext cx="2084831" cy="2286000"/>
          </a:xfrm>
          <a:prstGeom prst="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38928" y="2176272"/>
            <a:ext cx="18653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8928" y="2788920"/>
            <a:ext cx="186537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Rebuild data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38928" y="3520440"/>
            <a:ext cx="186537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CADCFC"/>
                </a:solidFill>
                <a:latin typeface="Arial"/>
              </a:rPr>
              <a:t>rosters, schedules, FPI model re-fit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69480" y="2011680"/>
            <a:ext cx="2084831" cy="2286000"/>
          </a:xfrm>
          <a:prstGeom prst="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79208" y="2176272"/>
            <a:ext cx="18653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79208" y="2788920"/>
            <a:ext cx="186537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Flag upsets &amp; sim season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9208" y="3520440"/>
            <a:ext cx="186537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CADCFC"/>
                </a:solidFill>
                <a:latin typeface="Arial"/>
              </a:rPr>
              <a:t>alert log updated, 10k Monte Carlo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09760" y="2011680"/>
            <a:ext cx="2084831" cy="2286000"/>
          </a:xfrm>
          <a:prstGeom prst="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19488" y="2176272"/>
            <a:ext cx="18653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19488" y="2788920"/>
            <a:ext cx="186537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Recalc &amp; reopen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19488" y="3520440"/>
            <a:ext cx="186537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CADCFC"/>
                </a:solidFill>
                <a:latin typeface="Arial"/>
              </a:rPr>
              <a:t>Excel recalculates, workbook reopens itself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846320"/>
            <a:ext cx="11155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 i="0">
                <a:solidFill>
                  <a:srgbClr val="0A2851"/>
                </a:solidFill>
                <a:latin typeface="Arial"/>
              </a:rPr>
              <a:t>Engineering under the hood: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response caching, defensive column detection (CFBD ships camelCase and snake_case), team-name alias mapping with merge-coverage reporting so no school silently drops, pytest suite on the merge logic, VBA-preserving rebuilds, first-seen line logging.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0A2851"/>
                </a:solidFill>
                <a:latin typeface="Arial"/>
              </a:rPr>
              <a:t>Upset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666666"/>
                </a:solidFill>
                <a:latin typeface="Arial"/>
              </a:rPr>
              <a:t>FPI-implied margin (FPI gap + 2.5 home field) vs the market — prior: ESPN's 2026 preseason FPI, captured July 14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5394960" cy="1371600"/>
          </a:xfrm>
          <a:prstGeom prst="rect">
            <a:avLst/>
          </a:prstGeom>
          <a:solidFill>
            <a:srgbClr val="FFC7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9C0006"/>
                </a:solidFill>
                <a:latin typeface="Arial"/>
              </a:rPr>
              <a:t>RED — upset watch.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Model picks the underdog outright and the spread is 3+. </a:t>
            </a:r>
          </a:p>
        </p:txBody>
      </p:sp>
      <p:sp>
        <p:nvSpPr>
          <p:cNvPr id="6" name="Rectangle 5"/>
          <p:cNvSpPr/>
          <p:nvPr/>
        </p:nvSpPr>
        <p:spPr>
          <a:xfrm>
            <a:off x="6263640" y="1645920"/>
            <a:ext cx="5394960" cy="1371600"/>
          </a:xfrm>
          <a:prstGeom prst="rect">
            <a:avLst/>
          </a:prstGeom>
          <a:solidFill>
            <a:srgbClr val="FFE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78308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8A6D00"/>
                </a:solidFill>
                <a:latin typeface="Arial"/>
              </a:rPr>
              <a:t>YELLOW — line disagreement.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Same side as the market, but 6+ points of daylight between model margin and spread.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0A2851"/>
                </a:solidFill>
                <a:latin typeface="Arial"/>
              </a:rPr>
              <a:t>Live (5 alerts, 2 red) — with ESPN's real 2026 opinion, staleness noise vanished and what's left is signal: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79476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22222"/>
                </a:solidFill>
                <a:latin typeface="Arial"/>
              </a:rPr>
              <a:t>Wisconsin -20.5 vs Notre Dame (N)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379476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41.6-pt edge = almost certainly a flipped line in the data feed — alerts catch data bugs too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29768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22222"/>
                </a:solidFill>
                <a:latin typeface="Arial"/>
              </a:rPr>
              <a:t>Sacramento State at Eastern Michigan -8.5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429768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ESPN's FPI likes the FBS newcomer outright — market hasn't priced them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0060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22222"/>
                </a:solidFill>
                <a:latin typeface="Arial"/>
              </a:rPr>
              <a:t>North Texas at Indiana -40.5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80060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even ESPN's 2026 numbers say the -40.5 is ~8 too rich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30352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22222"/>
                </a:solidFill>
                <a:latin typeface="Arial"/>
              </a:rPr>
              <a:t>Massachusetts at Rutgers -30.5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530352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same shape: giant number, single-digit model disagreement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43600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0A2851"/>
                </a:solidFill>
                <a:latin typeface="Arial"/>
              </a:rPr>
              <a:t>Honest grading, built in:  </a:t>
            </a:r>
            <a:r>
              <a:rPr sz="1300" b="0" i="0">
                <a:solidFill>
                  <a:srgbClr val="222222"/>
                </a:solidFill>
                <a:latin typeface="Arial"/>
              </a:rPr>
              <a:t>every alert is logged with the line at alert time and graded against that line when the game completes — a running ATS record the model can't retroactively flatter.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0A2851"/>
                </a:solidFill>
                <a:latin typeface="Arial"/>
              </a:rPr>
              <a:t>Backtested — and Honest About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666666"/>
                </a:solidFill>
                <a:latin typeface="Arial"/>
              </a:rPr>
              <a:t>The alert rules replayed against 2023–2025 with the exact information the live system would have had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566160" cy="173736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10512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0A2851"/>
                </a:solidFill>
                <a:latin typeface="Arial"/>
              </a:rPr>
              <a:t>1,147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697480"/>
            <a:ext cx="3291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66666"/>
                </a:solidFill>
                <a:latin typeface="Arial"/>
              </a:rPr>
              <a:t>alerts replayed across three seasons of real closing lines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1645920"/>
            <a:ext cx="3566160" cy="173736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810512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9C0006"/>
                </a:solidFill>
                <a:latin typeface="Arial"/>
              </a:rPr>
              <a:t>49.7%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697480"/>
            <a:ext cx="3291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66666"/>
                </a:solidFill>
                <a:latin typeface="Arial"/>
              </a:rPr>
              <a:t>ATS — below the 52.4% break-even. The stale-prior signal does NOT beat the market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645920"/>
            <a:ext cx="3566160" cy="173736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810512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9C0006"/>
                </a:solidFill>
                <a:latin typeface="Arial"/>
              </a:rPr>
              <a:t>46.8%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2697480"/>
            <a:ext cx="3291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66666"/>
                </a:solidFill>
                <a:latin typeface="Arial"/>
              </a:rPr>
              <a:t>on the LARGEST edges (15+ pts) — loud disagreement with the market is model error, not market error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840480"/>
            <a:ext cx="111556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500" b="1" i="0">
                <a:solidFill>
                  <a:srgbClr val="0A2851"/>
                </a:solidFill>
                <a:latin typeface="Arial"/>
              </a:rPr>
              <a:t>Why report a losing record?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Because it's true, it's measured properly (graded against first-seen lines, no retroactive flattering), and it's exactly the analysis a sportsbook pays for: knowing which signals DON'T carry edge.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500" b="1" i="0">
                <a:solidFill>
                  <a:srgbClr val="0A2851"/>
                </a:solidFill>
                <a:latin typeface="Arial"/>
              </a:rPr>
              <a:t>What it changed: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the live board now runs on ESPN's actual 2026 preseason FPI instead of a stale prior — alerts fell from 15 to 5 overnight — and the board is framed as a research shortlist and narrative engine, not a picks service. Every future alert is logged and graded, so the 2026 record accumulates in public.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0A2851"/>
                </a:solidFill>
                <a:latin typeface="Arial"/>
              </a:rPr>
              <a:t>Season Simulation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666666"/>
                </a:solidFill>
                <a:latin typeface="Arial"/>
              </a:rPr>
              <a:t>10,000 Monte Carlo seasons per team — prior: ESPN 2026 preseason FPI — win prob = N(FPI gap + HFA, sd 13.5)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694944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0" y="1828800"/>
            <a:ext cx="384048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400" b="1" i="0">
                <a:solidFill>
                  <a:srgbClr val="0A2851"/>
                </a:solidFill>
                <a:latin typeface="Arial"/>
              </a:rPr>
              <a:t>Per team: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projected wins, 10th/90th percentile seasons, P(bowl), P(10+ wins).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400" b="1" i="0">
                <a:solidFill>
                  <a:srgbClr val="0A2851"/>
                </a:solidFill>
                <a:latin typeface="Arial"/>
              </a:rPr>
              <a:t>The play: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compare projections to season win totals at the book. Gaps of a full win are the shortlist.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400" b="1" i="0">
                <a:solidFill>
                  <a:srgbClr val="0A2851"/>
                </a:solidFill>
                <a:latin typeface="Arial"/>
              </a:rPr>
              <a:t>Prior already upgraded: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ESPN's 2026 preseason FPI (released July 2026) now drives every projection — all 138 teams are simulated, newcomers included.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47321"/>
                </a:solidFill>
                <a:latin typeface="Arial"/>
              </a:rPr>
              <a:t>Done — July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0" y="1828800"/>
            <a:ext cx="795527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CADCFC"/>
                </a:solidFill>
                <a:latin typeface="Arial"/>
              </a:rPr>
              <a:t>ESPN 2026 preseason FPI captured (from ESPN's API, ahead of CFBD) and wired through alerts, sim, and schedules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47321"/>
                </a:solidFill>
                <a:latin typeface="Arial"/>
              </a:rPr>
              <a:t>August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2788920"/>
            <a:ext cx="795527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CADCFC"/>
                </a:solidFill>
                <a:latin typeface="Arial"/>
              </a:rPr>
              <a:t>true preseason decomposition — regress ESPN's 2026 numbers on 2026 public inputs the moment CFBD mirrors them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49039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47321"/>
                </a:solidFill>
                <a:latin typeface="Arial"/>
              </a:rPr>
              <a:t>Weekly in-season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3749039"/>
            <a:ext cx="795527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CADCFC"/>
                </a:solidFill>
                <a:latin typeface="Arial"/>
              </a:rPr>
              <a:t>one REFRESH: new lines, updated alerts, graded results, live ATS scorecard vs the 49.7% benchmark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09159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47321"/>
                </a:solidFill>
                <a:latin typeface="Arial"/>
              </a:rPr>
              <a:t>Beyond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4709159"/>
            <a:ext cx="795527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CADCFC"/>
                </a:solidFill>
                <a:latin typeface="Arial"/>
              </a:rPr>
              <a:t>coaching-change and QB flags, Vegas win totals as a feature, line-movement steam alerts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CADCFC"/>
                </a:solidFill>
                <a:latin typeface="Arial"/>
              </a:rPr>
              <a:t>Repo: Sports Data Analysis / ncaa-fbs-model  —  pipeline, tests, and README built for a hiring manager, not a journal.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