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std coef</c:v>
                </c:pt>
              </c:strCache>
            </c:strRef>
          </c:tx>
          <c:spPr>
            <a:solidFill>
              <a:srgbClr val="0A2851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Prior-year SP+</c:v>
                </c:pt>
                <c:pt idx="1">
                  <c:v>Recruiting 4-yr avg</c:v>
                </c:pt>
                <c:pt idx="2">
                  <c:v>Returning PPA</c:v>
                </c:pt>
                <c:pt idx="3">
                  <c:v>Talent composite</c:v>
                </c:pt>
                <c:pt idx="4">
                  <c:v>Net portal rating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7.01</c:v>
                </c:pt>
                <c:pt idx="1">
                  <c:v>5.06</c:v>
                </c:pt>
                <c:pt idx="2">
                  <c:v>0.34</c:v>
                </c:pt>
                <c:pt idx="3">
                  <c:v>-1.14</c:v>
                </c:pt>
                <c:pt idx="4">
                  <c:v>0.67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txPr>
          <a:bodyPr/>
          <a:lstStyle/>
          <a:p>
            <a:pPr>
              <a:defRPr sz="13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-4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Projected wins</c:v>
                </c:pt>
              </c:strCache>
            </c:strRef>
          </c:tx>
          <c:spPr>
            <a:solidFill>
              <a:srgbClr val="F47321"/>
            </a:solidFill>
          </c:spPr>
          <c:cat>
            <c:strRef>
              <c:f>Sheet1!$A$2:$A$9</c:f>
              <c:strCache>
                <c:ptCount val="8"/>
                <c:pt idx="0">
                  <c:v>Texas Tech</c:v>
                </c:pt>
                <c:pt idx="1">
                  <c:v>Indiana</c:v>
                </c:pt>
                <c:pt idx="2">
                  <c:v>Notre Dame</c:v>
                </c:pt>
                <c:pt idx="3">
                  <c:v>Miami</c:v>
                </c:pt>
                <c:pt idx="4">
                  <c:v>James Madison</c:v>
                </c:pt>
                <c:pt idx="5">
                  <c:v>Ohio State</c:v>
                </c:pt>
                <c:pt idx="6">
                  <c:v>Georgia</c:v>
                </c:pt>
                <c:pt idx="7">
                  <c:v>Oregon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11.2</c:v>
                </c:pt>
                <c:pt idx="1">
                  <c:v>11.1</c:v>
                </c:pt>
                <c:pt idx="2">
                  <c:v>11.1</c:v>
                </c:pt>
                <c:pt idx="3">
                  <c:v>10.6</c:v>
                </c:pt>
                <c:pt idx="4">
                  <c:v>10.6</c:v>
                </c:pt>
                <c:pt idx="5">
                  <c:v>10.4</c:v>
                </c:pt>
                <c:pt idx="6">
                  <c:v>10.2</c:v>
                </c:pt>
                <c:pt idx="7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Reverse-Engineering ESPN's FPI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CADCFC"/>
                </a:solidFill>
                <a:latin typeface="Arial"/>
              </a:rPr>
              <a:t>How much of a secret college football rating can you rebuild with public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Arial"/>
              </a:rPr>
              <a:t>FPI decomposition  •  self-refreshing scouting workbook  •  upset alerts  •  season simulation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Arial"/>
              </a:rPr>
              <a:t>Lucas Alvarez  —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ESPN publishes FPI but not the recipe. What share is reconstructable — and where does ESPN disagree with public data?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3566160" cy="17373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01952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0A2851"/>
                </a:solidFill>
                <a:latin typeface="Arial"/>
              </a:rPr>
              <a:t>70.5%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88920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Arial"/>
              </a:rPr>
              <a:t>of FPI variance explained by four free public inputs (R², 132 FBS teams, 2025)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1737360"/>
            <a:ext cx="3566160" cy="17373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901952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0A2851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788920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Arial"/>
              </a:rPr>
              <a:t>public inputs: prior-year SP+, returning production, 247 talent, 4-yr recruiting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737360"/>
            <a:ext cx="3566160" cy="17373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901952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0A2851"/>
                </a:solidFill>
                <a:latin typeface="Arial"/>
              </a:rPr>
              <a:t>29.5%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788920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Arial"/>
              </a:rPr>
              <a:t>the interesting part — ESPN opinion + noise the public inputs can't 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11155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Why a sportsbook should care: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FPI moves public perception and, indirectly, markets. Knowing which part of FPI is reconstructable from consensus inputs — and which part is ESPN's own opinion — tells you when an FPI-driven narrative carries new information versus when it's repackaged consensus.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Data: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CollegeFootballData API, cached locally. OLS regression on standardized features. All code, tests, and a reproducible pipeline live beside the workbook.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What Carries the Signal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Standardized OLS coefficients — fpi ~ z(prior SP+, returning PPA, talent, recruiting)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54480"/>
          <a:ext cx="63093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223760" y="1737360"/>
            <a:ext cx="43891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Prior-year SP+ does almost all the work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(p &lt; 0.0001). The cheapest predictor of a rating is another rating.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Recruiting adds real signal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(p = 0.004) — a sustained talent-pipeline effect.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Returning production and talent wash out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— not useless, just collinear with the first two. Coefficients aren't causal.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00" b="1" i="0">
                <a:solidFill>
                  <a:srgbClr val="F47321"/>
                </a:solidFill>
                <a:latin typeface="Arial"/>
              </a:rPr>
              <a:t>The portal adds nothing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(p = 0.30): adjusted R² moved 0.6960 → 0.6962. For all the portal hysteria, raw transfer-rating sums explain none of how ESPN rates teams.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The Residuals Are the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Residual = FPI minus what public inputs predict (points)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5394960" cy="42062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E7D5B"/>
                </a:solidFill>
                <a:latin typeface="Arial"/>
              </a:rPr>
              <a:t>FPI rates HIGHER than public inputs explain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Indiana           </a:t>
            </a:r>
            <a:r>
              <a:rPr sz="1600" b="1" i="0">
                <a:solidFill>
                  <a:srgbClr val="2E7D5B"/>
                </a:solidFill>
                <a:latin typeface="Arial"/>
              </a:rPr>
              <a:t>+19.0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Kennesaw State    </a:t>
            </a:r>
            <a:r>
              <a:rPr sz="1600" b="1" i="0">
                <a:solidFill>
                  <a:srgbClr val="2E7D5B"/>
                </a:solidFill>
                <a:latin typeface="Arial"/>
              </a:rPr>
              <a:t>+16.4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Texas Tech        </a:t>
            </a:r>
            <a:r>
              <a:rPr sz="1600" b="1" i="0">
                <a:solidFill>
                  <a:srgbClr val="2E7D5B"/>
                </a:solidFill>
                <a:latin typeface="Arial"/>
              </a:rPr>
              <a:t>+16.2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New Mexico        </a:t>
            </a:r>
            <a:r>
              <a:rPr sz="1600" b="1" i="0">
                <a:solidFill>
                  <a:srgbClr val="2E7D5B"/>
                </a:solidFill>
                <a:latin typeface="Arial"/>
              </a:rPr>
              <a:t>+15.1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Utah              </a:t>
            </a:r>
            <a:r>
              <a:rPr sz="1600" b="1" i="0">
                <a:solidFill>
                  <a:srgbClr val="2E7D5B"/>
                </a:solidFill>
                <a:latin typeface="Arial"/>
              </a:rPr>
              <a:t>+13.8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Vanderbilt        </a:t>
            </a:r>
            <a:r>
              <a:rPr sz="1600" b="1" i="0">
                <a:solidFill>
                  <a:srgbClr val="2E7D5B"/>
                </a:solidFill>
                <a:latin typeface="Arial"/>
              </a:rPr>
              <a:t>+12.5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600200"/>
            <a:ext cx="5394960" cy="42062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9C0006"/>
                </a:solidFill>
                <a:latin typeface="Arial"/>
              </a:rPr>
              <a:t>FPI rates LOWER than public inputs explain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331720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Sam Houston       </a:t>
            </a:r>
            <a:r>
              <a:rPr sz="1600" b="1" i="0">
                <a:solidFill>
                  <a:srgbClr val="9C0006"/>
                </a:solidFill>
                <a:latin typeface="Arial"/>
              </a:rPr>
              <a:t>-16.4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Oklahoma State    </a:t>
            </a:r>
            <a:r>
              <a:rPr sz="1600" b="1" i="0">
                <a:solidFill>
                  <a:srgbClr val="9C0006"/>
                </a:solidFill>
                <a:latin typeface="Arial"/>
              </a:rPr>
              <a:t>-12.3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North Carolina    </a:t>
            </a:r>
            <a:r>
              <a:rPr sz="1600" b="1" i="0">
                <a:solidFill>
                  <a:srgbClr val="9C0006"/>
                </a:solidFill>
                <a:latin typeface="Arial"/>
              </a:rPr>
              <a:t>-12.1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Syracuse          </a:t>
            </a:r>
            <a:r>
              <a:rPr sz="1600" b="1" i="0">
                <a:solidFill>
                  <a:srgbClr val="9C0006"/>
                </a:solidFill>
                <a:latin typeface="Arial"/>
              </a:rPr>
              <a:t>-12.1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UMass             </a:t>
            </a:r>
            <a:r>
              <a:rPr sz="1600" b="1" i="0">
                <a:solidFill>
                  <a:srgbClr val="9C0006"/>
                </a:solidFill>
                <a:latin typeface="Arial"/>
              </a:rPr>
              <a:t>-11.3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Louisiana         </a:t>
            </a:r>
            <a:r>
              <a:rPr sz="1600" b="1" i="0">
                <a:solidFill>
                  <a:srgbClr val="9C0006"/>
                </a:solidFill>
                <a:latin typeface="Arial"/>
              </a:rPr>
              <a:t>-10.9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8932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47321"/>
                </a:solidFill>
                <a:latin typeface="Arial"/>
              </a:rPr>
              <a:t>Caveat that keeps us honest: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CFBD mirrors final 2025 FPI, so this list doubles as a 2025 over/under-achievers list. A true preseason test needs a pre-week-1 snapshot — the pipeline captures one automatically when 2026 FPI publishes.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One Workbook, Whole 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NCAA_FBS_Teams.xlsm — 138 team tabs collapsed into a conference viewer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256032" cy="548640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7335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A2851"/>
                </a:solidFill>
                <a:latin typeface="Arial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700784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league table + the REFRESH button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59152"/>
            <a:ext cx="256032" cy="548640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8658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A2851"/>
                </a:solidFill>
                <a:latin typeface="Arial"/>
              </a:rPr>
              <a:t>FPI Decomposition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414016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full 132-team model output: predictions, residuals, ranks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72384"/>
            <a:ext cx="256032" cy="548640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099816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A2851"/>
                </a:solidFill>
                <a:latin typeface="Arial"/>
              </a:rPr>
              <a:t>Upset 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127248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every game where the model and the market disagree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6"/>
            <a:ext cx="256032" cy="548640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81304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A2851"/>
                </a:solidFill>
                <a:latin typeface="Arial"/>
              </a:rPr>
              <a:t>Season 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840480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Monte Carlo win projections for all 132 rated teams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98848"/>
            <a:ext cx="256032" cy="548640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A2851"/>
                </a:solidFill>
                <a:latin typeface="Arial"/>
              </a:rPr>
              <a:t>11 conference 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553712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pick any team from a dropdown → ratings, FPI, schedule, lines, roster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12080"/>
            <a:ext cx="256032" cy="548640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23951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A2851"/>
                </a:solidFill>
                <a:latin typeface="Arial"/>
              </a:rPr>
              <a:t>3 hidden data sheets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5266944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_Teams / _Rosters / _Sched — 15,130 players, 1,776 schedule rows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264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Every number in the visible tabs is a formula against the hidden data sheets — the layout never goes stale.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One Button, Fresh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Press REFRESH in the workbook — it closes itself, rebuilds, and reopens (~3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2084831" cy="2286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176272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8892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Re-pull 138 rosters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52044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CADCFC"/>
                </a:solidFill>
                <a:latin typeface="Arial"/>
              </a:rPr>
              <a:t>every school's official athletics site API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2011680"/>
            <a:ext cx="2084831" cy="2286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8648" y="2176272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278892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Portal + schedules + 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352044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CADCFC"/>
                </a:solidFill>
                <a:latin typeface="Arial"/>
              </a:rPr>
              <a:t>CFBD: 4,427 portal entries, 888 games, DK/Bovada lines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2011680"/>
            <a:ext cx="2084831" cy="2286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176272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78892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Rebuild data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352044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CADCFC"/>
                </a:solidFill>
                <a:latin typeface="Arial"/>
              </a:rPr>
              <a:t>rosters, schedules, FPI model re-fit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2011680"/>
            <a:ext cx="2084831" cy="2286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9208" y="2176272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9208" y="278892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Flag upsets &amp; sim season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9208" y="352044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CADCFC"/>
                </a:solidFill>
                <a:latin typeface="Arial"/>
              </a:rPr>
              <a:t>alert log updated, 10k Monte Carlo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2011680"/>
            <a:ext cx="2084831" cy="2286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9488" y="2176272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9488" y="278892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Recalc &amp; reopen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2044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CADCFC"/>
                </a:solidFill>
                <a:latin typeface="Arial"/>
              </a:rPr>
              <a:t>Excel recalculates, workbook reopens itself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46320"/>
            <a:ext cx="11155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i="0">
                <a:solidFill>
                  <a:srgbClr val="0A2851"/>
                </a:solidFill>
                <a:latin typeface="Arial"/>
              </a:rPr>
              <a:t>Engineering under the hood: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response caching, defensive column detection (CFBD ships camelCase and snake_case), team-name alias mapping with merge-coverage reporting so no school silently drops, pytest suite on the merge logic, VBA-preserving rebuilds, first-seen line logging.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Upset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FPI-implied margin (FPI gap + 2.5 home field) vs the betting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5394960" cy="1371600"/>
          </a:xfrm>
          <a:prstGeom prst="rect">
            <a:avLst/>
          </a:prstGeom>
          <a:solidFill>
            <a:srgbClr val="FFC7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C0006"/>
                </a:solidFill>
                <a:latin typeface="Arial"/>
              </a:rPr>
              <a:t>RED — upset watch.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Model picks the underdog outright and the spread is 3+. 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645920"/>
            <a:ext cx="5394960" cy="1371600"/>
          </a:xfrm>
          <a:prstGeom prst="rect">
            <a:avLst/>
          </a:prstGeom>
          <a:solidFill>
            <a:srgbClr val="FFE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8308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6D00"/>
                </a:solidFill>
                <a:latin typeface="Arial"/>
              </a:rPr>
              <a:t>YELLOW — line disagreement.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Same side as the market, but 6+ points of daylight between model margin and spread.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Live from the early week-1 lines (15 alerts, 4 red):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947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Oklahoma State -11.5 at Tulsa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79476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FPI gap says pick'em — model takes Tulsa +11.5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976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Toledo at Michigan State -10.5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29768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model actually favors Toledo on a neutral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00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North Texas at Indiana -40.5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8006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model says IU by 27 — the number is 13.5 too rich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0352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Alabama -25.5 vs East Carolina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530352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market rates Bama 9 points above the FPI prior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0A2851"/>
                </a:solidFill>
                <a:latin typeface="Arial"/>
              </a:rPr>
              <a:t>Honest grading, built in: 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every alert is logged with the line at alert time and graded against that line when the game completes — a running ATS record the model can't retroactively flatter.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Season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10,000 Monte Carlo seasons per team — win prob = N(FPI gap + HFA, sd 13.5)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9494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0" y="1828800"/>
            <a:ext cx="38404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1" i="0">
                <a:solidFill>
                  <a:srgbClr val="0A2851"/>
                </a:solidFill>
                <a:latin typeface="Arial"/>
              </a:rPr>
              <a:t>Per team: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projected wins, 10th/90th percentile seasons, P(bowl), P(10+ wins).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1" i="0">
                <a:solidFill>
                  <a:srgbClr val="0A2851"/>
                </a:solidFill>
                <a:latin typeface="Arial"/>
              </a:rPr>
              <a:t>The play: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compare projections to season win totals at the book. Gaps of a full win are the shortlist.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1" i="0">
                <a:solidFill>
                  <a:srgbClr val="0A2851"/>
                </a:solidFill>
                <a:latin typeface="Arial"/>
              </a:rPr>
              <a:t>Prior upgrades itself: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when ESPN drops 2026 preseason FPI, the next refresh snapshots it and every projection sharpens.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47321"/>
                </a:solidFill>
                <a:latin typeface="Arial"/>
              </a:rPr>
              <a:t>August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1828800"/>
            <a:ext cx="7955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Arial"/>
              </a:rPr>
              <a:t>2026 preseason FPI snapshot lands automatically — true preseason decomposition, sharper alerts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47321"/>
                </a:solidFill>
                <a:latin typeface="Arial"/>
              </a:rPr>
              <a:t>Weekly in-season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788920"/>
            <a:ext cx="7955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Arial"/>
              </a:rPr>
              <a:t>one REFRESH: new lines, updated alerts, graded results, live ATS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49039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47321"/>
                </a:solidFill>
                <a:latin typeface="Arial"/>
              </a:rPr>
              <a:t>October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749039"/>
            <a:ext cx="7955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Arial"/>
              </a:rPr>
              <a:t>the model's record speaks — 'the alert went X–Y ATS' beats any backtest slide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09159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47321"/>
                </a:solidFill>
                <a:latin typeface="Arial"/>
              </a:rPr>
              <a:t>Beyond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709159"/>
            <a:ext cx="7955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Arial"/>
              </a:rPr>
              <a:t>coaching-change and QB flags, Vegas win totals as a feature, line-movement steam alerts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Arial"/>
              </a:rPr>
              <a:t>Repo: Sports Data Analysis / ncaa-fbs-model  —  pipeline, tests, and README built for a hiring manager, not a journal.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