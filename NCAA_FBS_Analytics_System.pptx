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std coef</c:v>
                </c:pt>
              </c:strCache>
            </c:strRef>
          </c:tx>
          <c:spPr>
            <a:solidFill>
              <a:srgbClr val="0A2851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Prior-year SP+</c:v>
                </c:pt>
                <c:pt idx="1">
                  <c:v>Recruiting 4-yr avg</c:v>
                </c:pt>
                <c:pt idx="2">
                  <c:v>Returning PPA</c:v>
                </c:pt>
                <c:pt idx="3">
                  <c:v>Talent composite</c:v>
                </c:pt>
                <c:pt idx="4">
                  <c:v>Net portal rating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7.01</c:v>
                </c:pt>
                <c:pt idx="1">
                  <c:v>5.06</c:v>
                </c:pt>
                <c:pt idx="2">
                  <c:v>0.34</c:v>
                </c:pt>
                <c:pt idx="3">
                  <c:v>-1.14</c:v>
                </c:pt>
                <c:pt idx="4">
                  <c:v>0.67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13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-4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wins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Sheet1!$A$2:$A$9</c:f>
              <c:strCache>
                <c:ptCount val="8"/>
                <c:pt idx="0">
                  <c:v>Notre Dame</c:v>
                </c:pt>
                <c:pt idx="1">
                  <c:v>Texas Tech</c:v>
                </c:pt>
                <c:pt idx="2">
                  <c:v>Oregon</c:v>
                </c:pt>
                <c:pt idx="3">
                  <c:v>Miami</c:v>
                </c:pt>
                <c:pt idx="4">
                  <c:v>Indiana</c:v>
                </c:pt>
                <c:pt idx="5">
                  <c:v>Ohio State</c:v>
                </c:pt>
                <c:pt idx="6">
                  <c:v>Georgia</c:v>
                </c:pt>
                <c:pt idx="7">
                  <c:v>Texas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11.1</c:v>
                </c:pt>
                <c:pt idx="1">
                  <c:v>10.7</c:v>
                </c:pt>
                <c:pt idx="2">
                  <c:v>10.3</c:v>
                </c:pt>
                <c:pt idx="3">
                  <c:v>10.2</c:v>
                </c:pt>
                <c:pt idx="4">
                  <c:v>10.2</c:v>
                </c:pt>
                <c:pt idx="5">
                  <c:v>10.1</c:v>
                </c:pt>
                <c:pt idx="6">
                  <c:v>10.1</c:v>
                </c:pt>
                <c:pt idx="7">
                  <c:v>9.7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Reverse-Engineering ESPN's FPI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CADCFC"/>
                </a:solidFill>
                <a:latin typeface="Arial"/>
              </a:rPr>
              <a:t>How much of a secret college football rating can you rebuild with public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Arial"/>
              </a:rPr>
              <a:t>FPI decomposition  •  self-refreshing scouting workbook  •  upset alerts  •  season simulation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Arial"/>
              </a:rPr>
              <a:t>Lucas Alvarez  —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A2851"/>
                </a:solidFill>
                <a:latin typeface="Arial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ESPN publishes FPI but not the recipe. What share is reconstructable — and where does ESPN disagree with public data?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566160" cy="1737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01952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0A2851"/>
                </a:solidFill>
                <a:latin typeface="Arial"/>
              </a:rPr>
              <a:t>70.5%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Arial"/>
              </a:rPr>
              <a:t>of FPI variance explained by four free public inputs (R², 132 FBS teams, 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737360"/>
            <a:ext cx="3566160" cy="1737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01952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0A2851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788920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Arial"/>
              </a:rPr>
              <a:t>public inputs: prior-year SP+, returning production, 247 talent, 4-yr recruiting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737360"/>
            <a:ext cx="3566160" cy="1737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01952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0A2851"/>
                </a:solidFill>
                <a:latin typeface="Arial"/>
              </a:rPr>
              <a:t>29.5%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788920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Arial"/>
              </a:rPr>
              <a:t>the interesting part — ESPN opinion + noise the public inputs can't 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11155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0A2851"/>
                </a:solidFill>
                <a:latin typeface="Arial"/>
              </a:rPr>
              <a:t>Why a sportsbook should care: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FPI moves public perception and, indirectly, markets. Knowing which part of FPI is reconstructable from consensus inputs — and which part is ESPN's own opinion — tells you when an FPI-driven narrative carries new information versus when it's repackaged consensus.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0A2851"/>
                </a:solidFill>
                <a:latin typeface="Arial"/>
              </a:rPr>
              <a:t>Data: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CollegeFootballData API, cached locally. OLS regression on standardized features. All code, tests, and a reproducible pipeline live beside the workbook.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A2851"/>
                </a:solidFill>
                <a:latin typeface="Arial"/>
              </a:rPr>
              <a:t>What Carries the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Standardized OLS coefficients — fpi ~ z(prior SP+, returning PPA, talent, recruiting)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309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23760" y="1737360"/>
            <a:ext cx="43891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0A2851"/>
                </a:solidFill>
                <a:latin typeface="Arial"/>
              </a:rPr>
              <a:t>Prior-year SP+ does almost all the work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(p &lt; 0.0001). The cheapest predictor of a rating is another rating.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0A2851"/>
                </a:solidFill>
                <a:latin typeface="Arial"/>
              </a:rPr>
              <a:t>Recruiting adds real signal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(p = 0.004) — a sustained talent-pipeline effect.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0A2851"/>
                </a:solidFill>
                <a:latin typeface="Arial"/>
              </a:rPr>
              <a:t>Returning production and talent wash out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— not useless, just collinear with the first two. Coefficients aren't causal.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F47321"/>
                </a:solidFill>
                <a:latin typeface="Arial"/>
              </a:rPr>
              <a:t>The portal: measurement decides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— RAW transfer-rating sums add nothing (p = 0.30; they measure churn). QUALITY-WEIGHTED portal value (above-replacement, diminishing returns) is significant: adj R² 0.696 → 0.712, p = 0.005.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A2851"/>
                </a:solidFill>
                <a:latin typeface="Arial"/>
              </a:rPr>
              <a:t>The Residuals Are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Residual = FPI minus what public inputs predict (points)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E7D5B"/>
                </a:solidFill>
                <a:latin typeface="Arial"/>
              </a:rPr>
              <a:t>FPI rates HIGHER than public inputs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Indiana           </a:t>
            </a:r>
            <a:r>
              <a:rPr sz="1600" b="1" i="0">
                <a:solidFill>
                  <a:srgbClr val="2E7D5B"/>
                </a:solidFill>
                <a:latin typeface="Arial"/>
              </a:rPr>
              <a:t>+19.0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Kennesaw State    </a:t>
            </a:r>
            <a:r>
              <a:rPr sz="1600" b="1" i="0">
                <a:solidFill>
                  <a:srgbClr val="2E7D5B"/>
                </a:solidFill>
                <a:latin typeface="Arial"/>
              </a:rPr>
              <a:t>+16.4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Texas Tech        </a:t>
            </a:r>
            <a:r>
              <a:rPr sz="1600" b="1" i="0">
                <a:solidFill>
                  <a:srgbClr val="2E7D5B"/>
                </a:solidFill>
                <a:latin typeface="Arial"/>
              </a:rPr>
              <a:t>+16.2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New Mexico        </a:t>
            </a:r>
            <a:r>
              <a:rPr sz="1600" b="1" i="0">
                <a:solidFill>
                  <a:srgbClr val="2E7D5B"/>
                </a:solidFill>
                <a:latin typeface="Arial"/>
              </a:rPr>
              <a:t>+15.1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Utah              </a:t>
            </a:r>
            <a:r>
              <a:rPr sz="1600" b="1" i="0">
                <a:solidFill>
                  <a:srgbClr val="2E7D5B"/>
                </a:solidFill>
                <a:latin typeface="Arial"/>
              </a:rPr>
              <a:t>+13.8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Vanderbilt        </a:t>
            </a:r>
            <a:r>
              <a:rPr sz="1600" b="1" i="0">
                <a:solidFill>
                  <a:srgbClr val="2E7D5B"/>
                </a:solidFill>
                <a:latin typeface="Arial"/>
              </a:rPr>
              <a:t>+12.5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94960" cy="4206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9C0006"/>
                </a:solidFill>
                <a:latin typeface="Arial"/>
              </a:rPr>
              <a:t>FPI rates LOWER than public inputs 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Sam Houston       </a:t>
            </a:r>
            <a:r>
              <a:rPr sz="1600" b="1" i="0">
                <a:solidFill>
                  <a:srgbClr val="9C0006"/>
                </a:solidFill>
                <a:latin typeface="Arial"/>
              </a:rPr>
              <a:t>-16.4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Oklahoma State    </a:t>
            </a:r>
            <a:r>
              <a:rPr sz="1600" b="1" i="0">
                <a:solidFill>
                  <a:srgbClr val="9C0006"/>
                </a:solidFill>
                <a:latin typeface="Arial"/>
              </a:rPr>
              <a:t>-12.3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North Carolina    </a:t>
            </a:r>
            <a:r>
              <a:rPr sz="1600" b="1" i="0">
                <a:solidFill>
                  <a:srgbClr val="9C0006"/>
                </a:solidFill>
                <a:latin typeface="Arial"/>
              </a:rPr>
              <a:t>-12.1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Syracuse          </a:t>
            </a:r>
            <a:r>
              <a:rPr sz="1600" b="1" i="0">
                <a:solidFill>
                  <a:srgbClr val="9C0006"/>
                </a:solidFill>
                <a:latin typeface="Arial"/>
              </a:rPr>
              <a:t>-12.1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UMass             </a:t>
            </a:r>
            <a:r>
              <a:rPr sz="1600" b="1" i="0">
                <a:solidFill>
                  <a:srgbClr val="9C0006"/>
                </a:solidFill>
                <a:latin typeface="Arial"/>
              </a:rPr>
              <a:t>-11.3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Louisiana         </a:t>
            </a:r>
            <a:r>
              <a:rPr sz="1600" b="1" i="0">
                <a:solidFill>
                  <a:srgbClr val="9C0006"/>
                </a:solidFill>
                <a:latin typeface="Arial"/>
              </a:rPr>
              <a:t>-10.9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47321"/>
                </a:solidFill>
                <a:latin typeface="Arial"/>
              </a:rPr>
              <a:t>Caveat that keeps us honest: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CFBD mirrors final 2025 FPI, so this list doubles as a 2025 over/under-achievers list. ESPN's 2026 preseason FPI was captured July 14 — the true preseason decomposition runs as soon as CFBD mirrors the 2026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A2851"/>
                </a:solidFill>
                <a:latin typeface="Arial"/>
              </a:rPr>
              <a:t>One Workbook, Whole 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NCAA_FBS_Teams.xlsm — 138 team tabs collapsed into a conference 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56032" cy="548640"/>
          </a:xfrm>
          <a:prstGeom prst="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7335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A2851"/>
                </a:solidFill>
                <a:latin typeface="Arial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00784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league table + the REFRESH button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59152"/>
            <a:ext cx="256032" cy="548640"/>
          </a:xfrm>
          <a:prstGeom prst="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8658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A2851"/>
                </a:solidFill>
                <a:latin typeface="Arial"/>
              </a:rPr>
              <a:t>FPI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14016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full 132-team model output: predictions, residuals, ranks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72384"/>
            <a:ext cx="256032" cy="548640"/>
          </a:xfrm>
          <a:prstGeom prst="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9981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A2851"/>
                </a:solidFill>
                <a:latin typeface="Arial"/>
              </a:rPr>
              <a:t>Upset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27248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every game where the model and the market disagree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6"/>
            <a:ext cx="256032" cy="548640"/>
          </a:xfrm>
          <a:prstGeom prst="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1304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A2851"/>
                </a:solidFill>
                <a:latin typeface="Arial"/>
              </a:rPr>
              <a:t>Season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84048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Monte Carlo win projections for all 132 rated teams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98848"/>
            <a:ext cx="256032" cy="548640"/>
          </a:xfrm>
          <a:prstGeom prst="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A2851"/>
                </a:solidFill>
                <a:latin typeface="Arial"/>
              </a:rPr>
              <a:t>11 conference tabs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553712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team dropdown → ratings, FPI, schedule + lines, roster, strengths/weaknesses, and an OurLads-sourced depth chart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12080"/>
            <a:ext cx="256032" cy="548640"/>
          </a:xfrm>
          <a:prstGeom prst="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23951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A2851"/>
                </a:solidFill>
                <a:latin typeface="Arial"/>
              </a:rPr>
              <a:t>4 hidden data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266944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_Teams / _Rosters / _Sched / _DepthGrid — 15,130 players, 1,776 schedule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Arial"/>
              </a:rPr>
              <a:t>Every number in the visible tabs is a formula against the hidden data sheets — the layout never goes stale.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A2851"/>
                </a:solidFill>
                <a:latin typeface="Arial"/>
              </a:rPr>
              <a:t>One Button, Fresh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Press REFRESH in the workbook — it closes itself, rebuilds, and reopens (~3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084831" cy="2286000"/>
          </a:xfrm>
          <a:prstGeom prst="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76272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Re-pull 138 rosters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2044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Arial"/>
              </a:rPr>
              <a:t>every school's official athletics site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011680"/>
            <a:ext cx="2084831" cy="2286000"/>
          </a:xfrm>
          <a:prstGeom prst="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2176272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278892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Portal + schedules +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352044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Arial"/>
              </a:rPr>
              <a:t>CFBD: 4,427 portal entries, 888 games, DK/Bovada 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011680"/>
            <a:ext cx="2084831" cy="2286000"/>
          </a:xfrm>
          <a:prstGeom prst="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176272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78892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Rebuild data 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52044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Arial"/>
              </a:rPr>
              <a:t>rosters, schedules, FPI model re-fit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011680"/>
            <a:ext cx="2084831" cy="2286000"/>
          </a:xfrm>
          <a:prstGeom prst="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2176272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278892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Flag upsets &amp; sim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352044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Arial"/>
              </a:rPr>
              <a:t>alert log updated, 10k Monte Carlo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2011680"/>
            <a:ext cx="2084831" cy="2286000"/>
          </a:xfrm>
          <a:prstGeom prst="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2176272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78892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Recalc &amp; reopen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352044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Arial"/>
              </a:rPr>
              <a:t>Excel recalculates, workbook reopens itself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0A2851"/>
                </a:solidFill>
                <a:latin typeface="Arial"/>
              </a:rPr>
              <a:t>Engineering under the hood:  </a:t>
            </a:r>
            <a:r>
              <a:rPr sz="1400" b="0" i="0">
                <a:solidFill>
                  <a:srgbClr val="222222"/>
                </a:solidFill>
                <a:latin typeface="Arial"/>
              </a:rPr>
              <a:t>response caching, defensive column detection (CFBD ships camelCase and snake_case), team-name alias mapping with merge-coverage reporting so no school silently drops, pytest suite on the merge logic, VBA-preserving rebuilds, first-seen line logging.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A2851"/>
                </a:solidFill>
                <a:latin typeface="Arial"/>
              </a:rPr>
              <a:t>Upset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FPI-implied margin (FPI gap + 2.5 home field) vs the market — prior: ESPN's 2026 preseason FPI, captured July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94960" cy="1371600"/>
          </a:xfrm>
          <a:prstGeom prst="rect">
            <a:avLst/>
          </a:prstGeom>
          <a:solidFill>
            <a:srgbClr val="FFC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C0006"/>
                </a:solidFill>
                <a:latin typeface="Arial"/>
              </a:rPr>
              <a:t>RED — upset watch.  </a:t>
            </a:r>
            <a:r>
              <a:rPr sz="1400" b="0" i="0">
                <a:solidFill>
                  <a:srgbClr val="222222"/>
                </a:solidFill>
                <a:latin typeface="Arial"/>
              </a:rPr>
              <a:t>Model picks the underdog outright and the spread is 3+. 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645920"/>
            <a:ext cx="5394960" cy="1371600"/>
          </a:xfrm>
          <a:prstGeom prst="rect">
            <a:avLst/>
          </a:prstGeom>
          <a:solidFill>
            <a:srgbClr val="FFE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6D00"/>
                </a:solidFill>
                <a:latin typeface="Arial"/>
              </a:rPr>
              <a:t>YELLOW — line disagreement.  </a:t>
            </a:r>
            <a:r>
              <a:rPr sz="1400" b="0" i="0">
                <a:solidFill>
                  <a:srgbClr val="222222"/>
                </a:solidFill>
                <a:latin typeface="Arial"/>
              </a:rPr>
              <a:t>Same side as the market, but 6+ points of daylight between model margin and spread.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A2851"/>
                </a:solidFill>
                <a:latin typeface="Arial"/>
              </a:rPr>
              <a:t>Live (5 alerts, 2 red) — with ESPN's real 2026 opinion, staleness noise vanished and what's left is signal: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Arial"/>
              </a:rPr>
              <a:t>Wisconsin -20.5 vs Notre Dame 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79476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Arial"/>
              </a:rPr>
              <a:t>41.6-pt edge = almost certainly a flipped line in the data feed — alerts catch data bugs too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Arial"/>
              </a:rPr>
              <a:t>Sacramento State at Eastern Michigan -8.5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29768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Arial"/>
              </a:rPr>
              <a:t>ESPN's FPI likes the FBS newcomer outright — market hasn't priced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Arial"/>
              </a:rPr>
              <a:t>North Texas at Indiana -40.5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80060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Arial"/>
              </a:rPr>
              <a:t>even ESPN's 2026 numbers say the -40.5 is ~8 too 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Arial"/>
              </a:rPr>
              <a:t>Massachusetts at Rutgers -30.5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30352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Arial"/>
              </a:rPr>
              <a:t>same shape: giant number, single-digit model disagreement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A2851"/>
                </a:solidFill>
                <a:latin typeface="Arial"/>
              </a:rPr>
              <a:t>Honest grading, built in: 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every alert is logged with the line at alert time and graded against that line when the game completes — a running ATS record the model can't retroactively flatter.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A2851"/>
                </a:solidFill>
                <a:latin typeface="Arial"/>
              </a:rPr>
              <a:t>Backtested — and Honest About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The alert rules replayed against 2023–2025 with the exact information the live system would have had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566160" cy="1737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10512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0A2851"/>
                </a:solidFill>
                <a:latin typeface="Arial"/>
              </a:rPr>
              <a:t>1,147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Arial"/>
              </a:rPr>
              <a:t>alerts replayed across three seasons of real closing 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566160" cy="1737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10512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9C0006"/>
                </a:solidFill>
                <a:latin typeface="Arial"/>
              </a:rPr>
              <a:t>49.7%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697480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Arial"/>
              </a:rPr>
              <a:t>ATS — below the 52.4% break-even. The stale-prior signal does NOT beat the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45920"/>
            <a:ext cx="3566160" cy="1737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10512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9C0006"/>
                </a:solidFill>
                <a:latin typeface="Arial"/>
              </a:rPr>
              <a:t>46.8%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697480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Arial"/>
              </a:rPr>
              <a:t>on the LARGEST edges (15+ pts) — loud disagreement with the market is model error, not market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1155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1" i="0">
                <a:solidFill>
                  <a:srgbClr val="0A2851"/>
                </a:solidFill>
                <a:latin typeface="Arial"/>
              </a:rPr>
              <a:t>Why report a losing record?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Because it's true, it's measured properly (graded against first-seen lines, no retroactive flattering), and it's exactly the analysis a sportsbook pays for: knowing which signals DON'T carry edge.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1" i="0">
                <a:solidFill>
                  <a:srgbClr val="0A2851"/>
                </a:solidFill>
                <a:latin typeface="Arial"/>
              </a:rPr>
              <a:t>What it changed: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the live board now runs on ESPN's actual 2026 preseason FPI instead of a stale prior — alerts fell from 15 to 5 overnight — and the board is framed as a research shortlist and narrative engine, not a picks service. Every future alert is logged and graded, so the 2026 record accumulates in public.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A2851"/>
                </a:solidFill>
                <a:latin typeface="Arial"/>
              </a:rPr>
              <a:t>Season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10,000 Monte Carlo seasons per team — prior: ESPN 2026 preseason FPI — win prob = N(FPI gap + HFA, sd 13.5)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828800"/>
            <a:ext cx="3840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i="0">
                <a:solidFill>
                  <a:srgbClr val="0A2851"/>
                </a:solidFill>
                <a:latin typeface="Arial"/>
              </a:rPr>
              <a:t>Per team: </a:t>
            </a:r>
            <a:r>
              <a:rPr sz="1400" b="0" i="0">
                <a:solidFill>
                  <a:srgbClr val="222222"/>
                </a:solidFill>
                <a:latin typeface="Arial"/>
              </a:rPr>
              <a:t>projected wins, 10th/90th percentile seasons, P(bowl), P(10+ wins).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i="0">
                <a:solidFill>
                  <a:srgbClr val="0A2851"/>
                </a:solidFill>
                <a:latin typeface="Arial"/>
              </a:rPr>
              <a:t>The play: </a:t>
            </a:r>
            <a:r>
              <a:rPr sz="1400" b="0" i="0">
                <a:solidFill>
                  <a:srgbClr val="222222"/>
                </a:solidFill>
                <a:latin typeface="Arial"/>
              </a:rPr>
              <a:t>compare projections to season win totals at the book. Gaps of a full win are the shortlist.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i="0">
                <a:solidFill>
                  <a:srgbClr val="0A2851"/>
                </a:solidFill>
                <a:latin typeface="Arial"/>
              </a:rPr>
              <a:t>Prior already upgraded: </a:t>
            </a:r>
            <a:r>
              <a:rPr sz="1400" b="0" i="0">
                <a:solidFill>
                  <a:srgbClr val="222222"/>
                </a:solidFill>
                <a:latin typeface="Arial"/>
              </a:rPr>
              <a:t>ESPN's 2026 preseason FPI (released July 2026) now drives every projection — all 138 teams are simulated, newcomers included.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47321"/>
                </a:solidFill>
                <a:latin typeface="Arial"/>
              </a:rPr>
              <a:t>Done — July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82880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Arial"/>
              </a:rPr>
              <a:t>ESPN 2026 preseason FPI captured (from ESPN's API, ahead of CFBD) and wired through alerts, sim,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47321"/>
                </a:solidFill>
                <a:latin typeface="Arial"/>
              </a:rPr>
              <a:t>August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78892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Arial"/>
              </a:rPr>
              <a:t>true preseason decomposition — regress ESPN's 2026 numbers on 2026 public inputs the moment CFBD mirrors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47321"/>
                </a:solidFill>
                <a:latin typeface="Arial"/>
              </a:rPr>
              <a:t>Weekly in-season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749039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Arial"/>
              </a:rPr>
              <a:t>one REFRESH: new lines, updated alerts, graded results, live ATS scorecard vs the 49.7%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59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47321"/>
                </a:solidFill>
                <a:latin typeface="Arial"/>
              </a:rPr>
              <a:t>Beyond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709159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Arial"/>
              </a:rPr>
              <a:t>coaching-change and QB flags, Vegas win totals as a feature, line-movement steam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Arial"/>
              </a:rPr>
              <a:t>Repo: Sports Data Analysis / ncaa-fbs-model  —  pipeline, tests, and README built for a hiring manager, not a journal.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